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【开场】尊敬的各位评委老师好。我们是哈尔滨市第三中学心晴调研小组。今天我们将围绕完善高中生心理健康支持体系这一议题，向各位汇报我们的调研成果与政策建议。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总结页】我们立足哈尔滨本地调研，借鉴国际经验，从四个维度提出了可落地的建议方案。希望能为完善高中生心理健康支持体系贡献一份力量。【总结页】我们立足哈尔滨本地调研，借鉴国际经验，从四个维度提出了可落地的建议方案。希望能为完善高中生心理健康支持体系贡献一份力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致谢】以上就是我们的全部汇报。再次感谢各位评委老师的聆听，我们愿意接受各位老师的提问和指导。谢谢！【致谢】以上就是我们的全部汇报。再次感谢各位评委老师的聆听，我们愿意接受各位老师的提问和指导。谢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0" y="-2743200"/>
            <a:ext cx="7315200" cy="7315200"/>
          </a:xfrm>
          <a:prstGeom prst="ellipse">
            <a:avLst/>
          </a:prstGeom>
          <a:solidFill>
            <a:srgbClr val="1E2A38">
              <a:alpha val="4000"/>
            </a:srgbClr>
          </a:solidFill>
          <a:ln/>
        </p:spPr>
      </p:sp>
      <p:sp>
        <p:nvSpPr>
          <p:cNvPr id="3" name="Shape 1"/>
          <p:cNvSpPr/>
          <p:nvPr/>
        </p:nvSpPr>
        <p:spPr>
          <a:xfrm>
            <a:off x="9144000" y="3657600"/>
            <a:ext cx="5486400" cy="5486400"/>
          </a:xfrm>
          <a:prstGeom prst="ellipse">
            <a:avLst/>
          </a:prstGeom>
          <a:solidFill>
            <a:srgbClr val="3A6EA5">
              <a:alpha val="6000"/>
            </a:srgbClr>
          </a:solidFill>
          <a:ln/>
        </p:spPr>
      </p:sp>
      <p:sp>
        <p:nvSpPr>
          <p:cNvPr id="4" name="Shape 2"/>
          <p:cNvSpPr/>
          <p:nvPr/>
        </p:nvSpPr>
        <p:spPr>
          <a:xfrm>
            <a:off x="0" y="0"/>
            <a:ext cx="54864" cy="6858000"/>
          </a:xfrm>
          <a:prstGeom prst="rect">
            <a:avLst/>
          </a:prstGeom>
          <a:solidFill>
            <a:srgbClr val="3A6EA5"/>
          </a:solidFill>
          <a:ln/>
        </p:spPr>
      </p:sp>
      <p:sp>
        <p:nvSpPr>
          <p:cNvPr id="5" name="Shape 3"/>
          <p:cNvSpPr/>
          <p:nvPr/>
        </p:nvSpPr>
        <p:spPr>
          <a:xfrm>
            <a:off x="274320" y="5943600"/>
            <a:ext cx="548640" cy="274320"/>
          </a:xfrm>
          <a:prstGeom prst="rect">
            <a:avLst/>
          </a:prstGeom>
          <a:solidFill>
            <a:srgbClr val="1E2A38">
              <a:alpha val="8000"/>
            </a:srgbClr>
          </a:solidFill>
          <a:ln/>
        </p:spPr>
      </p:sp>
      <p:sp>
        <p:nvSpPr>
          <p:cNvPr id="6" name="Shape 4"/>
          <p:cNvSpPr/>
          <p:nvPr/>
        </p:nvSpPr>
        <p:spPr>
          <a:xfrm>
            <a:off x="932688" y="5760720"/>
            <a:ext cx="548640" cy="457200"/>
          </a:xfrm>
          <a:prstGeom prst="rect">
            <a:avLst/>
          </a:prstGeom>
          <a:solidFill>
            <a:srgbClr val="1E2A38">
              <a:alpha val="8000"/>
            </a:srgbClr>
          </a:solidFill>
          <a:ln/>
        </p:spPr>
      </p:sp>
      <p:sp>
        <p:nvSpPr>
          <p:cNvPr id="7" name="Shape 5"/>
          <p:cNvSpPr/>
          <p:nvPr/>
        </p:nvSpPr>
        <p:spPr>
          <a:xfrm>
            <a:off x="1591056" y="5897880"/>
            <a:ext cx="548640" cy="320040"/>
          </a:xfrm>
          <a:prstGeom prst="rect">
            <a:avLst/>
          </a:prstGeom>
          <a:solidFill>
            <a:srgbClr val="1E2A38">
              <a:alpha val="8000"/>
            </a:srgbClr>
          </a:solidFill>
          <a:ln/>
        </p:spPr>
      </p:sp>
      <p:sp>
        <p:nvSpPr>
          <p:cNvPr id="8" name="Shape 6"/>
          <p:cNvSpPr/>
          <p:nvPr/>
        </p:nvSpPr>
        <p:spPr>
          <a:xfrm>
            <a:off x="2249424" y="5577840"/>
            <a:ext cx="548640" cy="640080"/>
          </a:xfrm>
          <a:prstGeom prst="rect">
            <a:avLst/>
          </a:prstGeom>
          <a:solidFill>
            <a:srgbClr val="1E2A38">
              <a:alpha val="8000"/>
            </a:srgbClr>
          </a:solidFill>
          <a:ln/>
        </p:spPr>
      </p:sp>
      <p:sp>
        <p:nvSpPr>
          <p:cNvPr id="9" name="Shape 7"/>
          <p:cNvSpPr/>
          <p:nvPr/>
        </p:nvSpPr>
        <p:spPr>
          <a:xfrm>
            <a:off x="2907792" y="5989320"/>
            <a:ext cx="548640" cy="228600"/>
          </a:xfrm>
          <a:prstGeom prst="rect">
            <a:avLst/>
          </a:prstGeom>
          <a:solidFill>
            <a:srgbClr val="1E2A38">
              <a:alpha val="8000"/>
            </a:srgbClr>
          </a:solidFill>
          <a:ln/>
        </p:spPr>
      </p:sp>
      <p:sp>
        <p:nvSpPr>
          <p:cNvPr id="10" name="Shape 8"/>
          <p:cNvSpPr/>
          <p:nvPr/>
        </p:nvSpPr>
        <p:spPr>
          <a:xfrm>
            <a:off x="3566160" y="5715000"/>
            <a:ext cx="548640" cy="502920"/>
          </a:xfrm>
          <a:prstGeom prst="rect">
            <a:avLst/>
          </a:prstGeom>
          <a:solidFill>
            <a:srgbClr val="1E2A38">
              <a:alpha val="8000"/>
            </a:srgbClr>
          </a:solidFill>
          <a:ln/>
        </p:spPr>
      </p:sp>
      <p:sp>
        <p:nvSpPr>
          <p:cNvPr id="11" name="Shape 9"/>
          <p:cNvSpPr/>
          <p:nvPr/>
        </p:nvSpPr>
        <p:spPr>
          <a:xfrm>
            <a:off x="4224528" y="5852160"/>
            <a:ext cx="548640" cy="365760"/>
          </a:xfrm>
          <a:prstGeom prst="rect">
            <a:avLst/>
          </a:prstGeom>
          <a:solidFill>
            <a:srgbClr val="1E2A38">
              <a:alpha val="8000"/>
            </a:srgbClr>
          </a:solidFill>
          <a:ln/>
        </p:spPr>
      </p:sp>
      <p:sp>
        <p:nvSpPr>
          <p:cNvPr id="12" name="Shape 10"/>
          <p:cNvSpPr/>
          <p:nvPr/>
        </p:nvSpPr>
        <p:spPr>
          <a:xfrm>
            <a:off x="4882896" y="5623560"/>
            <a:ext cx="548640" cy="594360"/>
          </a:xfrm>
          <a:prstGeom prst="rect">
            <a:avLst/>
          </a:prstGeom>
          <a:solidFill>
            <a:srgbClr val="1E2A38">
              <a:alpha val="8000"/>
            </a:srgbClr>
          </a:solidFill>
          <a:ln/>
        </p:spPr>
      </p:sp>
      <p:sp>
        <p:nvSpPr>
          <p:cNvPr id="13" name="Shape 11"/>
          <p:cNvSpPr/>
          <p:nvPr/>
        </p:nvSpPr>
        <p:spPr>
          <a:xfrm>
            <a:off x="5541264" y="5943600"/>
            <a:ext cx="548640" cy="274320"/>
          </a:xfrm>
          <a:prstGeom prst="rect">
            <a:avLst/>
          </a:prstGeom>
          <a:solidFill>
            <a:srgbClr val="1E2A38">
              <a:alpha val="8000"/>
            </a:srgbClr>
          </a:solidFill>
          <a:ln/>
        </p:spPr>
      </p:sp>
      <p:sp>
        <p:nvSpPr>
          <p:cNvPr id="14" name="Shape 12"/>
          <p:cNvSpPr/>
          <p:nvPr/>
        </p:nvSpPr>
        <p:spPr>
          <a:xfrm>
            <a:off x="6199632" y="5806440"/>
            <a:ext cx="548640" cy="411480"/>
          </a:xfrm>
          <a:prstGeom prst="rect">
            <a:avLst/>
          </a:prstGeom>
          <a:solidFill>
            <a:srgbClr val="1E2A38">
              <a:alpha val="8000"/>
            </a:srgbClr>
          </a:solidFill>
          <a:ln/>
        </p:spPr>
      </p:sp>
      <p:sp>
        <p:nvSpPr>
          <p:cNvPr id="15" name="Shape 13"/>
          <p:cNvSpPr/>
          <p:nvPr/>
        </p:nvSpPr>
        <p:spPr>
          <a:xfrm>
            <a:off x="6858000" y="6035040"/>
            <a:ext cx="548640" cy="182880"/>
          </a:xfrm>
          <a:prstGeom prst="rect">
            <a:avLst/>
          </a:prstGeom>
          <a:solidFill>
            <a:srgbClr val="1E2A38">
              <a:alpha val="8000"/>
            </a:srgbClr>
          </a:solidFill>
          <a:ln/>
        </p:spPr>
      </p:sp>
      <p:sp>
        <p:nvSpPr>
          <p:cNvPr id="16" name="Shape 14"/>
          <p:cNvSpPr/>
          <p:nvPr/>
        </p:nvSpPr>
        <p:spPr>
          <a:xfrm>
            <a:off x="7516368" y="5669280"/>
            <a:ext cx="548640" cy="548640"/>
          </a:xfrm>
          <a:prstGeom prst="rect">
            <a:avLst/>
          </a:prstGeom>
          <a:solidFill>
            <a:srgbClr val="1E2A38">
              <a:alpha val="8000"/>
            </a:srgbClr>
          </a:solidFill>
          <a:ln/>
        </p:spPr>
      </p:sp>
      <p:sp>
        <p:nvSpPr>
          <p:cNvPr id="17" name="Shape 15"/>
          <p:cNvSpPr/>
          <p:nvPr/>
        </p:nvSpPr>
        <p:spPr>
          <a:xfrm>
            <a:off x="8174736" y="5897880"/>
            <a:ext cx="548640" cy="320040"/>
          </a:xfrm>
          <a:prstGeom prst="rect">
            <a:avLst/>
          </a:prstGeom>
          <a:solidFill>
            <a:srgbClr val="1E2A38">
              <a:alpha val="8000"/>
            </a:srgbClr>
          </a:solidFill>
          <a:ln/>
        </p:spPr>
      </p:sp>
      <p:sp>
        <p:nvSpPr>
          <p:cNvPr id="18" name="Shape 16"/>
          <p:cNvSpPr/>
          <p:nvPr/>
        </p:nvSpPr>
        <p:spPr>
          <a:xfrm>
            <a:off x="8833104" y="5760720"/>
            <a:ext cx="548640" cy="457200"/>
          </a:xfrm>
          <a:prstGeom prst="rect">
            <a:avLst/>
          </a:prstGeom>
          <a:solidFill>
            <a:srgbClr val="1E2A38">
              <a:alpha val="8000"/>
            </a:srgbClr>
          </a:solidFill>
          <a:ln/>
        </p:spPr>
      </p:sp>
      <p:sp>
        <p:nvSpPr>
          <p:cNvPr id="19" name="Shape 17"/>
          <p:cNvSpPr/>
          <p:nvPr/>
        </p:nvSpPr>
        <p:spPr>
          <a:xfrm>
            <a:off x="9491472" y="5989320"/>
            <a:ext cx="548640" cy="228600"/>
          </a:xfrm>
          <a:prstGeom prst="rect">
            <a:avLst/>
          </a:prstGeom>
          <a:solidFill>
            <a:srgbClr val="1E2A38">
              <a:alpha val="8000"/>
            </a:srgbClr>
          </a:solidFill>
          <a:ln/>
        </p:spPr>
      </p:sp>
      <p:sp>
        <p:nvSpPr>
          <p:cNvPr id="20" name="Shape 18"/>
          <p:cNvSpPr/>
          <p:nvPr/>
        </p:nvSpPr>
        <p:spPr>
          <a:xfrm>
            <a:off x="10149840" y="5852160"/>
            <a:ext cx="548640" cy="365760"/>
          </a:xfrm>
          <a:prstGeom prst="rect">
            <a:avLst/>
          </a:prstGeom>
          <a:solidFill>
            <a:srgbClr val="1E2A38">
              <a:alpha val="8000"/>
            </a:srgbClr>
          </a:solidFill>
          <a:ln/>
        </p:spPr>
      </p:sp>
      <p:sp>
        <p:nvSpPr>
          <p:cNvPr id="21" name="Shape 19"/>
          <p:cNvSpPr/>
          <p:nvPr/>
        </p:nvSpPr>
        <p:spPr>
          <a:xfrm>
            <a:off x="10808208" y="5943600"/>
            <a:ext cx="548640" cy="274320"/>
          </a:xfrm>
          <a:prstGeom prst="rect">
            <a:avLst/>
          </a:prstGeom>
          <a:solidFill>
            <a:srgbClr val="1E2A38">
              <a:alpha val="8000"/>
            </a:srgbClr>
          </a:solidFill>
          <a:ln/>
        </p:spPr>
      </p:sp>
      <p:sp>
        <p:nvSpPr>
          <p:cNvPr id="22" name="Shape 20"/>
          <p:cNvSpPr/>
          <p:nvPr/>
        </p:nvSpPr>
        <p:spPr>
          <a:xfrm>
            <a:off x="11466576" y="5715000"/>
            <a:ext cx="548640" cy="502920"/>
          </a:xfrm>
          <a:prstGeom prst="rect">
            <a:avLst/>
          </a:prstGeom>
          <a:solidFill>
            <a:srgbClr val="1E2A38">
              <a:alpha val="8000"/>
            </a:srgbClr>
          </a:solidFill>
          <a:ln/>
        </p:spPr>
      </p:sp>
      <p:sp>
        <p:nvSpPr>
          <p:cNvPr id="23" name="Shape 21"/>
          <p:cNvSpPr/>
          <p:nvPr/>
        </p:nvSpPr>
        <p:spPr>
          <a:xfrm>
            <a:off x="594360" y="1463040"/>
            <a:ext cx="2286000" cy="27432"/>
          </a:xfrm>
          <a:prstGeom prst="rect">
            <a:avLst/>
          </a:prstGeom>
          <a:solidFill>
            <a:srgbClr val="D98E04"/>
          </a:solidFill>
          <a:ln/>
        </p:spPr>
      </p:sp>
      <p:sp>
        <p:nvSpPr>
          <p:cNvPr id="24" name="Text 22"/>
          <p:cNvSpPr/>
          <p:nvPr/>
        </p:nvSpPr>
        <p:spPr>
          <a:xfrm>
            <a:off x="594360" y="1737360"/>
            <a:ext cx="8229600" cy="1463040"/>
          </a:xfrm>
          <a:prstGeom prst="rect">
            <a:avLst/>
          </a:prstGeom>
          <a:noFill/>
          <a:ln/>
        </p:spPr>
        <p:txBody>
          <a:bodyPr wrap="square" rtlCol="0" anchor="ctr"/>
          <a:lstStyle/>
          <a:p>
            <a:pPr indent="0" marL="0">
              <a:lnSpc>
                <a:spcPts val="4200"/>
              </a:lnSpc>
              <a:buNone/>
            </a:pPr>
            <a:r>
              <a:rPr lang="en-US" sz="3600" b="1" dirty="0">
                <a:solidFill>
                  <a:srgbClr val="1E2A38"/>
                </a:solidFill>
                <a:latin typeface="Source Han Sans SC" pitchFamily="34" charset="0"/>
                <a:ea typeface="Source Han Sans SC" pitchFamily="34" charset="-122"/>
                <a:cs typeface="Source Han Sans SC" pitchFamily="34" charset="-120"/>
              </a:rPr>
              <a:t>关于完善高中生心理健康</a:t>
            </a:r>
            <a:endParaRPr lang="en-US" sz="3600" dirty="0"/>
          </a:p>
          <a:p>
            <a:pPr indent="0" marL="0">
              <a:lnSpc>
                <a:spcPts val="4200"/>
              </a:lnSpc>
              <a:buNone/>
            </a:pPr>
            <a:r>
              <a:rPr lang="en-US" sz="3600" b="1" dirty="0">
                <a:solidFill>
                  <a:srgbClr val="1E2A38"/>
                </a:solidFill>
                <a:latin typeface="Source Han Sans SC" pitchFamily="34" charset="0"/>
                <a:ea typeface="Source Han Sans SC" pitchFamily="34" charset="-122"/>
                <a:cs typeface="Source Han Sans SC" pitchFamily="34" charset="-120"/>
              </a:rPr>
              <a:t>支持体系的建议</a:t>
            </a:r>
            <a:endParaRPr lang="en-US" sz="3600" dirty="0"/>
          </a:p>
        </p:txBody>
      </p:sp>
      <p:sp>
        <p:nvSpPr>
          <p:cNvPr id="25" name="Text 23"/>
          <p:cNvSpPr/>
          <p:nvPr/>
        </p:nvSpPr>
        <p:spPr>
          <a:xfrm>
            <a:off x="594360" y="3291840"/>
            <a:ext cx="9144000" cy="320040"/>
          </a:xfrm>
          <a:prstGeom prst="rect">
            <a:avLst/>
          </a:prstGeom>
          <a:noFill/>
          <a:ln/>
        </p:spPr>
        <p:txBody>
          <a:bodyPr wrap="square" rtlCol="0" anchor="ctr"/>
          <a:lstStyle/>
          <a:p>
            <a:pPr indent="0" marL="0">
              <a:buNone/>
            </a:pPr>
            <a:r>
              <a:rPr lang="en-US" sz="1400" dirty="0">
                <a:solidFill>
                  <a:srgbClr val="3A6EA5"/>
                </a:solidFill>
                <a:latin typeface="Source Han Sans SC" pitchFamily="34" charset="0"/>
                <a:ea typeface="Source Han Sans SC" pitchFamily="34" charset="-122"/>
                <a:cs typeface="Source Han Sans SC" pitchFamily="34" charset="-120"/>
              </a:rPr>
              <a:t>哈尔滨市第三中学第四届校园模拟政协提案大赛</a:t>
            </a:r>
            <a:endParaRPr lang="en-US" sz="1400" dirty="0"/>
          </a:p>
        </p:txBody>
      </p:sp>
      <p:sp>
        <p:nvSpPr>
          <p:cNvPr id="26" name="Text 24"/>
          <p:cNvSpPr/>
          <p:nvPr/>
        </p:nvSpPr>
        <p:spPr>
          <a:xfrm>
            <a:off x="594360" y="3840480"/>
            <a:ext cx="7315200" cy="274320"/>
          </a:xfrm>
          <a:prstGeom prst="rect">
            <a:avLst/>
          </a:prstGeom>
          <a:noFill/>
          <a:ln/>
        </p:spPr>
        <p:txBody>
          <a:bodyPr wrap="square" rtlCol="0" anchor="ctr"/>
          <a:lstStyle/>
          <a:p>
            <a:pPr indent="0" marL="0">
              <a:buNone/>
            </a:pPr>
            <a:r>
              <a:rPr lang="en-US" sz="1200" dirty="0">
                <a:solidFill>
                  <a:srgbClr val="1E2A38"/>
                </a:solidFill>
                <a:latin typeface="Source Han Sans SC" pitchFamily="34" charset="0"/>
                <a:ea typeface="Source Han Sans SC" pitchFamily="34" charset="-122"/>
                <a:cs typeface="Source Han Sans SC" pitchFamily="34" charset="-120"/>
              </a:rPr>
              <a:t>心晴调研小组</a:t>
            </a:r>
            <a:endParaRPr lang="en-US" sz="1200" dirty="0"/>
          </a:p>
        </p:txBody>
      </p:sp>
      <p:sp>
        <p:nvSpPr>
          <p:cNvPr id="27" name="Text 25"/>
          <p:cNvSpPr/>
          <p:nvPr/>
        </p:nvSpPr>
        <p:spPr>
          <a:xfrm>
            <a:off x="594360" y="4160520"/>
            <a:ext cx="7315200" cy="274320"/>
          </a:xfrm>
          <a:prstGeom prst="rect">
            <a:avLst/>
          </a:prstGeom>
          <a:noFill/>
          <a:ln/>
        </p:spPr>
        <p:txBody>
          <a:bodyPr wrap="square" rtlCol="0" anchor="ctr"/>
          <a:lstStyle/>
          <a:p>
            <a:pPr indent="0" marL="0">
              <a:buNone/>
            </a:pPr>
            <a:r>
              <a:rPr lang="en-US" sz="1100" dirty="0">
                <a:solidFill>
                  <a:srgbClr val="8899AA"/>
                </a:solidFill>
                <a:latin typeface="Source Han Sans SC" pitchFamily="34" charset="0"/>
                <a:ea typeface="Source Han Sans SC" pitchFamily="34" charset="-122"/>
                <a:cs typeface="Source Han Sans SC" pitchFamily="34" charset="-120"/>
              </a:rPr>
              <a:t>张明轩  李思雨  王子涵  刘浩然  陈雨桐</a:t>
            </a:r>
            <a:endParaRPr lang="en-US" sz="1100" dirty="0"/>
          </a:p>
        </p:txBody>
      </p:sp>
      <p:sp>
        <p:nvSpPr>
          <p:cNvPr id="28" name="Text 26"/>
          <p:cNvSpPr/>
          <p:nvPr/>
        </p:nvSpPr>
        <p:spPr>
          <a:xfrm>
            <a:off x="594360" y="4480560"/>
            <a:ext cx="4572000" cy="274320"/>
          </a:xfrm>
          <a:prstGeom prst="rect">
            <a:avLst/>
          </a:prstGeom>
          <a:noFill/>
          <a:ln/>
        </p:spPr>
        <p:txBody>
          <a:bodyPr wrap="square" rtlCol="0" anchor="ctr"/>
          <a:lstStyle/>
          <a:p>
            <a:pPr indent="0" marL="0">
              <a:buNone/>
            </a:pPr>
            <a:r>
              <a:rPr lang="en-US" sz="1100" dirty="0">
                <a:solidFill>
                  <a:srgbClr val="8899AA"/>
                </a:solidFill>
                <a:latin typeface="Source Han Sans SC" pitchFamily="34" charset="0"/>
                <a:ea typeface="Source Han Sans SC" pitchFamily="34" charset="-122"/>
                <a:cs typeface="Source Han Sans SC" pitchFamily="34" charset="-120"/>
              </a:rPr>
              <a:t>指导教师：王雪梅</a:t>
            </a:r>
            <a:endParaRPr lang="en-US" sz="1100" dirty="0"/>
          </a:p>
        </p:txBody>
      </p:sp>
      <p:sp>
        <p:nvSpPr>
          <p:cNvPr id="29" name="Text 27"/>
          <p:cNvSpPr/>
          <p:nvPr/>
        </p:nvSpPr>
        <p:spPr>
          <a:xfrm>
            <a:off x="594360" y="4846320"/>
            <a:ext cx="2743200" cy="274320"/>
          </a:xfrm>
          <a:prstGeom prst="rect">
            <a:avLst/>
          </a:prstGeom>
          <a:noFill/>
          <a:ln/>
        </p:spPr>
        <p:txBody>
          <a:bodyPr wrap="square" rtlCol="0" anchor="ctr"/>
          <a:lstStyle/>
          <a:p>
            <a:pPr indent="0" marL="0">
              <a:buNone/>
            </a:pPr>
            <a:r>
              <a:rPr lang="en-US" sz="1100" dirty="0">
                <a:solidFill>
                  <a:srgbClr val="B0B8C4"/>
                </a:solidFill>
                <a:latin typeface="Source Han Sans SC" pitchFamily="34" charset="0"/>
                <a:ea typeface="Source Han Sans SC" pitchFamily="34" charset="-122"/>
                <a:cs typeface="Source Han Sans SC" pitchFamily="34" charset="-120"/>
              </a:rPr>
              <a:t>2026年5月</a:t>
            </a:r>
            <a:endParaRPr lang="en-US" sz="1100" dirty="0"/>
          </a:p>
        </p:txBody>
      </p:sp>
      <p:sp>
        <p:nvSpPr>
          <p:cNvPr id="30" name="Shape 28"/>
          <p:cNvSpPr/>
          <p:nvPr/>
        </p:nvSpPr>
        <p:spPr>
          <a:xfrm>
            <a:off x="9875520" y="914400"/>
            <a:ext cx="1645920" cy="1645920"/>
          </a:xfrm>
          <a:prstGeom prst="ellipse">
            <a:avLst/>
          </a:prstGeom>
          <a:solidFill>
            <a:srgbClr val="FFFFFF"/>
          </a:solidFill>
          <a:ln w="19050">
            <a:solidFill>
              <a:srgbClr val="3A6EA5"/>
            </a:solidFill>
            <a:prstDash val="solid"/>
          </a:ln>
        </p:spPr>
      </p:sp>
      <p:sp>
        <p:nvSpPr>
          <p:cNvPr id="31" name="Text 29"/>
          <p:cNvSpPr/>
          <p:nvPr/>
        </p:nvSpPr>
        <p:spPr>
          <a:xfrm>
            <a:off x="9875520" y="1051560"/>
            <a:ext cx="1645920" cy="1371600"/>
          </a:xfrm>
          <a:prstGeom prst="rect">
            <a:avLst/>
          </a:prstGeom>
          <a:noFill/>
          <a:ln/>
        </p:spPr>
        <p:txBody>
          <a:bodyPr wrap="square" rtlCol="0" anchor="ctr"/>
          <a:lstStyle/>
          <a:p>
            <a:pPr algn="ctr" indent="0" marL="0">
              <a:buNone/>
            </a:pPr>
            <a:r>
              <a:rPr lang="en-US" sz="1600" b="1" dirty="0">
                <a:solidFill>
                  <a:srgbClr val="3A6EA5"/>
                </a:solidFill>
                <a:latin typeface="Source Han Sans SC" pitchFamily="34" charset="0"/>
                <a:ea typeface="Source Han Sans SC" pitchFamily="34" charset="-122"/>
                <a:cs typeface="Source Han Sans SC" pitchFamily="34" charset="-120"/>
              </a:rPr>
              <a:t>模拟</a:t>
            </a:r>
            <a:endParaRPr lang="en-US" sz="1600" dirty="0"/>
          </a:p>
          <a:p>
            <a:pPr algn="ctr" indent="0" marL="0">
              <a:buNone/>
            </a:pPr>
            <a:r>
              <a:rPr lang="en-US" sz="1600" b="1" dirty="0">
                <a:solidFill>
                  <a:srgbClr val="3A6EA5"/>
                </a:solidFill>
                <a:latin typeface="Source Han Sans SC" pitchFamily="34" charset="0"/>
                <a:ea typeface="Source Han Sans SC" pitchFamily="34" charset="-122"/>
                <a:cs typeface="Source Han Sans SC" pitchFamily="34" charset="-120"/>
              </a:rPr>
              <a:t>政协</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提案背景与政策依据</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Policy Basis &amp; Background</a:t>
            </a:r>
            <a:endParaRPr lang="en-US" sz="1000" dirty="0"/>
          </a:p>
        </p:txBody>
      </p:sp>
      <p:sp>
        <p:nvSpPr>
          <p:cNvPr id="5" name="Shape 3"/>
          <p:cNvSpPr/>
          <p:nvPr/>
        </p:nvSpPr>
        <p:spPr>
          <a:xfrm>
            <a:off x="594360" y="1051560"/>
            <a:ext cx="822960" cy="274320"/>
          </a:xfrm>
          <a:prstGeom prst="roundRect">
            <a:avLst>
              <a:gd name="adj" fmla="val 13333"/>
            </a:avLst>
          </a:prstGeom>
          <a:solidFill>
            <a:srgbClr val="3A6EA5"/>
          </a:solidFill>
          <a:ln/>
        </p:spPr>
      </p:sp>
      <p:sp>
        <p:nvSpPr>
          <p:cNvPr id="6" name="Text 4"/>
          <p:cNvSpPr/>
          <p:nvPr/>
        </p:nvSpPr>
        <p:spPr>
          <a:xfrm>
            <a:off x="594360" y="1051560"/>
            <a:ext cx="822960" cy="274320"/>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2023</a:t>
            </a:r>
            <a:endParaRPr lang="en-US" sz="1000" dirty="0"/>
          </a:p>
        </p:txBody>
      </p:sp>
      <p:sp>
        <p:nvSpPr>
          <p:cNvPr id="7" name="Text 5"/>
          <p:cNvSpPr/>
          <p:nvPr/>
        </p:nvSpPr>
        <p:spPr>
          <a:xfrm>
            <a:off x="1417320" y="1051560"/>
            <a:ext cx="457200" cy="274320"/>
          </a:xfrm>
          <a:prstGeom prst="rect">
            <a:avLst/>
          </a:prstGeom>
          <a:noFill/>
          <a:ln/>
        </p:spPr>
        <p:txBody>
          <a:bodyPr wrap="square" rtlCol="0" anchor="ctr"/>
          <a:lstStyle/>
          <a:p>
            <a:pPr algn="ctr" indent="0" marL="0">
              <a:buNone/>
            </a:pPr>
            <a:r>
              <a:rPr lang="en-US" sz="1200" dirty="0">
                <a:solidFill>
                  <a:srgbClr val="B0B8C4"/>
                </a:solidFill>
              </a:rPr>
              <a:t>→</a:t>
            </a:r>
            <a:endParaRPr lang="en-US" sz="1200" dirty="0"/>
          </a:p>
        </p:txBody>
      </p:sp>
      <p:sp>
        <p:nvSpPr>
          <p:cNvPr id="8" name="Shape 6"/>
          <p:cNvSpPr/>
          <p:nvPr/>
        </p:nvSpPr>
        <p:spPr>
          <a:xfrm>
            <a:off x="594360" y="1463040"/>
            <a:ext cx="2468880" cy="2011680"/>
          </a:xfrm>
          <a:prstGeom prst="roundRect">
            <a:avLst>
              <a:gd name="adj" fmla="val 2273"/>
            </a:avLst>
          </a:prstGeom>
          <a:solidFill>
            <a:srgbClr val="FFFFFF"/>
          </a:solidFill>
          <a:ln w="6350">
            <a:solidFill>
              <a:srgbClr val="E5E9F0"/>
            </a:solidFill>
            <a:prstDash val="solid"/>
          </a:ln>
        </p:spPr>
      </p:sp>
      <p:sp>
        <p:nvSpPr>
          <p:cNvPr id="9" name="Text 7"/>
          <p:cNvSpPr/>
          <p:nvPr/>
        </p:nvSpPr>
        <p:spPr>
          <a:xfrm>
            <a:off x="704088" y="1536192"/>
            <a:ext cx="2249424" cy="228600"/>
          </a:xfrm>
          <a:prstGeom prst="rect">
            <a:avLst/>
          </a:prstGeom>
          <a:noFill/>
          <a:ln/>
        </p:spPr>
        <p:txBody>
          <a:bodyPr wrap="square" rtlCol="0" anchor="ctr"/>
          <a:lstStyle/>
          <a:p>
            <a:pPr indent="0" marL="0">
              <a:buNone/>
            </a:pPr>
            <a:r>
              <a:rPr lang="en-US" sz="1100" b="1" dirty="0">
                <a:solidFill>
                  <a:srgbClr val="1E2A38"/>
                </a:solidFill>
                <a:latin typeface="Source Han Sans SC" pitchFamily="34" charset="0"/>
                <a:ea typeface="Source Han Sans SC" pitchFamily="34" charset="-122"/>
                <a:cs typeface="Source Han Sans SC" pitchFamily="34" charset="-120"/>
              </a:rPr>
              <a:t>教育部等十七部门</a:t>
            </a:r>
            <a:endParaRPr lang="en-US" sz="1100" dirty="0"/>
          </a:p>
        </p:txBody>
      </p:sp>
      <p:sp>
        <p:nvSpPr>
          <p:cNvPr id="10" name="Text 8"/>
          <p:cNvSpPr/>
          <p:nvPr/>
        </p:nvSpPr>
        <p:spPr>
          <a:xfrm>
            <a:off x="704088" y="1783080"/>
            <a:ext cx="2249424" cy="914400"/>
          </a:xfrm>
          <a:prstGeom prst="rect">
            <a:avLst/>
          </a:prstGeom>
          <a:noFill/>
          <a:ln/>
        </p:spPr>
        <p:txBody>
          <a:bodyPr wrap="square" rtlCol="0" anchor="ctr"/>
          <a:lstStyle/>
          <a:p>
            <a:pPr indent="0" marL="0">
              <a:lnSpc>
                <a:spcPts val="1200"/>
              </a:lnSpc>
              <a:buNone/>
            </a:pPr>
            <a:r>
              <a:rPr lang="en-US" sz="800" dirty="0">
                <a:solidFill>
                  <a:srgbClr val="1E2A38"/>
                </a:solidFill>
                <a:latin typeface="Source Han Sans SC" pitchFamily="34" charset="0"/>
                <a:ea typeface="Source Han Sans SC" pitchFamily="34" charset="-122"/>
                <a:cs typeface="Source Han Sans SC" pitchFamily="34" charset="-120"/>
              </a:rPr>
              <a:t>《全面加强和改进新时代学生心理健康工作专项行动计划（2023—2025年）》</a:t>
            </a:r>
            <a:endParaRPr lang="en-US" sz="800" dirty="0"/>
          </a:p>
        </p:txBody>
      </p:sp>
      <p:sp>
        <p:nvSpPr>
          <p:cNvPr id="11" name="Text 9"/>
          <p:cNvSpPr/>
          <p:nvPr/>
        </p:nvSpPr>
        <p:spPr>
          <a:xfrm>
            <a:off x="704088" y="2697480"/>
            <a:ext cx="2249424" cy="274320"/>
          </a:xfrm>
          <a:prstGeom prst="rect">
            <a:avLst/>
          </a:prstGeom>
          <a:noFill/>
          <a:ln/>
        </p:spPr>
        <p:txBody>
          <a:bodyPr wrap="square" rtlCol="0" anchor="ctr"/>
          <a:lstStyle/>
          <a:p>
            <a:pPr indent="0" marL="0">
              <a:buNone/>
            </a:pPr>
            <a:r>
              <a:rPr lang="en-US" sz="800" b="1" dirty="0">
                <a:solidFill>
                  <a:srgbClr val="3A6EA5"/>
                </a:solidFill>
                <a:latin typeface="Source Han Sans SC" pitchFamily="34" charset="0"/>
                <a:ea typeface="Source Han Sans SC" pitchFamily="34" charset="-122"/>
                <a:cs typeface="Source Han Sans SC" pitchFamily="34" charset="-120"/>
              </a:rPr>
              <a:t>要求2025年配备心理教师比例达95%</a:t>
            </a:r>
            <a:endParaRPr lang="en-US" sz="800" dirty="0"/>
          </a:p>
        </p:txBody>
      </p:sp>
      <p:sp>
        <p:nvSpPr>
          <p:cNvPr id="12" name="Text 10"/>
          <p:cNvSpPr/>
          <p:nvPr/>
        </p:nvSpPr>
        <p:spPr>
          <a:xfrm>
            <a:off x="704088" y="2971800"/>
            <a:ext cx="2249424" cy="228600"/>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教体艺〔2023〕1号</a:t>
            </a:r>
            <a:endParaRPr lang="en-US" sz="650" dirty="0"/>
          </a:p>
        </p:txBody>
      </p:sp>
      <p:sp>
        <p:nvSpPr>
          <p:cNvPr id="13" name="Shape 11"/>
          <p:cNvSpPr/>
          <p:nvPr/>
        </p:nvSpPr>
        <p:spPr>
          <a:xfrm>
            <a:off x="3337560" y="1051560"/>
            <a:ext cx="822960" cy="274320"/>
          </a:xfrm>
          <a:prstGeom prst="roundRect">
            <a:avLst>
              <a:gd name="adj" fmla="val 13333"/>
            </a:avLst>
          </a:prstGeom>
          <a:solidFill>
            <a:srgbClr val="3A6EA5"/>
          </a:solidFill>
          <a:ln/>
        </p:spPr>
      </p:sp>
      <p:sp>
        <p:nvSpPr>
          <p:cNvPr id="14" name="Text 12"/>
          <p:cNvSpPr/>
          <p:nvPr/>
        </p:nvSpPr>
        <p:spPr>
          <a:xfrm>
            <a:off x="3337560" y="1051560"/>
            <a:ext cx="822960" cy="274320"/>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2024</a:t>
            </a:r>
            <a:endParaRPr lang="en-US" sz="1000" dirty="0"/>
          </a:p>
        </p:txBody>
      </p:sp>
      <p:sp>
        <p:nvSpPr>
          <p:cNvPr id="15" name="Text 13"/>
          <p:cNvSpPr/>
          <p:nvPr/>
        </p:nvSpPr>
        <p:spPr>
          <a:xfrm>
            <a:off x="4160520" y="1051560"/>
            <a:ext cx="457200" cy="274320"/>
          </a:xfrm>
          <a:prstGeom prst="rect">
            <a:avLst/>
          </a:prstGeom>
          <a:noFill/>
          <a:ln/>
        </p:spPr>
        <p:txBody>
          <a:bodyPr wrap="square" rtlCol="0" anchor="ctr"/>
          <a:lstStyle/>
          <a:p>
            <a:pPr algn="ctr" indent="0" marL="0">
              <a:buNone/>
            </a:pPr>
            <a:r>
              <a:rPr lang="en-US" sz="1200" dirty="0">
                <a:solidFill>
                  <a:srgbClr val="B0B8C4"/>
                </a:solidFill>
              </a:rPr>
              <a:t>→</a:t>
            </a:r>
            <a:endParaRPr lang="en-US" sz="1200" dirty="0"/>
          </a:p>
        </p:txBody>
      </p:sp>
      <p:sp>
        <p:nvSpPr>
          <p:cNvPr id="16" name="Shape 14"/>
          <p:cNvSpPr/>
          <p:nvPr/>
        </p:nvSpPr>
        <p:spPr>
          <a:xfrm>
            <a:off x="3337560" y="1463040"/>
            <a:ext cx="2468880" cy="2011680"/>
          </a:xfrm>
          <a:prstGeom prst="roundRect">
            <a:avLst>
              <a:gd name="adj" fmla="val 2273"/>
            </a:avLst>
          </a:prstGeom>
          <a:solidFill>
            <a:srgbClr val="FFFFFF"/>
          </a:solidFill>
          <a:ln w="6350">
            <a:solidFill>
              <a:srgbClr val="E5E9F0"/>
            </a:solidFill>
            <a:prstDash val="solid"/>
          </a:ln>
        </p:spPr>
      </p:sp>
      <p:sp>
        <p:nvSpPr>
          <p:cNvPr id="17" name="Text 15"/>
          <p:cNvSpPr/>
          <p:nvPr/>
        </p:nvSpPr>
        <p:spPr>
          <a:xfrm>
            <a:off x="3447288" y="1536192"/>
            <a:ext cx="2249424" cy="228600"/>
          </a:xfrm>
          <a:prstGeom prst="rect">
            <a:avLst/>
          </a:prstGeom>
          <a:noFill/>
          <a:ln/>
        </p:spPr>
        <p:txBody>
          <a:bodyPr wrap="square" rtlCol="0" anchor="ctr"/>
          <a:lstStyle/>
          <a:p>
            <a:pPr indent="0" marL="0">
              <a:buNone/>
            </a:pPr>
            <a:r>
              <a:rPr lang="en-US" sz="1100" b="1" dirty="0">
                <a:solidFill>
                  <a:srgbClr val="1E2A38"/>
                </a:solidFill>
                <a:latin typeface="Source Han Sans SC" pitchFamily="34" charset="0"/>
                <a:ea typeface="Source Han Sans SC" pitchFamily="34" charset="-122"/>
                <a:cs typeface="Source Han Sans SC" pitchFamily="34" charset="-120"/>
              </a:rPr>
              <a:t>全国两会</a:t>
            </a:r>
            <a:endParaRPr lang="en-US" sz="1100" dirty="0"/>
          </a:p>
        </p:txBody>
      </p:sp>
      <p:sp>
        <p:nvSpPr>
          <p:cNvPr id="18" name="Text 16"/>
          <p:cNvSpPr/>
          <p:nvPr/>
        </p:nvSpPr>
        <p:spPr>
          <a:xfrm>
            <a:off x="3447288" y="1783080"/>
            <a:ext cx="2249424" cy="914400"/>
          </a:xfrm>
          <a:prstGeom prst="rect">
            <a:avLst/>
          </a:prstGeom>
          <a:noFill/>
          <a:ln/>
        </p:spPr>
        <p:txBody>
          <a:bodyPr wrap="square" rtlCol="0" anchor="ctr"/>
          <a:lstStyle/>
          <a:p>
            <a:pPr indent="0" marL="0">
              <a:lnSpc>
                <a:spcPts val="1200"/>
              </a:lnSpc>
              <a:buNone/>
            </a:pPr>
            <a:r>
              <a:rPr lang="en-US" sz="800" dirty="0">
                <a:solidFill>
                  <a:srgbClr val="1E2A38"/>
                </a:solidFill>
                <a:latin typeface="Source Han Sans SC" pitchFamily="34" charset="0"/>
                <a:ea typeface="Source Han Sans SC" pitchFamily="34" charset="-122"/>
                <a:cs typeface="Source Han Sans SC" pitchFamily="34" charset="-120"/>
              </a:rPr>
              <a:t>多位全国政协委员提交青少年心理健康相关提案，涵盖课程建设、师资配备、早期干预等</a:t>
            </a:r>
            <a:endParaRPr lang="en-US" sz="800" dirty="0"/>
          </a:p>
        </p:txBody>
      </p:sp>
      <p:sp>
        <p:nvSpPr>
          <p:cNvPr id="19" name="Text 17"/>
          <p:cNvSpPr/>
          <p:nvPr/>
        </p:nvSpPr>
        <p:spPr>
          <a:xfrm>
            <a:off x="3447288" y="2697480"/>
            <a:ext cx="2249424" cy="274320"/>
          </a:xfrm>
          <a:prstGeom prst="rect">
            <a:avLst/>
          </a:prstGeom>
          <a:noFill/>
          <a:ln/>
        </p:spPr>
        <p:txBody>
          <a:bodyPr wrap="square" rtlCol="0" anchor="ctr"/>
          <a:lstStyle/>
          <a:p>
            <a:pPr indent="0" marL="0">
              <a:buNone/>
            </a:pPr>
            <a:r>
              <a:rPr lang="en-US" sz="800" b="1" dirty="0">
                <a:solidFill>
                  <a:srgbClr val="3A6EA5"/>
                </a:solidFill>
                <a:latin typeface="Source Han Sans SC" pitchFamily="34" charset="0"/>
                <a:ea typeface="Source Han Sans SC" pitchFamily="34" charset="-122"/>
                <a:cs typeface="Source Han Sans SC" pitchFamily="34" charset="-120"/>
              </a:rPr>
              <a:t>提案数量同比上升37%</a:t>
            </a:r>
            <a:endParaRPr lang="en-US" sz="800" dirty="0"/>
          </a:p>
        </p:txBody>
      </p:sp>
      <p:sp>
        <p:nvSpPr>
          <p:cNvPr id="20" name="Text 18"/>
          <p:cNvSpPr/>
          <p:nvPr/>
        </p:nvSpPr>
        <p:spPr>
          <a:xfrm>
            <a:off x="3447288" y="2971800"/>
            <a:ext cx="2249424" cy="228600"/>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2024年全国政协提案统计</a:t>
            </a:r>
            <a:endParaRPr lang="en-US" sz="650" dirty="0"/>
          </a:p>
        </p:txBody>
      </p:sp>
      <p:sp>
        <p:nvSpPr>
          <p:cNvPr id="21" name="Shape 19"/>
          <p:cNvSpPr/>
          <p:nvPr/>
        </p:nvSpPr>
        <p:spPr>
          <a:xfrm>
            <a:off x="6080760" y="1051560"/>
            <a:ext cx="822960" cy="274320"/>
          </a:xfrm>
          <a:prstGeom prst="roundRect">
            <a:avLst>
              <a:gd name="adj" fmla="val 13333"/>
            </a:avLst>
          </a:prstGeom>
          <a:solidFill>
            <a:srgbClr val="3A6EA5"/>
          </a:solidFill>
          <a:ln/>
        </p:spPr>
      </p:sp>
      <p:sp>
        <p:nvSpPr>
          <p:cNvPr id="22" name="Text 20"/>
          <p:cNvSpPr/>
          <p:nvPr/>
        </p:nvSpPr>
        <p:spPr>
          <a:xfrm>
            <a:off x="6080760" y="1051560"/>
            <a:ext cx="822960" cy="274320"/>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2025</a:t>
            </a:r>
            <a:endParaRPr lang="en-US" sz="1000" dirty="0"/>
          </a:p>
        </p:txBody>
      </p:sp>
      <p:sp>
        <p:nvSpPr>
          <p:cNvPr id="23" name="Text 21"/>
          <p:cNvSpPr/>
          <p:nvPr/>
        </p:nvSpPr>
        <p:spPr>
          <a:xfrm>
            <a:off x="6903720" y="1051560"/>
            <a:ext cx="457200" cy="274320"/>
          </a:xfrm>
          <a:prstGeom prst="rect">
            <a:avLst/>
          </a:prstGeom>
          <a:noFill/>
          <a:ln/>
        </p:spPr>
        <p:txBody>
          <a:bodyPr wrap="square" rtlCol="0" anchor="ctr"/>
          <a:lstStyle/>
          <a:p>
            <a:pPr algn="ctr" indent="0" marL="0">
              <a:buNone/>
            </a:pPr>
            <a:r>
              <a:rPr lang="en-US" sz="1200" dirty="0">
                <a:solidFill>
                  <a:srgbClr val="B0B8C4"/>
                </a:solidFill>
              </a:rPr>
              <a:t>→</a:t>
            </a:r>
            <a:endParaRPr lang="en-US" sz="1200" dirty="0"/>
          </a:p>
        </p:txBody>
      </p:sp>
      <p:sp>
        <p:nvSpPr>
          <p:cNvPr id="24" name="Shape 22"/>
          <p:cNvSpPr/>
          <p:nvPr/>
        </p:nvSpPr>
        <p:spPr>
          <a:xfrm>
            <a:off x="6080760" y="1463040"/>
            <a:ext cx="2468880" cy="2011680"/>
          </a:xfrm>
          <a:prstGeom prst="roundRect">
            <a:avLst>
              <a:gd name="adj" fmla="val 2273"/>
            </a:avLst>
          </a:prstGeom>
          <a:solidFill>
            <a:srgbClr val="FFFFFF"/>
          </a:solidFill>
          <a:ln w="6350">
            <a:solidFill>
              <a:srgbClr val="E5E9F0"/>
            </a:solidFill>
            <a:prstDash val="solid"/>
          </a:ln>
        </p:spPr>
      </p:sp>
      <p:sp>
        <p:nvSpPr>
          <p:cNvPr id="25" name="Text 23"/>
          <p:cNvSpPr/>
          <p:nvPr/>
        </p:nvSpPr>
        <p:spPr>
          <a:xfrm>
            <a:off x="6190488" y="1536192"/>
            <a:ext cx="2249424" cy="228600"/>
          </a:xfrm>
          <a:prstGeom prst="rect">
            <a:avLst/>
          </a:prstGeom>
          <a:noFill/>
          <a:ln/>
        </p:spPr>
        <p:txBody>
          <a:bodyPr wrap="square" rtlCol="0" anchor="ctr"/>
          <a:lstStyle/>
          <a:p>
            <a:pPr indent="0" marL="0">
              <a:buNone/>
            </a:pPr>
            <a:r>
              <a:rPr lang="en-US" sz="1100" b="1" dirty="0">
                <a:solidFill>
                  <a:srgbClr val="1E2A38"/>
                </a:solidFill>
                <a:latin typeface="Source Han Sans SC" pitchFamily="34" charset="0"/>
                <a:ea typeface="Source Han Sans SC" pitchFamily="34" charset="-122"/>
                <a:cs typeface="Source Han Sans SC" pitchFamily="34" charset="-120"/>
              </a:rPr>
              <a:t>中共中央国务院</a:t>
            </a:r>
            <a:endParaRPr lang="en-US" sz="1100" dirty="0"/>
          </a:p>
        </p:txBody>
      </p:sp>
      <p:sp>
        <p:nvSpPr>
          <p:cNvPr id="26" name="Text 24"/>
          <p:cNvSpPr/>
          <p:nvPr/>
        </p:nvSpPr>
        <p:spPr>
          <a:xfrm>
            <a:off x="6190488" y="1783080"/>
            <a:ext cx="2249424" cy="914400"/>
          </a:xfrm>
          <a:prstGeom prst="rect">
            <a:avLst/>
          </a:prstGeom>
          <a:noFill/>
          <a:ln/>
        </p:spPr>
        <p:txBody>
          <a:bodyPr wrap="square" rtlCol="0" anchor="ctr"/>
          <a:lstStyle/>
          <a:p>
            <a:pPr indent="0" marL="0">
              <a:lnSpc>
                <a:spcPts val="1200"/>
              </a:lnSpc>
              <a:buNone/>
            </a:pPr>
            <a:r>
              <a:rPr lang="en-US" sz="800" dirty="0">
                <a:solidFill>
                  <a:srgbClr val="1E2A38"/>
                </a:solidFill>
                <a:latin typeface="Source Han Sans SC" pitchFamily="34" charset="0"/>
                <a:ea typeface="Source Han Sans SC" pitchFamily="34" charset="-122"/>
                <a:cs typeface="Source Han Sans SC" pitchFamily="34" charset="-120"/>
              </a:rPr>
              <a:t>《教育强国建设规划纲要》明确将心理健康教育纳入教育质量评价体系</a:t>
            </a:r>
            <a:endParaRPr lang="en-US" sz="800" dirty="0"/>
          </a:p>
        </p:txBody>
      </p:sp>
      <p:sp>
        <p:nvSpPr>
          <p:cNvPr id="27" name="Text 25"/>
          <p:cNvSpPr/>
          <p:nvPr/>
        </p:nvSpPr>
        <p:spPr>
          <a:xfrm>
            <a:off x="6190488" y="2697480"/>
            <a:ext cx="2249424" cy="274320"/>
          </a:xfrm>
          <a:prstGeom prst="rect">
            <a:avLst/>
          </a:prstGeom>
          <a:noFill/>
          <a:ln/>
        </p:spPr>
        <p:txBody>
          <a:bodyPr wrap="square" rtlCol="0" anchor="ctr"/>
          <a:lstStyle/>
          <a:p>
            <a:pPr indent="0" marL="0">
              <a:buNone/>
            </a:pPr>
            <a:r>
              <a:rPr lang="en-US" sz="800" b="1" dirty="0">
                <a:solidFill>
                  <a:srgbClr val="3A6EA5"/>
                </a:solidFill>
                <a:latin typeface="Source Han Sans SC" pitchFamily="34" charset="0"/>
                <a:ea typeface="Source Han Sans SC" pitchFamily="34" charset="-122"/>
                <a:cs typeface="Source Han Sans SC" pitchFamily="34" charset="-120"/>
              </a:rPr>
              <a:t>确立健康第一教育理念</a:t>
            </a:r>
            <a:endParaRPr lang="en-US" sz="800" dirty="0"/>
          </a:p>
        </p:txBody>
      </p:sp>
      <p:sp>
        <p:nvSpPr>
          <p:cNvPr id="28" name="Text 26"/>
          <p:cNvSpPr/>
          <p:nvPr/>
        </p:nvSpPr>
        <p:spPr>
          <a:xfrm>
            <a:off x="6190488" y="2971800"/>
            <a:ext cx="2249424" cy="228600"/>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2025.1.19新华社</a:t>
            </a:r>
            <a:endParaRPr lang="en-US" sz="650" dirty="0"/>
          </a:p>
        </p:txBody>
      </p:sp>
      <p:sp>
        <p:nvSpPr>
          <p:cNvPr id="29" name="Shape 27"/>
          <p:cNvSpPr/>
          <p:nvPr/>
        </p:nvSpPr>
        <p:spPr>
          <a:xfrm>
            <a:off x="8823960" y="1051560"/>
            <a:ext cx="822960" cy="274320"/>
          </a:xfrm>
          <a:prstGeom prst="roundRect">
            <a:avLst>
              <a:gd name="adj" fmla="val 13333"/>
            </a:avLst>
          </a:prstGeom>
          <a:solidFill>
            <a:srgbClr val="3A6EA5"/>
          </a:solidFill>
          <a:ln/>
        </p:spPr>
      </p:sp>
      <p:sp>
        <p:nvSpPr>
          <p:cNvPr id="30" name="Text 28"/>
          <p:cNvSpPr/>
          <p:nvPr/>
        </p:nvSpPr>
        <p:spPr>
          <a:xfrm>
            <a:off x="8823960" y="1051560"/>
            <a:ext cx="822960" cy="274320"/>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2026</a:t>
            </a:r>
            <a:endParaRPr lang="en-US" sz="1000" dirty="0"/>
          </a:p>
        </p:txBody>
      </p:sp>
      <p:sp>
        <p:nvSpPr>
          <p:cNvPr id="31" name="Shape 29"/>
          <p:cNvSpPr/>
          <p:nvPr/>
        </p:nvSpPr>
        <p:spPr>
          <a:xfrm>
            <a:off x="8823960" y="1463040"/>
            <a:ext cx="2468880" cy="2011680"/>
          </a:xfrm>
          <a:prstGeom prst="roundRect">
            <a:avLst>
              <a:gd name="adj" fmla="val 2273"/>
            </a:avLst>
          </a:prstGeom>
          <a:solidFill>
            <a:srgbClr val="FFFFFF"/>
          </a:solidFill>
          <a:ln w="6350">
            <a:solidFill>
              <a:srgbClr val="E5E9F0"/>
            </a:solidFill>
            <a:prstDash val="solid"/>
          </a:ln>
        </p:spPr>
      </p:sp>
      <p:sp>
        <p:nvSpPr>
          <p:cNvPr id="32" name="Text 30"/>
          <p:cNvSpPr/>
          <p:nvPr/>
        </p:nvSpPr>
        <p:spPr>
          <a:xfrm>
            <a:off x="8933688" y="1536192"/>
            <a:ext cx="2249424" cy="228600"/>
          </a:xfrm>
          <a:prstGeom prst="rect">
            <a:avLst/>
          </a:prstGeom>
          <a:noFill/>
          <a:ln/>
        </p:spPr>
        <p:txBody>
          <a:bodyPr wrap="square" rtlCol="0" anchor="ctr"/>
          <a:lstStyle/>
          <a:p>
            <a:pPr indent="0" marL="0">
              <a:buNone/>
            </a:pPr>
            <a:r>
              <a:rPr lang="en-US" sz="1100" b="1" dirty="0">
                <a:solidFill>
                  <a:srgbClr val="1E2A38"/>
                </a:solidFill>
                <a:latin typeface="Source Han Sans SC" pitchFamily="34" charset="0"/>
                <a:ea typeface="Source Han Sans SC" pitchFamily="34" charset="-122"/>
                <a:cs typeface="Source Han Sans SC" pitchFamily="34" charset="-120"/>
              </a:rPr>
              <a:t>全国两会</a:t>
            </a:r>
            <a:endParaRPr lang="en-US" sz="1100" dirty="0"/>
          </a:p>
        </p:txBody>
      </p:sp>
      <p:sp>
        <p:nvSpPr>
          <p:cNvPr id="33" name="Text 31"/>
          <p:cNvSpPr/>
          <p:nvPr/>
        </p:nvSpPr>
        <p:spPr>
          <a:xfrm>
            <a:off x="8933688" y="1783080"/>
            <a:ext cx="2249424" cy="914400"/>
          </a:xfrm>
          <a:prstGeom prst="rect">
            <a:avLst/>
          </a:prstGeom>
          <a:noFill/>
          <a:ln/>
        </p:spPr>
        <p:txBody>
          <a:bodyPr wrap="square" rtlCol="0" anchor="ctr"/>
          <a:lstStyle/>
          <a:p>
            <a:pPr indent="0" marL="0">
              <a:lnSpc>
                <a:spcPts val="1200"/>
              </a:lnSpc>
              <a:buNone/>
            </a:pPr>
            <a:r>
              <a:rPr lang="en-US" sz="800" dirty="0">
                <a:solidFill>
                  <a:srgbClr val="1E2A38"/>
                </a:solidFill>
                <a:latin typeface="Source Han Sans SC" pitchFamily="34" charset="0"/>
                <a:ea typeface="Source Han Sans SC" pitchFamily="34" charset="-122"/>
                <a:cs typeface="Source Han Sans SC" pitchFamily="34" charset="-120"/>
              </a:rPr>
              <a:t>青少年心理健康列为年度重点民生议题，多位代表建议建立多部门联动机制</a:t>
            </a:r>
            <a:endParaRPr lang="en-US" sz="800" dirty="0"/>
          </a:p>
        </p:txBody>
      </p:sp>
      <p:sp>
        <p:nvSpPr>
          <p:cNvPr id="34" name="Text 32"/>
          <p:cNvSpPr/>
          <p:nvPr/>
        </p:nvSpPr>
        <p:spPr>
          <a:xfrm>
            <a:off x="8933688" y="2697480"/>
            <a:ext cx="2249424" cy="274320"/>
          </a:xfrm>
          <a:prstGeom prst="rect">
            <a:avLst/>
          </a:prstGeom>
          <a:noFill/>
          <a:ln/>
        </p:spPr>
        <p:txBody>
          <a:bodyPr wrap="square" rtlCol="0" anchor="ctr"/>
          <a:lstStyle/>
          <a:p>
            <a:pPr indent="0" marL="0">
              <a:buNone/>
            </a:pPr>
            <a:r>
              <a:rPr lang="en-US" sz="800" b="1" dirty="0">
                <a:solidFill>
                  <a:srgbClr val="3A6EA5"/>
                </a:solidFill>
                <a:latin typeface="Source Han Sans SC" pitchFamily="34" charset="0"/>
                <a:ea typeface="Source Han Sans SC" pitchFamily="34" charset="-122"/>
                <a:cs typeface="Source Han Sans SC" pitchFamily="34" charset="-120"/>
              </a:rPr>
              <a:t>相关提案突破120件</a:t>
            </a:r>
            <a:endParaRPr lang="en-US" sz="800" dirty="0"/>
          </a:p>
        </p:txBody>
      </p:sp>
      <p:sp>
        <p:nvSpPr>
          <p:cNvPr id="35" name="Text 33"/>
          <p:cNvSpPr/>
          <p:nvPr/>
        </p:nvSpPr>
        <p:spPr>
          <a:xfrm>
            <a:off x="8933688" y="2971800"/>
            <a:ext cx="2249424" cy="228600"/>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2026年全国政协提案统计</a:t>
            </a:r>
            <a:endParaRPr lang="en-US" sz="650" dirty="0"/>
          </a:p>
        </p:txBody>
      </p:sp>
      <p:sp>
        <p:nvSpPr>
          <p:cNvPr id="36" name="Shape 34"/>
          <p:cNvSpPr/>
          <p:nvPr/>
        </p:nvSpPr>
        <p:spPr>
          <a:xfrm>
            <a:off x="594360" y="3703320"/>
            <a:ext cx="11000232" cy="9144"/>
          </a:xfrm>
          <a:prstGeom prst="rect">
            <a:avLst/>
          </a:prstGeom>
          <a:solidFill>
            <a:srgbClr val="E5E9F0"/>
          </a:solidFill>
          <a:ln/>
        </p:spPr>
      </p:sp>
      <p:sp>
        <p:nvSpPr>
          <p:cNvPr id="37" name="Text 35"/>
          <p:cNvSpPr/>
          <p:nvPr/>
        </p:nvSpPr>
        <p:spPr>
          <a:xfrm>
            <a:off x="594360" y="3794760"/>
            <a:ext cx="2743200" cy="228600"/>
          </a:xfrm>
          <a:prstGeom prst="rect">
            <a:avLst/>
          </a:prstGeom>
          <a:noFill/>
          <a:ln/>
        </p:spPr>
        <p:txBody>
          <a:bodyPr wrap="square" rtlCol="0" anchor="ctr"/>
          <a:lstStyle/>
          <a:p>
            <a:pPr indent="0" marL="0">
              <a:buNone/>
            </a:pPr>
            <a:r>
              <a:rPr lang="en-US" sz="1000" b="1" dirty="0">
                <a:solidFill>
                  <a:srgbClr val="1E2A38"/>
                </a:solidFill>
                <a:latin typeface="Source Han Sans SC" pitchFamily="34" charset="0"/>
                <a:ea typeface="Source Han Sans SC" pitchFamily="34" charset="-122"/>
                <a:cs typeface="Source Han Sans SC" pitchFamily="34" charset="-120"/>
              </a:rPr>
              <a:t>政策关键词</a:t>
            </a:r>
            <a:endParaRPr lang="en-US" sz="1000" dirty="0"/>
          </a:p>
        </p:txBody>
      </p:sp>
      <p:sp>
        <p:nvSpPr>
          <p:cNvPr id="38" name="Shape 36"/>
          <p:cNvSpPr/>
          <p:nvPr/>
        </p:nvSpPr>
        <p:spPr>
          <a:xfrm>
            <a:off x="594360" y="4069080"/>
            <a:ext cx="1280160" cy="274320"/>
          </a:xfrm>
          <a:prstGeom prst="roundRect">
            <a:avLst>
              <a:gd name="adj" fmla="val 13333"/>
            </a:avLst>
          </a:prstGeom>
          <a:solidFill>
            <a:srgbClr val="FFFFFF"/>
          </a:solidFill>
          <a:ln w="3810">
            <a:solidFill>
              <a:srgbClr val="3A6EA5"/>
            </a:solidFill>
            <a:prstDash val="solid"/>
          </a:ln>
        </p:spPr>
      </p:sp>
      <p:sp>
        <p:nvSpPr>
          <p:cNvPr id="39" name="Text 37"/>
          <p:cNvSpPr/>
          <p:nvPr/>
        </p:nvSpPr>
        <p:spPr>
          <a:xfrm>
            <a:off x="594360" y="4069080"/>
            <a:ext cx="1280160" cy="274320"/>
          </a:xfrm>
          <a:prstGeom prst="rect">
            <a:avLst/>
          </a:prstGeom>
          <a:noFill/>
          <a:ln/>
        </p:spPr>
        <p:txBody>
          <a:bodyPr wrap="square" rtlCol="0" anchor="ctr"/>
          <a:lstStyle/>
          <a:p>
            <a:pPr algn="ctr" indent="0" marL="0">
              <a:buNone/>
            </a:pPr>
            <a:r>
              <a:rPr lang="en-US" sz="750" dirty="0">
                <a:solidFill>
                  <a:srgbClr val="3A6EA5"/>
                </a:solidFill>
                <a:latin typeface="Source Han Sans SC" pitchFamily="34" charset="0"/>
                <a:ea typeface="Source Han Sans SC" pitchFamily="34" charset="-122"/>
                <a:cs typeface="Source Han Sans SC" pitchFamily="34" charset="-120"/>
              </a:rPr>
              <a:t>健康第一</a:t>
            </a:r>
            <a:endParaRPr lang="en-US" sz="750" dirty="0"/>
          </a:p>
        </p:txBody>
      </p:sp>
      <p:sp>
        <p:nvSpPr>
          <p:cNvPr id="40" name="Shape 38"/>
          <p:cNvSpPr/>
          <p:nvPr/>
        </p:nvSpPr>
        <p:spPr>
          <a:xfrm>
            <a:off x="2011680" y="4069080"/>
            <a:ext cx="1280160" cy="274320"/>
          </a:xfrm>
          <a:prstGeom prst="roundRect">
            <a:avLst>
              <a:gd name="adj" fmla="val 13333"/>
            </a:avLst>
          </a:prstGeom>
          <a:solidFill>
            <a:srgbClr val="FFFFFF"/>
          </a:solidFill>
          <a:ln w="3810">
            <a:solidFill>
              <a:srgbClr val="3A6EA5"/>
            </a:solidFill>
            <a:prstDash val="solid"/>
          </a:ln>
        </p:spPr>
      </p:sp>
      <p:sp>
        <p:nvSpPr>
          <p:cNvPr id="41" name="Text 39"/>
          <p:cNvSpPr/>
          <p:nvPr/>
        </p:nvSpPr>
        <p:spPr>
          <a:xfrm>
            <a:off x="2011680" y="4069080"/>
            <a:ext cx="1280160" cy="274320"/>
          </a:xfrm>
          <a:prstGeom prst="rect">
            <a:avLst/>
          </a:prstGeom>
          <a:noFill/>
          <a:ln/>
        </p:spPr>
        <p:txBody>
          <a:bodyPr wrap="square" rtlCol="0" anchor="ctr"/>
          <a:lstStyle/>
          <a:p>
            <a:pPr algn="ctr" indent="0" marL="0">
              <a:buNone/>
            </a:pPr>
            <a:r>
              <a:rPr lang="en-US" sz="750" dirty="0">
                <a:solidFill>
                  <a:srgbClr val="3A6EA5"/>
                </a:solidFill>
                <a:latin typeface="Source Han Sans SC" pitchFamily="34" charset="0"/>
                <a:ea typeface="Source Han Sans SC" pitchFamily="34" charset="-122"/>
                <a:cs typeface="Source Han Sans SC" pitchFamily="34" charset="-120"/>
              </a:rPr>
              <a:t>五育并举</a:t>
            </a:r>
            <a:endParaRPr lang="en-US" sz="750" dirty="0"/>
          </a:p>
        </p:txBody>
      </p:sp>
      <p:sp>
        <p:nvSpPr>
          <p:cNvPr id="42" name="Shape 40"/>
          <p:cNvSpPr/>
          <p:nvPr/>
        </p:nvSpPr>
        <p:spPr>
          <a:xfrm>
            <a:off x="3429000" y="4069080"/>
            <a:ext cx="1280160" cy="274320"/>
          </a:xfrm>
          <a:prstGeom prst="roundRect">
            <a:avLst>
              <a:gd name="adj" fmla="val 13333"/>
            </a:avLst>
          </a:prstGeom>
          <a:solidFill>
            <a:srgbClr val="FFFFFF"/>
          </a:solidFill>
          <a:ln w="3810">
            <a:solidFill>
              <a:srgbClr val="3A6EA5"/>
            </a:solidFill>
            <a:prstDash val="solid"/>
          </a:ln>
        </p:spPr>
      </p:sp>
      <p:sp>
        <p:nvSpPr>
          <p:cNvPr id="43" name="Text 41"/>
          <p:cNvSpPr/>
          <p:nvPr/>
        </p:nvSpPr>
        <p:spPr>
          <a:xfrm>
            <a:off x="3429000" y="4069080"/>
            <a:ext cx="1280160" cy="274320"/>
          </a:xfrm>
          <a:prstGeom prst="rect">
            <a:avLst/>
          </a:prstGeom>
          <a:noFill/>
          <a:ln/>
        </p:spPr>
        <p:txBody>
          <a:bodyPr wrap="square" rtlCol="0" anchor="ctr"/>
          <a:lstStyle/>
          <a:p>
            <a:pPr algn="ctr" indent="0" marL="0">
              <a:buNone/>
            </a:pPr>
            <a:r>
              <a:rPr lang="en-US" sz="750" dirty="0">
                <a:solidFill>
                  <a:srgbClr val="3A6EA5"/>
                </a:solidFill>
                <a:latin typeface="Source Han Sans SC" pitchFamily="34" charset="0"/>
                <a:ea typeface="Source Han Sans SC" pitchFamily="34" charset="-122"/>
                <a:cs typeface="Source Han Sans SC" pitchFamily="34" charset="-120"/>
              </a:rPr>
              <a:t>预防为主</a:t>
            </a:r>
            <a:endParaRPr lang="en-US" sz="750" dirty="0"/>
          </a:p>
        </p:txBody>
      </p:sp>
      <p:sp>
        <p:nvSpPr>
          <p:cNvPr id="44" name="Shape 42"/>
          <p:cNvSpPr/>
          <p:nvPr/>
        </p:nvSpPr>
        <p:spPr>
          <a:xfrm>
            <a:off x="4846320" y="4069080"/>
            <a:ext cx="1280160" cy="274320"/>
          </a:xfrm>
          <a:prstGeom prst="roundRect">
            <a:avLst>
              <a:gd name="adj" fmla="val 13333"/>
            </a:avLst>
          </a:prstGeom>
          <a:solidFill>
            <a:srgbClr val="FFFFFF"/>
          </a:solidFill>
          <a:ln w="3810">
            <a:solidFill>
              <a:srgbClr val="3A6EA5"/>
            </a:solidFill>
            <a:prstDash val="solid"/>
          </a:ln>
        </p:spPr>
      </p:sp>
      <p:sp>
        <p:nvSpPr>
          <p:cNvPr id="45" name="Text 43"/>
          <p:cNvSpPr/>
          <p:nvPr/>
        </p:nvSpPr>
        <p:spPr>
          <a:xfrm>
            <a:off x="4846320" y="4069080"/>
            <a:ext cx="1280160" cy="274320"/>
          </a:xfrm>
          <a:prstGeom prst="rect">
            <a:avLst/>
          </a:prstGeom>
          <a:noFill/>
          <a:ln/>
        </p:spPr>
        <p:txBody>
          <a:bodyPr wrap="square" rtlCol="0" anchor="ctr"/>
          <a:lstStyle/>
          <a:p>
            <a:pPr algn="ctr" indent="0" marL="0">
              <a:buNone/>
            </a:pPr>
            <a:r>
              <a:rPr lang="en-US" sz="750" dirty="0">
                <a:solidFill>
                  <a:srgbClr val="3A6EA5"/>
                </a:solidFill>
                <a:latin typeface="Source Han Sans SC" pitchFamily="34" charset="0"/>
                <a:ea typeface="Source Han Sans SC" pitchFamily="34" charset="-122"/>
                <a:cs typeface="Source Han Sans SC" pitchFamily="34" charset="-120"/>
              </a:rPr>
              <a:t>家校社协同</a:t>
            </a:r>
            <a:endParaRPr lang="en-US" sz="750" dirty="0"/>
          </a:p>
        </p:txBody>
      </p:sp>
      <p:sp>
        <p:nvSpPr>
          <p:cNvPr id="46" name="Shape 44"/>
          <p:cNvSpPr/>
          <p:nvPr/>
        </p:nvSpPr>
        <p:spPr>
          <a:xfrm>
            <a:off x="6263640" y="4069080"/>
            <a:ext cx="1280160" cy="274320"/>
          </a:xfrm>
          <a:prstGeom prst="roundRect">
            <a:avLst>
              <a:gd name="adj" fmla="val 13333"/>
            </a:avLst>
          </a:prstGeom>
          <a:solidFill>
            <a:srgbClr val="FFFFFF"/>
          </a:solidFill>
          <a:ln w="3810">
            <a:solidFill>
              <a:srgbClr val="3A6EA5"/>
            </a:solidFill>
            <a:prstDash val="solid"/>
          </a:ln>
        </p:spPr>
      </p:sp>
      <p:sp>
        <p:nvSpPr>
          <p:cNvPr id="47" name="Text 45"/>
          <p:cNvSpPr/>
          <p:nvPr/>
        </p:nvSpPr>
        <p:spPr>
          <a:xfrm>
            <a:off x="6263640" y="4069080"/>
            <a:ext cx="1280160" cy="274320"/>
          </a:xfrm>
          <a:prstGeom prst="rect">
            <a:avLst/>
          </a:prstGeom>
          <a:noFill/>
          <a:ln/>
        </p:spPr>
        <p:txBody>
          <a:bodyPr wrap="square" rtlCol="0" anchor="ctr"/>
          <a:lstStyle/>
          <a:p>
            <a:pPr algn="ctr" indent="0" marL="0">
              <a:buNone/>
            </a:pPr>
            <a:r>
              <a:rPr lang="en-US" sz="750" dirty="0">
                <a:solidFill>
                  <a:srgbClr val="3A6EA5"/>
                </a:solidFill>
                <a:latin typeface="Source Han Sans SC" pitchFamily="34" charset="0"/>
                <a:ea typeface="Source Han Sans SC" pitchFamily="34" charset="-122"/>
                <a:cs typeface="Source Han Sans SC" pitchFamily="34" charset="-120"/>
              </a:rPr>
              <a:t>心理育人</a:t>
            </a:r>
            <a:endParaRPr lang="en-US" sz="750" dirty="0"/>
          </a:p>
        </p:txBody>
      </p:sp>
      <p:sp>
        <p:nvSpPr>
          <p:cNvPr id="48" name="Shape 46"/>
          <p:cNvSpPr/>
          <p:nvPr/>
        </p:nvSpPr>
        <p:spPr>
          <a:xfrm>
            <a:off x="7680960" y="4069080"/>
            <a:ext cx="1280160" cy="274320"/>
          </a:xfrm>
          <a:prstGeom prst="roundRect">
            <a:avLst>
              <a:gd name="adj" fmla="val 13333"/>
            </a:avLst>
          </a:prstGeom>
          <a:solidFill>
            <a:srgbClr val="FFFFFF"/>
          </a:solidFill>
          <a:ln w="3810">
            <a:solidFill>
              <a:srgbClr val="3A6EA5"/>
            </a:solidFill>
            <a:prstDash val="solid"/>
          </a:ln>
        </p:spPr>
      </p:sp>
      <p:sp>
        <p:nvSpPr>
          <p:cNvPr id="49" name="Text 47"/>
          <p:cNvSpPr/>
          <p:nvPr/>
        </p:nvSpPr>
        <p:spPr>
          <a:xfrm>
            <a:off x="7680960" y="4069080"/>
            <a:ext cx="1280160" cy="274320"/>
          </a:xfrm>
          <a:prstGeom prst="rect">
            <a:avLst/>
          </a:prstGeom>
          <a:noFill/>
          <a:ln/>
        </p:spPr>
        <p:txBody>
          <a:bodyPr wrap="square" rtlCol="0" anchor="ctr"/>
          <a:lstStyle/>
          <a:p>
            <a:pPr algn="ctr" indent="0" marL="0">
              <a:buNone/>
            </a:pPr>
            <a:r>
              <a:rPr lang="en-US" sz="750" dirty="0">
                <a:solidFill>
                  <a:srgbClr val="3A6EA5"/>
                </a:solidFill>
                <a:latin typeface="Source Han Sans SC" pitchFamily="34" charset="0"/>
                <a:ea typeface="Source Han Sans SC" pitchFamily="34" charset="-122"/>
                <a:cs typeface="Source Han Sans SC" pitchFamily="34" charset="-120"/>
              </a:rPr>
              <a:t>教联体</a:t>
            </a:r>
            <a:endParaRPr lang="en-US" sz="750" dirty="0"/>
          </a:p>
        </p:txBody>
      </p:sp>
      <p:sp>
        <p:nvSpPr>
          <p:cNvPr id="50" name="Text 48"/>
          <p:cNvSpPr/>
          <p:nvPr/>
        </p:nvSpPr>
        <p:spPr>
          <a:xfrm>
            <a:off x="594360" y="4937760"/>
            <a:ext cx="11000232" cy="640080"/>
          </a:xfrm>
          <a:prstGeom prst="rect">
            <a:avLst/>
          </a:prstGeom>
          <a:noFill/>
          <a:ln/>
        </p:spPr>
        <p:txBody>
          <a:bodyPr wrap="square" rtlCol="0" anchor="ctr"/>
          <a:lstStyle/>
          <a:p>
            <a:pPr indent="0" marL="0">
              <a:buNone/>
            </a:pPr>
            <a:r>
              <a:rPr lang="en-US" sz="850" dirty="0">
                <a:solidFill>
                  <a:srgbClr val="8899AA"/>
                </a:solidFill>
                <a:latin typeface="Source Han Sans SC" pitchFamily="34" charset="0"/>
                <a:ea typeface="Source Han Sans SC" pitchFamily="34" charset="-122"/>
                <a:cs typeface="Source Han Sans SC" pitchFamily="34" charset="-120"/>
              </a:rPr>
              <a:t>以上政策文件为完善高中生心理健康支持体系提供了坚实的制度基础和政策空间。</a:t>
            </a:r>
            <a:endParaRPr lang="en-US" sz="850" dirty="0"/>
          </a:p>
        </p:txBody>
      </p:sp>
      <p:sp>
        <p:nvSpPr>
          <p:cNvPr id="51" name="Text 49"/>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2/23</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为什么关注高中生心理健康</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Epidemiological &amp; Social Context</a:t>
            </a:r>
            <a:endParaRPr lang="en-US" sz="1000" dirty="0"/>
          </a:p>
        </p:txBody>
      </p:sp>
      <p:sp>
        <p:nvSpPr>
          <p:cNvPr id="5" name="Shape 3"/>
          <p:cNvSpPr/>
          <p:nvPr/>
        </p:nvSpPr>
        <p:spPr>
          <a:xfrm>
            <a:off x="594360" y="1051560"/>
            <a:ext cx="6217920" cy="960120"/>
          </a:xfrm>
          <a:prstGeom prst="roundRect">
            <a:avLst>
              <a:gd name="adj" fmla="val 4762"/>
            </a:avLst>
          </a:prstGeom>
          <a:solidFill>
            <a:srgbClr val="FFFFFF"/>
          </a:solidFill>
          <a:ln w="6350">
            <a:solidFill>
              <a:srgbClr val="E5E9F0"/>
            </a:solidFill>
            <a:prstDash val="solid"/>
          </a:ln>
        </p:spPr>
      </p:sp>
      <p:sp>
        <p:nvSpPr>
          <p:cNvPr id="6" name="Text 4"/>
          <p:cNvSpPr/>
          <p:nvPr/>
        </p:nvSpPr>
        <p:spPr>
          <a:xfrm>
            <a:off x="731520" y="1124712"/>
            <a:ext cx="1097280" cy="502920"/>
          </a:xfrm>
          <a:prstGeom prst="rect">
            <a:avLst/>
          </a:prstGeom>
          <a:noFill/>
          <a:ln/>
        </p:spPr>
        <p:txBody>
          <a:bodyPr wrap="square" rtlCol="0" anchor="ctr"/>
          <a:lstStyle/>
          <a:p>
            <a:pPr algn="ctr" indent="0" marL="0">
              <a:buNone/>
            </a:pPr>
            <a:r>
              <a:rPr lang="en-US" sz="2600" b="1" dirty="0">
                <a:solidFill>
                  <a:srgbClr val="3A6EA5"/>
                </a:solidFill>
                <a:latin typeface="Source Han Sans SC" pitchFamily="34" charset="0"/>
                <a:ea typeface="Source Han Sans SC" pitchFamily="34" charset="-122"/>
                <a:cs typeface="Source Han Sans SC" pitchFamily="34" charset="-120"/>
              </a:rPr>
              <a:t>14.8%</a:t>
            </a:r>
            <a:endParaRPr lang="en-US" sz="2600" dirty="0"/>
          </a:p>
        </p:txBody>
      </p:sp>
      <p:sp>
        <p:nvSpPr>
          <p:cNvPr id="7" name="Text 5"/>
          <p:cNvSpPr/>
          <p:nvPr/>
        </p:nvSpPr>
        <p:spPr>
          <a:xfrm>
            <a:off x="1874520" y="1097280"/>
            <a:ext cx="4663440" cy="274320"/>
          </a:xfrm>
          <a:prstGeom prst="rect">
            <a:avLst/>
          </a:prstGeom>
          <a:noFill/>
          <a:ln/>
        </p:spPr>
        <p:txBody>
          <a:bodyPr wrap="square" rtlCol="0" anchor="ctr"/>
          <a:lstStyle/>
          <a:p>
            <a:pPr indent="0" marL="0">
              <a:buNone/>
            </a:pPr>
            <a:r>
              <a:rPr lang="en-US" sz="1100" b="1" dirty="0">
                <a:solidFill>
                  <a:srgbClr val="1E2A38"/>
                </a:solidFill>
                <a:latin typeface="Source Han Sans SC" pitchFamily="34" charset="0"/>
                <a:ea typeface="Source Han Sans SC" pitchFamily="34" charset="-122"/>
                <a:cs typeface="Source Han Sans SC" pitchFamily="34" charset="-120"/>
              </a:rPr>
              <a:t>青少年抑郁风险检出率</a:t>
            </a:r>
            <a:endParaRPr lang="en-US" sz="1100" dirty="0"/>
          </a:p>
        </p:txBody>
      </p:sp>
      <p:sp>
        <p:nvSpPr>
          <p:cNvPr id="8" name="Text 6"/>
          <p:cNvSpPr/>
          <p:nvPr/>
        </p:nvSpPr>
        <p:spPr>
          <a:xfrm>
            <a:off x="1874520" y="1371600"/>
            <a:ext cx="4663440" cy="228600"/>
          </a:xfrm>
          <a:prstGeom prst="rect">
            <a:avLst/>
          </a:prstGeom>
          <a:noFill/>
          <a:ln/>
        </p:spPr>
        <p:txBody>
          <a:bodyPr wrap="square" rtlCol="0" anchor="ctr"/>
          <a:lstStyle/>
          <a:p>
            <a:pPr indent="0" marL="0">
              <a:buNone/>
            </a:pPr>
            <a:r>
              <a:rPr lang="en-US" sz="800" dirty="0">
                <a:solidFill>
                  <a:srgbClr val="1E2A38"/>
                </a:solidFill>
                <a:latin typeface="Source Han Sans SC" pitchFamily="34" charset="0"/>
                <a:ea typeface="Source Han Sans SC" pitchFamily="34" charset="-122"/>
                <a:cs typeface="Source Han Sans SC" pitchFamily="34" charset="-120"/>
              </a:rPr>
              <a:t>高于成年群体平均水平约5个百分点</a:t>
            </a:r>
            <a:endParaRPr lang="en-US" sz="800" dirty="0"/>
          </a:p>
        </p:txBody>
      </p:sp>
      <p:sp>
        <p:nvSpPr>
          <p:cNvPr id="9" name="Text 7"/>
          <p:cNvSpPr/>
          <p:nvPr/>
        </p:nvSpPr>
        <p:spPr>
          <a:xfrm>
            <a:off x="1874520" y="1645920"/>
            <a:ext cx="4663440" cy="201168"/>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中科院心理所《中国国民心理健康发展报告（2023）》N&gt;50,000</a:t>
            </a:r>
            <a:endParaRPr lang="en-US" sz="650" dirty="0"/>
          </a:p>
        </p:txBody>
      </p:sp>
      <p:sp>
        <p:nvSpPr>
          <p:cNvPr id="10" name="Shape 8"/>
          <p:cNvSpPr/>
          <p:nvPr/>
        </p:nvSpPr>
        <p:spPr>
          <a:xfrm>
            <a:off x="594360" y="2194560"/>
            <a:ext cx="6217920" cy="960120"/>
          </a:xfrm>
          <a:prstGeom prst="roundRect">
            <a:avLst>
              <a:gd name="adj" fmla="val 4762"/>
            </a:avLst>
          </a:prstGeom>
          <a:solidFill>
            <a:srgbClr val="FFFFFF"/>
          </a:solidFill>
          <a:ln w="6350">
            <a:solidFill>
              <a:srgbClr val="E5E9F0"/>
            </a:solidFill>
            <a:prstDash val="solid"/>
          </a:ln>
        </p:spPr>
      </p:sp>
      <p:sp>
        <p:nvSpPr>
          <p:cNvPr id="11" name="Text 9"/>
          <p:cNvSpPr/>
          <p:nvPr/>
        </p:nvSpPr>
        <p:spPr>
          <a:xfrm>
            <a:off x="731520" y="2267712"/>
            <a:ext cx="1097280" cy="502920"/>
          </a:xfrm>
          <a:prstGeom prst="rect">
            <a:avLst/>
          </a:prstGeom>
          <a:noFill/>
          <a:ln/>
        </p:spPr>
        <p:txBody>
          <a:bodyPr wrap="square" rtlCol="0" anchor="ctr"/>
          <a:lstStyle/>
          <a:p>
            <a:pPr algn="ctr" indent="0" marL="0">
              <a:buNone/>
            </a:pPr>
            <a:r>
              <a:rPr lang="en-US" sz="2600" b="1" dirty="0">
                <a:solidFill>
                  <a:srgbClr val="3A6EA5"/>
                </a:solidFill>
                <a:latin typeface="Source Han Sans SC" pitchFamily="34" charset="0"/>
                <a:ea typeface="Source Han Sans SC" pitchFamily="34" charset="-122"/>
                <a:cs typeface="Source Han Sans SC" pitchFamily="34" charset="-120"/>
              </a:rPr>
              <a:t>1/7</a:t>
            </a:r>
            <a:endParaRPr lang="en-US" sz="2600" dirty="0"/>
          </a:p>
        </p:txBody>
      </p:sp>
      <p:sp>
        <p:nvSpPr>
          <p:cNvPr id="12" name="Text 10"/>
          <p:cNvSpPr/>
          <p:nvPr/>
        </p:nvSpPr>
        <p:spPr>
          <a:xfrm>
            <a:off x="1874520" y="2240280"/>
            <a:ext cx="4663440" cy="274320"/>
          </a:xfrm>
          <a:prstGeom prst="rect">
            <a:avLst/>
          </a:prstGeom>
          <a:noFill/>
          <a:ln/>
        </p:spPr>
        <p:txBody>
          <a:bodyPr wrap="square" rtlCol="0" anchor="ctr"/>
          <a:lstStyle/>
          <a:p>
            <a:pPr indent="0" marL="0">
              <a:buNone/>
            </a:pPr>
            <a:r>
              <a:rPr lang="en-US" sz="1100" b="1" dirty="0">
                <a:solidFill>
                  <a:srgbClr val="1E2A38"/>
                </a:solidFill>
                <a:latin typeface="Source Han Sans SC" pitchFamily="34" charset="0"/>
                <a:ea typeface="Source Han Sans SC" pitchFamily="34" charset="-122"/>
                <a:cs typeface="Source Han Sans SC" pitchFamily="34" charset="-120"/>
              </a:rPr>
              <a:t>全球青少年存在心理健康问题</a:t>
            </a:r>
            <a:endParaRPr lang="en-US" sz="1100" dirty="0"/>
          </a:p>
        </p:txBody>
      </p:sp>
      <p:sp>
        <p:nvSpPr>
          <p:cNvPr id="13" name="Text 11"/>
          <p:cNvSpPr/>
          <p:nvPr/>
        </p:nvSpPr>
        <p:spPr>
          <a:xfrm>
            <a:off x="1874520" y="2514600"/>
            <a:ext cx="4663440" cy="228600"/>
          </a:xfrm>
          <a:prstGeom prst="rect">
            <a:avLst/>
          </a:prstGeom>
          <a:noFill/>
          <a:ln/>
        </p:spPr>
        <p:txBody>
          <a:bodyPr wrap="square" rtlCol="0" anchor="ctr"/>
          <a:lstStyle/>
          <a:p>
            <a:pPr indent="0" marL="0">
              <a:buNone/>
            </a:pPr>
            <a:r>
              <a:rPr lang="en-US" sz="800" dirty="0">
                <a:solidFill>
                  <a:srgbClr val="1E2A38"/>
                </a:solidFill>
                <a:latin typeface="Source Han Sans SC" pitchFamily="34" charset="0"/>
                <a:ea typeface="Source Han Sans SC" pitchFamily="34" charset="-122"/>
                <a:cs typeface="Source Han Sans SC" pitchFamily="34" charset="-120"/>
              </a:rPr>
              <a:t>WHO估算10-19岁青少年约1.6亿人受影响</a:t>
            </a:r>
            <a:endParaRPr lang="en-US" sz="800" dirty="0"/>
          </a:p>
        </p:txBody>
      </p:sp>
      <p:sp>
        <p:nvSpPr>
          <p:cNvPr id="14" name="Text 12"/>
          <p:cNvSpPr/>
          <p:nvPr/>
        </p:nvSpPr>
        <p:spPr>
          <a:xfrm>
            <a:off x="1874520" y="2788920"/>
            <a:ext cx="4663440" cy="201168"/>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WHO Adolescent Mental Health Report, 2024</a:t>
            </a:r>
            <a:endParaRPr lang="en-US" sz="650" dirty="0"/>
          </a:p>
        </p:txBody>
      </p:sp>
      <p:sp>
        <p:nvSpPr>
          <p:cNvPr id="15" name="Shape 13"/>
          <p:cNvSpPr/>
          <p:nvPr/>
        </p:nvSpPr>
        <p:spPr>
          <a:xfrm>
            <a:off x="594360" y="3337560"/>
            <a:ext cx="6217920" cy="960120"/>
          </a:xfrm>
          <a:prstGeom prst="roundRect">
            <a:avLst>
              <a:gd name="adj" fmla="val 4762"/>
            </a:avLst>
          </a:prstGeom>
          <a:solidFill>
            <a:srgbClr val="FFFFFF"/>
          </a:solidFill>
          <a:ln w="6350">
            <a:solidFill>
              <a:srgbClr val="E5E9F0"/>
            </a:solidFill>
            <a:prstDash val="solid"/>
          </a:ln>
        </p:spPr>
      </p:sp>
      <p:sp>
        <p:nvSpPr>
          <p:cNvPr id="16" name="Text 14"/>
          <p:cNvSpPr/>
          <p:nvPr/>
        </p:nvSpPr>
        <p:spPr>
          <a:xfrm>
            <a:off x="731520" y="3410712"/>
            <a:ext cx="1097280" cy="502920"/>
          </a:xfrm>
          <a:prstGeom prst="rect">
            <a:avLst/>
          </a:prstGeom>
          <a:noFill/>
          <a:ln/>
        </p:spPr>
        <p:txBody>
          <a:bodyPr wrap="square" rtlCol="0" anchor="ctr"/>
          <a:lstStyle/>
          <a:p>
            <a:pPr algn="ctr" indent="0" marL="0">
              <a:buNone/>
            </a:pPr>
            <a:r>
              <a:rPr lang="en-US" sz="2600" b="1" dirty="0">
                <a:solidFill>
                  <a:srgbClr val="3A6EA5"/>
                </a:solidFill>
                <a:latin typeface="Source Han Sans SC" pitchFamily="34" charset="0"/>
                <a:ea typeface="Source Han Sans SC" pitchFamily="34" charset="-122"/>
                <a:cs typeface="Source Han Sans SC" pitchFamily="34" charset="-120"/>
              </a:rPr>
              <a:t>6.5h</a:t>
            </a:r>
            <a:endParaRPr lang="en-US" sz="2600" dirty="0"/>
          </a:p>
        </p:txBody>
      </p:sp>
      <p:sp>
        <p:nvSpPr>
          <p:cNvPr id="17" name="Text 15"/>
          <p:cNvSpPr/>
          <p:nvPr/>
        </p:nvSpPr>
        <p:spPr>
          <a:xfrm>
            <a:off x="1874520" y="3383280"/>
            <a:ext cx="4663440" cy="274320"/>
          </a:xfrm>
          <a:prstGeom prst="rect">
            <a:avLst/>
          </a:prstGeom>
          <a:noFill/>
          <a:ln/>
        </p:spPr>
        <p:txBody>
          <a:bodyPr wrap="square" rtlCol="0" anchor="ctr"/>
          <a:lstStyle/>
          <a:p>
            <a:pPr indent="0" marL="0">
              <a:buNone/>
            </a:pPr>
            <a:r>
              <a:rPr lang="en-US" sz="1100" b="1" dirty="0">
                <a:solidFill>
                  <a:srgbClr val="1E2A38"/>
                </a:solidFill>
                <a:latin typeface="Source Han Sans SC" pitchFamily="34" charset="0"/>
                <a:ea typeface="Source Han Sans SC" pitchFamily="34" charset="-122"/>
                <a:cs typeface="Source Han Sans SC" pitchFamily="34" charset="-120"/>
              </a:rPr>
              <a:t>高中生平均睡眠时长</a:t>
            </a:r>
            <a:endParaRPr lang="en-US" sz="1100" dirty="0"/>
          </a:p>
        </p:txBody>
      </p:sp>
      <p:sp>
        <p:nvSpPr>
          <p:cNvPr id="18" name="Text 16"/>
          <p:cNvSpPr/>
          <p:nvPr/>
        </p:nvSpPr>
        <p:spPr>
          <a:xfrm>
            <a:off x="1874520" y="3657600"/>
            <a:ext cx="4663440" cy="228600"/>
          </a:xfrm>
          <a:prstGeom prst="rect">
            <a:avLst/>
          </a:prstGeom>
          <a:noFill/>
          <a:ln/>
        </p:spPr>
        <p:txBody>
          <a:bodyPr wrap="square" rtlCol="0" anchor="ctr"/>
          <a:lstStyle/>
          <a:p>
            <a:pPr indent="0" marL="0">
              <a:buNone/>
            </a:pPr>
            <a:r>
              <a:rPr lang="en-US" sz="800" dirty="0">
                <a:solidFill>
                  <a:srgbClr val="1E2A38"/>
                </a:solidFill>
                <a:latin typeface="Source Han Sans SC" pitchFamily="34" charset="0"/>
                <a:ea typeface="Source Han Sans SC" pitchFamily="34" charset="-122"/>
                <a:cs typeface="Source Han Sans SC" pitchFamily="34" charset="-120"/>
              </a:rPr>
              <a:t>仅6.7%达到8小时推荐标准</a:t>
            </a:r>
            <a:endParaRPr lang="en-US" sz="800" dirty="0"/>
          </a:p>
        </p:txBody>
      </p:sp>
      <p:sp>
        <p:nvSpPr>
          <p:cNvPr id="19" name="Text 17"/>
          <p:cNvSpPr/>
          <p:nvPr/>
        </p:nvSpPr>
        <p:spPr>
          <a:xfrm>
            <a:off x="1874520" y="3931920"/>
            <a:ext cx="4663440" cy="201168"/>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中国睡眠研究会《2025中国青少年睡眠健康调查报告》</a:t>
            </a:r>
            <a:endParaRPr lang="en-US" sz="650" dirty="0"/>
          </a:p>
        </p:txBody>
      </p:sp>
      <p:sp>
        <p:nvSpPr>
          <p:cNvPr id="20" name="Shape 18"/>
          <p:cNvSpPr/>
          <p:nvPr/>
        </p:nvSpPr>
        <p:spPr>
          <a:xfrm>
            <a:off x="594360" y="4480560"/>
            <a:ext cx="6217920" cy="960120"/>
          </a:xfrm>
          <a:prstGeom prst="roundRect">
            <a:avLst>
              <a:gd name="adj" fmla="val 4762"/>
            </a:avLst>
          </a:prstGeom>
          <a:solidFill>
            <a:srgbClr val="FFFFFF"/>
          </a:solidFill>
          <a:ln w="6350">
            <a:solidFill>
              <a:srgbClr val="E5E9F0"/>
            </a:solidFill>
            <a:prstDash val="solid"/>
          </a:ln>
        </p:spPr>
      </p:sp>
      <p:sp>
        <p:nvSpPr>
          <p:cNvPr id="21" name="Text 19"/>
          <p:cNvSpPr/>
          <p:nvPr/>
        </p:nvSpPr>
        <p:spPr>
          <a:xfrm>
            <a:off x="731520" y="4553712"/>
            <a:ext cx="1097280" cy="502920"/>
          </a:xfrm>
          <a:prstGeom prst="rect">
            <a:avLst/>
          </a:prstGeom>
          <a:noFill/>
          <a:ln/>
        </p:spPr>
        <p:txBody>
          <a:bodyPr wrap="square" rtlCol="0" anchor="ctr"/>
          <a:lstStyle/>
          <a:p>
            <a:pPr algn="ctr" indent="0" marL="0">
              <a:buNone/>
            </a:pPr>
            <a:r>
              <a:rPr lang="en-US" sz="2600" b="1" dirty="0">
                <a:solidFill>
                  <a:srgbClr val="3A6EA5"/>
                </a:solidFill>
                <a:latin typeface="Source Han Sans SC" pitchFamily="34" charset="0"/>
                <a:ea typeface="Source Han Sans SC" pitchFamily="34" charset="-122"/>
                <a:cs typeface="Source Han Sans SC" pitchFamily="34" charset="-120"/>
              </a:rPr>
              <a:t>32.5%</a:t>
            </a:r>
            <a:endParaRPr lang="en-US" sz="2600" dirty="0"/>
          </a:p>
        </p:txBody>
      </p:sp>
      <p:sp>
        <p:nvSpPr>
          <p:cNvPr id="22" name="Text 20"/>
          <p:cNvSpPr/>
          <p:nvPr/>
        </p:nvSpPr>
        <p:spPr>
          <a:xfrm>
            <a:off x="1874520" y="4526280"/>
            <a:ext cx="4663440" cy="274320"/>
          </a:xfrm>
          <a:prstGeom prst="rect">
            <a:avLst/>
          </a:prstGeom>
          <a:noFill/>
          <a:ln/>
        </p:spPr>
        <p:txBody>
          <a:bodyPr wrap="square" rtlCol="0" anchor="ctr"/>
          <a:lstStyle/>
          <a:p>
            <a:pPr indent="0" marL="0">
              <a:buNone/>
            </a:pPr>
            <a:r>
              <a:rPr lang="en-US" sz="1100" b="1" dirty="0">
                <a:solidFill>
                  <a:srgbClr val="1E2A38"/>
                </a:solidFill>
                <a:latin typeface="Source Han Sans SC" pitchFamily="34" charset="0"/>
                <a:ea typeface="Source Han Sans SC" pitchFamily="34" charset="-122"/>
                <a:cs typeface="Source Han Sans SC" pitchFamily="34" charset="-120"/>
              </a:rPr>
              <a:t>高中生焦虑症状检出率</a:t>
            </a:r>
            <a:endParaRPr lang="en-US" sz="1100" dirty="0"/>
          </a:p>
        </p:txBody>
      </p:sp>
      <p:sp>
        <p:nvSpPr>
          <p:cNvPr id="23" name="Text 21"/>
          <p:cNvSpPr/>
          <p:nvPr/>
        </p:nvSpPr>
        <p:spPr>
          <a:xfrm>
            <a:off x="1874520" y="4800600"/>
            <a:ext cx="4663440" cy="228600"/>
          </a:xfrm>
          <a:prstGeom prst="rect">
            <a:avLst/>
          </a:prstGeom>
          <a:noFill/>
          <a:ln/>
        </p:spPr>
        <p:txBody>
          <a:bodyPr wrap="square" rtlCol="0" anchor="ctr"/>
          <a:lstStyle/>
          <a:p>
            <a:pPr indent="0" marL="0">
              <a:buNone/>
            </a:pPr>
            <a:r>
              <a:rPr lang="en-US" sz="800" dirty="0">
                <a:solidFill>
                  <a:srgbClr val="1E2A38"/>
                </a:solidFill>
                <a:latin typeface="Source Han Sans SC" pitchFamily="34" charset="0"/>
                <a:ea typeface="Source Han Sans SC" pitchFamily="34" charset="-122"/>
                <a:cs typeface="Source Han Sans SC" pitchFamily="34" charset="-120"/>
              </a:rPr>
              <a:t>其中中度及以上占11.2%</a:t>
            </a:r>
            <a:endParaRPr lang="en-US" sz="800" dirty="0"/>
          </a:p>
        </p:txBody>
      </p:sp>
      <p:sp>
        <p:nvSpPr>
          <p:cNvPr id="24" name="Text 22"/>
          <p:cNvSpPr/>
          <p:nvPr/>
        </p:nvSpPr>
        <p:spPr>
          <a:xfrm>
            <a:off x="1874520" y="5074920"/>
            <a:ext cx="4663440" cy="201168"/>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中华医学会精神医学分会《2024中国青少年焦虑障碍调查》N=12,843</a:t>
            </a:r>
            <a:endParaRPr lang="en-US" sz="650" dirty="0"/>
          </a:p>
        </p:txBody>
      </p:sp>
      <p:sp>
        <p:nvSpPr>
          <p:cNvPr id="25" name="Shape 23"/>
          <p:cNvSpPr/>
          <p:nvPr/>
        </p:nvSpPr>
        <p:spPr>
          <a:xfrm>
            <a:off x="7040880" y="1051560"/>
            <a:ext cx="4572000" cy="4572000"/>
          </a:xfrm>
          <a:prstGeom prst="roundRect">
            <a:avLst>
              <a:gd name="adj" fmla="val 1000"/>
            </a:avLst>
          </a:prstGeom>
          <a:solidFill>
            <a:srgbClr val="FFFFFF"/>
          </a:solidFill>
          <a:ln w="6350">
            <a:solidFill>
              <a:srgbClr val="E5E9F0"/>
            </a:solidFill>
            <a:prstDash val="solid"/>
          </a:ln>
        </p:spPr>
      </p:sp>
      <p:sp>
        <p:nvSpPr>
          <p:cNvPr id="26" name="Text 24"/>
          <p:cNvSpPr/>
          <p:nvPr/>
        </p:nvSpPr>
        <p:spPr>
          <a:xfrm>
            <a:off x="7178040" y="1143000"/>
            <a:ext cx="4297680" cy="274320"/>
          </a:xfrm>
          <a:prstGeom prst="rect">
            <a:avLst/>
          </a:prstGeom>
          <a:noFill/>
          <a:ln/>
        </p:spPr>
        <p:txBody>
          <a:bodyPr wrap="square" rtlCol="0" anchor="ctr"/>
          <a:lstStyle/>
          <a:p>
            <a:pPr indent="0" marL="0">
              <a:buNone/>
            </a:pPr>
            <a:r>
              <a:rPr lang="en-US" sz="1100" b="1" dirty="0">
                <a:solidFill>
                  <a:srgbClr val="1E2A38"/>
                </a:solidFill>
                <a:latin typeface="Source Han Sans SC" pitchFamily="34" charset="0"/>
                <a:ea typeface="Source Han Sans SC" pitchFamily="34" charset="-122"/>
                <a:cs typeface="Source Han Sans SC" pitchFamily="34" charset="-120"/>
              </a:rPr>
              <a:t>政策关注度演变</a:t>
            </a:r>
            <a:endParaRPr lang="en-US" sz="1100" dirty="0"/>
          </a:p>
        </p:txBody>
      </p:sp>
      <p:sp>
        <p:nvSpPr>
          <p:cNvPr id="27" name="Shape 25"/>
          <p:cNvSpPr/>
          <p:nvPr/>
        </p:nvSpPr>
        <p:spPr>
          <a:xfrm>
            <a:off x="7269480" y="1627632"/>
            <a:ext cx="109728" cy="109728"/>
          </a:xfrm>
          <a:prstGeom prst="ellipse">
            <a:avLst/>
          </a:prstGeom>
          <a:solidFill>
            <a:srgbClr val="3A6EA5"/>
          </a:solidFill>
          <a:ln/>
        </p:spPr>
      </p:sp>
      <p:sp>
        <p:nvSpPr>
          <p:cNvPr id="28" name="Shape 26"/>
          <p:cNvSpPr/>
          <p:nvPr/>
        </p:nvSpPr>
        <p:spPr>
          <a:xfrm>
            <a:off x="7324344" y="1737360"/>
            <a:ext cx="9144" cy="548640"/>
          </a:xfrm>
          <a:prstGeom prst="rect">
            <a:avLst/>
          </a:prstGeom>
          <a:solidFill>
            <a:srgbClr val="E5E9F0"/>
          </a:solidFill>
          <a:ln/>
        </p:spPr>
      </p:sp>
      <p:sp>
        <p:nvSpPr>
          <p:cNvPr id="29" name="Text 27"/>
          <p:cNvSpPr/>
          <p:nvPr/>
        </p:nvSpPr>
        <p:spPr>
          <a:xfrm>
            <a:off x="7498080" y="1536192"/>
            <a:ext cx="502920" cy="256032"/>
          </a:xfrm>
          <a:prstGeom prst="rect">
            <a:avLst/>
          </a:prstGeom>
          <a:noFill/>
          <a:ln/>
        </p:spPr>
        <p:txBody>
          <a:bodyPr wrap="square" rtlCol="0" anchor="ctr"/>
          <a:lstStyle/>
          <a:p>
            <a:pPr indent="0" marL="0">
              <a:buNone/>
            </a:pPr>
            <a:r>
              <a:rPr lang="en-US" sz="800" b="1" dirty="0">
                <a:solidFill>
                  <a:srgbClr val="3A6EA5"/>
                </a:solidFill>
                <a:latin typeface="Source Han Sans SC" pitchFamily="34" charset="0"/>
                <a:ea typeface="Source Han Sans SC" pitchFamily="34" charset="-122"/>
                <a:cs typeface="Source Han Sans SC" pitchFamily="34" charset="-120"/>
              </a:rPr>
              <a:t>2019</a:t>
            </a:r>
            <a:endParaRPr lang="en-US" sz="800" dirty="0"/>
          </a:p>
        </p:txBody>
      </p:sp>
      <p:sp>
        <p:nvSpPr>
          <p:cNvPr id="30" name="Text 28"/>
          <p:cNvSpPr/>
          <p:nvPr/>
        </p:nvSpPr>
        <p:spPr>
          <a:xfrm>
            <a:off x="7498080" y="1783080"/>
            <a:ext cx="3840480" cy="411480"/>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健康中国行动(2019-2030)将心理健康列为专项行动</a:t>
            </a:r>
            <a:endParaRPr lang="en-US" sz="750" dirty="0"/>
          </a:p>
        </p:txBody>
      </p:sp>
      <p:sp>
        <p:nvSpPr>
          <p:cNvPr id="31" name="Shape 29"/>
          <p:cNvSpPr/>
          <p:nvPr/>
        </p:nvSpPr>
        <p:spPr>
          <a:xfrm>
            <a:off x="7269480" y="2404872"/>
            <a:ext cx="109728" cy="109728"/>
          </a:xfrm>
          <a:prstGeom prst="ellipse">
            <a:avLst/>
          </a:prstGeom>
          <a:solidFill>
            <a:srgbClr val="3A6EA5"/>
          </a:solidFill>
          <a:ln/>
        </p:spPr>
      </p:sp>
      <p:sp>
        <p:nvSpPr>
          <p:cNvPr id="32" name="Shape 30"/>
          <p:cNvSpPr/>
          <p:nvPr/>
        </p:nvSpPr>
        <p:spPr>
          <a:xfrm>
            <a:off x="7324344" y="2514600"/>
            <a:ext cx="9144" cy="548640"/>
          </a:xfrm>
          <a:prstGeom prst="rect">
            <a:avLst/>
          </a:prstGeom>
          <a:solidFill>
            <a:srgbClr val="E5E9F0"/>
          </a:solidFill>
          <a:ln/>
        </p:spPr>
      </p:sp>
      <p:sp>
        <p:nvSpPr>
          <p:cNvPr id="33" name="Text 31"/>
          <p:cNvSpPr/>
          <p:nvPr/>
        </p:nvSpPr>
        <p:spPr>
          <a:xfrm>
            <a:off x="7498080" y="2313432"/>
            <a:ext cx="502920" cy="256032"/>
          </a:xfrm>
          <a:prstGeom prst="rect">
            <a:avLst/>
          </a:prstGeom>
          <a:noFill/>
          <a:ln/>
        </p:spPr>
        <p:txBody>
          <a:bodyPr wrap="square" rtlCol="0" anchor="ctr"/>
          <a:lstStyle/>
          <a:p>
            <a:pPr indent="0" marL="0">
              <a:buNone/>
            </a:pPr>
            <a:r>
              <a:rPr lang="en-US" sz="800" b="1" dirty="0">
                <a:solidFill>
                  <a:srgbClr val="3A6EA5"/>
                </a:solidFill>
                <a:latin typeface="Source Han Sans SC" pitchFamily="34" charset="0"/>
                <a:ea typeface="Source Han Sans SC" pitchFamily="34" charset="-122"/>
                <a:cs typeface="Source Han Sans SC" pitchFamily="34" charset="-120"/>
              </a:rPr>
              <a:t>2021</a:t>
            </a:r>
            <a:endParaRPr lang="en-US" sz="800" dirty="0"/>
          </a:p>
        </p:txBody>
      </p:sp>
      <p:sp>
        <p:nvSpPr>
          <p:cNvPr id="34" name="Text 32"/>
          <p:cNvSpPr/>
          <p:nvPr/>
        </p:nvSpPr>
        <p:spPr>
          <a:xfrm>
            <a:off x="7498080" y="2560320"/>
            <a:ext cx="3840480" cy="411480"/>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教育部印发《加强学生心理健康管理工作的通知》</a:t>
            </a:r>
            <a:endParaRPr lang="en-US" sz="750" dirty="0"/>
          </a:p>
        </p:txBody>
      </p:sp>
      <p:sp>
        <p:nvSpPr>
          <p:cNvPr id="35" name="Shape 33"/>
          <p:cNvSpPr/>
          <p:nvPr/>
        </p:nvSpPr>
        <p:spPr>
          <a:xfrm>
            <a:off x="7269480" y="3182112"/>
            <a:ext cx="109728" cy="109728"/>
          </a:xfrm>
          <a:prstGeom prst="ellipse">
            <a:avLst/>
          </a:prstGeom>
          <a:solidFill>
            <a:srgbClr val="3A6EA5"/>
          </a:solidFill>
          <a:ln/>
        </p:spPr>
      </p:sp>
      <p:sp>
        <p:nvSpPr>
          <p:cNvPr id="36" name="Shape 34"/>
          <p:cNvSpPr/>
          <p:nvPr/>
        </p:nvSpPr>
        <p:spPr>
          <a:xfrm>
            <a:off x="7324344" y="3291840"/>
            <a:ext cx="9144" cy="548640"/>
          </a:xfrm>
          <a:prstGeom prst="rect">
            <a:avLst/>
          </a:prstGeom>
          <a:solidFill>
            <a:srgbClr val="E5E9F0"/>
          </a:solidFill>
          <a:ln/>
        </p:spPr>
      </p:sp>
      <p:sp>
        <p:nvSpPr>
          <p:cNvPr id="37" name="Text 35"/>
          <p:cNvSpPr/>
          <p:nvPr/>
        </p:nvSpPr>
        <p:spPr>
          <a:xfrm>
            <a:off x="7498080" y="3090672"/>
            <a:ext cx="502920" cy="256032"/>
          </a:xfrm>
          <a:prstGeom prst="rect">
            <a:avLst/>
          </a:prstGeom>
          <a:noFill/>
          <a:ln/>
        </p:spPr>
        <p:txBody>
          <a:bodyPr wrap="square" rtlCol="0" anchor="ctr"/>
          <a:lstStyle/>
          <a:p>
            <a:pPr indent="0" marL="0">
              <a:buNone/>
            </a:pPr>
            <a:r>
              <a:rPr lang="en-US" sz="800" b="1" dirty="0">
                <a:solidFill>
                  <a:srgbClr val="3A6EA5"/>
                </a:solidFill>
                <a:latin typeface="Source Han Sans SC" pitchFamily="34" charset="0"/>
                <a:ea typeface="Source Han Sans SC" pitchFamily="34" charset="-122"/>
                <a:cs typeface="Source Han Sans SC" pitchFamily="34" charset="-120"/>
              </a:rPr>
              <a:t>2023</a:t>
            </a:r>
            <a:endParaRPr lang="en-US" sz="800" dirty="0"/>
          </a:p>
        </p:txBody>
      </p:sp>
      <p:sp>
        <p:nvSpPr>
          <p:cNvPr id="38" name="Text 36"/>
          <p:cNvSpPr/>
          <p:nvPr/>
        </p:nvSpPr>
        <p:spPr>
          <a:xfrm>
            <a:off x="7498080" y="3337560"/>
            <a:ext cx="3840480" cy="411480"/>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教育部等17部门联合出台专项行动计划，力度达历史峰值</a:t>
            </a:r>
            <a:endParaRPr lang="en-US" sz="750" dirty="0"/>
          </a:p>
        </p:txBody>
      </p:sp>
      <p:sp>
        <p:nvSpPr>
          <p:cNvPr id="39" name="Shape 37"/>
          <p:cNvSpPr/>
          <p:nvPr/>
        </p:nvSpPr>
        <p:spPr>
          <a:xfrm>
            <a:off x="7269480" y="3959352"/>
            <a:ext cx="109728" cy="109728"/>
          </a:xfrm>
          <a:prstGeom prst="ellipse">
            <a:avLst/>
          </a:prstGeom>
          <a:solidFill>
            <a:srgbClr val="3A6EA5"/>
          </a:solidFill>
          <a:ln/>
        </p:spPr>
      </p:sp>
      <p:sp>
        <p:nvSpPr>
          <p:cNvPr id="40" name="Shape 38"/>
          <p:cNvSpPr/>
          <p:nvPr/>
        </p:nvSpPr>
        <p:spPr>
          <a:xfrm>
            <a:off x="7324344" y="4069080"/>
            <a:ext cx="9144" cy="548640"/>
          </a:xfrm>
          <a:prstGeom prst="rect">
            <a:avLst/>
          </a:prstGeom>
          <a:solidFill>
            <a:srgbClr val="E5E9F0"/>
          </a:solidFill>
          <a:ln/>
        </p:spPr>
      </p:sp>
      <p:sp>
        <p:nvSpPr>
          <p:cNvPr id="41" name="Text 39"/>
          <p:cNvSpPr/>
          <p:nvPr/>
        </p:nvSpPr>
        <p:spPr>
          <a:xfrm>
            <a:off x="7498080" y="3867912"/>
            <a:ext cx="502920" cy="256032"/>
          </a:xfrm>
          <a:prstGeom prst="rect">
            <a:avLst/>
          </a:prstGeom>
          <a:noFill/>
          <a:ln/>
        </p:spPr>
        <p:txBody>
          <a:bodyPr wrap="square" rtlCol="0" anchor="ctr"/>
          <a:lstStyle/>
          <a:p>
            <a:pPr indent="0" marL="0">
              <a:buNone/>
            </a:pPr>
            <a:r>
              <a:rPr lang="en-US" sz="800" b="1" dirty="0">
                <a:solidFill>
                  <a:srgbClr val="3A6EA5"/>
                </a:solidFill>
                <a:latin typeface="Source Han Sans SC" pitchFamily="34" charset="0"/>
                <a:ea typeface="Source Han Sans SC" pitchFamily="34" charset="-122"/>
                <a:cs typeface="Source Han Sans SC" pitchFamily="34" charset="-120"/>
              </a:rPr>
              <a:t>2025</a:t>
            </a:r>
            <a:endParaRPr lang="en-US" sz="800" dirty="0"/>
          </a:p>
        </p:txBody>
      </p:sp>
      <p:sp>
        <p:nvSpPr>
          <p:cNvPr id="42" name="Text 40"/>
          <p:cNvSpPr/>
          <p:nvPr/>
        </p:nvSpPr>
        <p:spPr>
          <a:xfrm>
            <a:off x="7498080" y="4114800"/>
            <a:ext cx="3840480" cy="411480"/>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两会相关提案同比增长62%，覆盖师资、课程、筛查等</a:t>
            </a:r>
            <a:endParaRPr lang="en-US" sz="750" dirty="0"/>
          </a:p>
        </p:txBody>
      </p:sp>
      <p:sp>
        <p:nvSpPr>
          <p:cNvPr id="43" name="Shape 41"/>
          <p:cNvSpPr/>
          <p:nvPr/>
        </p:nvSpPr>
        <p:spPr>
          <a:xfrm>
            <a:off x="7269480" y="4736592"/>
            <a:ext cx="109728" cy="109728"/>
          </a:xfrm>
          <a:prstGeom prst="ellipse">
            <a:avLst/>
          </a:prstGeom>
          <a:solidFill>
            <a:srgbClr val="3A6EA5"/>
          </a:solidFill>
          <a:ln/>
        </p:spPr>
      </p:sp>
      <p:sp>
        <p:nvSpPr>
          <p:cNvPr id="44" name="Text 42"/>
          <p:cNvSpPr/>
          <p:nvPr/>
        </p:nvSpPr>
        <p:spPr>
          <a:xfrm>
            <a:off x="7498080" y="4645152"/>
            <a:ext cx="502920" cy="256032"/>
          </a:xfrm>
          <a:prstGeom prst="rect">
            <a:avLst/>
          </a:prstGeom>
          <a:noFill/>
          <a:ln/>
        </p:spPr>
        <p:txBody>
          <a:bodyPr wrap="square" rtlCol="0" anchor="ctr"/>
          <a:lstStyle/>
          <a:p>
            <a:pPr indent="0" marL="0">
              <a:buNone/>
            </a:pPr>
            <a:r>
              <a:rPr lang="en-US" sz="800" b="1" dirty="0">
                <a:solidFill>
                  <a:srgbClr val="3A6EA5"/>
                </a:solidFill>
                <a:latin typeface="Source Han Sans SC" pitchFamily="34" charset="0"/>
                <a:ea typeface="Source Han Sans SC" pitchFamily="34" charset="-122"/>
                <a:cs typeface="Source Han Sans SC" pitchFamily="34" charset="-120"/>
              </a:rPr>
              <a:t>2026</a:t>
            </a:r>
            <a:endParaRPr lang="en-US" sz="800" dirty="0"/>
          </a:p>
        </p:txBody>
      </p:sp>
      <p:sp>
        <p:nvSpPr>
          <p:cNvPr id="45" name="Text 43"/>
          <p:cNvSpPr/>
          <p:nvPr/>
        </p:nvSpPr>
        <p:spPr>
          <a:xfrm>
            <a:off x="7498080" y="4892040"/>
            <a:ext cx="3840480" cy="411480"/>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明确列为年度重点民生议题，纳入督查督办范围</a:t>
            </a:r>
            <a:endParaRPr lang="en-US" sz="750" dirty="0"/>
          </a:p>
        </p:txBody>
      </p:sp>
      <p:sp>
        <p:nvSpPr>
          <p:cNvPr id="46" name="Text 44"/>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3/23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调研过程与方法论</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Research Methodology &amp; Limitations</a:t>
            </a:r>
            <a:endParaRPr lang="en-US" sz="1000" dirty="0"/>
          </a:p>
        </p:txBody>
      </p:sp>
      <p:sp>
        <p:nvSpPr>
          <p:cNvPr id="5" name="Shape 3"/>
          <p:cNvSpPr/>
          <p:nvPr/>
        </p:nvSpPr>
        <p:spPr>
          <a:xfrm>
            <a:off x="1143000" y="1051560"/>
            <a:ext cx="777240" cy="777240"/>
          </a:xfrm>
          <a:prstGeom prst="ellipse">
            <a:avLst/>
          </a:prstGeom>
          <a:solidFill>
            <a:srgbClr val="3A6EA5"/>
          </a:solidFill>
          <a:ln/>
        </p:spPr>
      </p:sp>
      <p:sp>
        <p:nvSpPr>
          <p:cNvPr id="6" name="Text 4"/>
          <p:cNvSpPr/>
          <p:nvPr/>
        </p:nvSpPr>
        <p:spPr>
          <a:xfrm>
            <a:off x="1143000" y="1097280"/>
            <a:ext cx="777240" cy="685800"/>
          </a:xfrm>
          <a:prstGeom prst="rect">
            <a:avLst/>
          </a:prstGeom>
          <a:noFill/>
          <a:ln/>
        </p:spPr>
        <p:txBody>
          <a:bodyPr wrap="square" rtlCol="0" anchor="ctr"/>
          <a:lstStyle/>
          <a:p>
            <a:pPr algn="ctr" indent="0" marL="0">
              <a:buNone/>
            </a:pPr>
            <a:r>
              <a:rPr lang="en-US" sz="1800" b="1" dirty="0">
                <a:solidFill>
                  <a:srgbClr val="FFFFFF"/>
                </a:solidFill>
                <a:latin typeface="Source Han Sans SC" pitchFamily="34" charset="0"/>
                <a:ea typeface="Source Han Sans SC" pitchFamily="34" charset="-122"/>
                <a:cs typeface="Source Han Sans SC" pitchFamily="34" charset="-120"/>
              </a:rPr>
              <a:t>1</a:t>
            </a:r>
            <a:endParaRPr lang="en-US" sz="1800" dirty="0"/>
          </a:p>
        </p:txBody>
      </p:sp>
      <p:sp>
        <p:nvSpPr>
          <p:cNvPr id="7" name="Text 5"/>
          <p:cNvSpPr/>
          <p:nvPr/>
        </p:nvSpPr>
        <p:spPr>
          <a:xfrm>
            <a:off x="1920240" y="1234440"/>
            <a:ext cx="365760" cy="411480"/>
          </a:xfrm>
          <a:prstGeom prst="rect">
            <a:avLst/>
          </a:prstGeom>
          <a:noFill/>
          <a:ln/>
        </p:spPr>
        <p:txBody>
          <a:bodyPr wrap="square" rtlCol="0" anchor="ctr"/>
          <a:lstStyle/>
          <a:p>
            <a:pPr algn="ctr" indent="0" marL="0">
              <a:buNone/>
            </a:pPr>
            <a:r>
              <a:rPr lang="en-US" sz="1300" dirty="0">
                <a:solidFill>
                  <a:srgbClr val="B0B8C4"/>
                </a:solidFill>
              </a:rPr>
              <a:t>→</a:t>
            </a:r>
            <a:endParaRPr lang="en-US" sz="1300" dirty="0"/>
          </a:p>
        </p:txBody>
      </p:sp>
      <p:sp>
        <p:nvSpPr>
          <p:cNvPr id="8" name="Text 6"/>
          <p:cNvSpPr/>
          <p:nvPr/>
        </p:nvSpPr>
        <p:spPr>
          <a:xfrm>
            <a:off x="594360" y="1920240"/>
            <a:ext cx="1828800" cy="228600"/>
          </a:xfrm>
          <a:prstGeom prst="rect">
            <a:avLst/>
          </a:prstGeom>
          <a:noFill/>
          <a:ln/>
        </p:spPr>
        <p:txBody>
          <a:bodyPr wrap="square" rtlCol="0" anchor="ctr"/>
          <a:lstStyle/>
          <a:p>
            <a:pPr algn="ctr" indent="0" marL="0">
              <a:buNone/>
            </a:pPr>
            <a:r>
              <a:rPr lang="en-US" sz="1000" b="1" dirty="0">
                <a:solidFill>
                  <a:srgbClr val="1E2A38"/>
                </a:solidFill>
                <a:latin typeface="Source Han Sans SC" pitchFamily="34" charset="0"/>
                <a:ea typeface="Source Han Sans SC" pitchFamily="34" charset="-122"/>
                <a:cs typeface="Source Han Sans SC" pitchFamily="34" charset="-120"/>
              </a:rPr>
              <a:t>文献研究</a:t>
            </a:r>
            <a:endParaRPr lang="en-US" sz="1000" dirty="0"/>
          </a:p>
        </p:txBody>
      </p:sp>
      <p:sp>
        <p:nvSpPr>
          <p:cNvPr id="9" name="Text 7"/>
          <p:cNvSpPr/>
          <p:nvPr/>
        </p:nvSpPr>
        <p:spPr>
          <a:xfrm>
            <a:off x="594360" y="2148840"/>
            <a:ext cx="1828800" cy="182880"/>
          </a:xfrm>
          <a:prstGeom prst="rect">
            <a:avLst/>
          </a:prstGeom>
          <a:noFill/>
          <a:ln/>
        </p:spPr>
        <p:txBody>
          <a:bodyPr wrap="square" rtlCol="0" anchor="ctr"/>
          <a:lstStyle/>
          <a:p>
            <a:pPr algn="ctr" indent="0" marL="0">
              <a:buNone/>
            </a:pPr>
            <a:r>
              <a:rPr lang="en-US" sz="750" dirty="0">
                <a:solidFill>
                  <a:srgbClr val="8899AA"/>
                </a:solidFill>
                <a:latin typeface="Source Han Sans SC" pitchFamily="34" charset="0"/>
                <a:ea typeface="Source Han Sans SC" pitchFamily="34" charset="-122"/>
                <a:cs typeface="Source Han Sans SC" pitchFamily="34" charset="-120"/>
              </a:rPr>
              <a:t>第1-3天</a:t>
            </a:r>
            <a:endParaRPr lang="en-US" sz="750" dirty="0"/>
          </a:p>
        </p:txBody>
      </p:sp>
      <p:sp>
        <p:nvSpPr>
          <p:cNvPr id="10" name="Text 8"/>
          <p:cNvSpPr/>
          <p:nvPr/>
        </p:nvSpPr>
        <p:spPr>
          <a:xfrm>
            <a:off x="685800" y="2331720"/>
            <a:ext cx="1645920" cy="365760"/>
          </a:xfrm>
          <a:prstGeom prst="rect">
            <a:avLst/>
          </a:prstGeom>
          <a:noFill/>
          <a:ln/>
        </p:spPr>
        <p:txBody>
          <a:bodyPr wrap="square" rtlCol="0" anchor="ctr"/>
          <a:lstStyle/>
          <a:p>
            <a:pPr algn="ct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政策文件、学术论文、研究报告</a:t>
            </a:r>
            <a:endParaRPr lang="en-US" sz="750" dirty="0"/>
          </a:p>
        </p:txBody>
      </p:sp>
      <p:sp>
        <p:nvSpPr>
          <p:cNvPr id="11" name="Shape 9"/>
          <p:cNvSpPr/>
          <p:nvPr/>
        </p:nvSpPr>
        <p:spPr>
          <a:xfrm>
            <a:off x="3337560" y="1051560"/>
            <a:ext cx="777240" cy="777240"/>
          </a:xfrm>
          <a:prstGeom prst="ellipse">
            <a:avLst/>
          </a:prstGeom>
          <a:solidFill>
            <a:srgbClr val="5C9BD4"/>
          </a:solidFill>
          <a:ln/>
        </p:spPr>
      </p:sp>
      <p:sp>
        <p:nvSpPr>
          <p:cNvPr id="12" name="Text 10"/>
          <p:cNvSpPr/>
          <p:nvPr/>
        </p:nvSpPr>
        <p:spPr>
          <a:xfrm>
            <a:off x="3337560" y="1097280"/>
            <a:ext cx="777240" cy="685800"/>
          </a:xfrm>
          <a:prstGeom prst="rect">
            <a:avLst/>
          </a:prstGeom>
          <a:noFill/>
          <a:ln/>
        </p:spPr>
        <p:txBody>
          <a:bodyPr wrap="square" rtlCol="0" anchor="ctr"/>
          <a:lstStyle/>
          <a:p>
            <a:pPr algn="ctr" indent="0" marL="0">
              <a:buNone/>
            </a:pPr>
            <a:r>
              <a:rPr lang="en-US" sz="1800" b="1" dirty="0">
                <a:solidFill>
                  <a:srgbClr val="FFFFFF"/>
                </a:solidFill>
                <a:latin typeface="Source Han Sans SC" pitchFamily="34" charset="0"/>
                <a:ea typeface="Source Han Sans SC" pitchFamily="34" charset="-122"/>
                <a:cs typeface="Source Han Sans SC" pitchFamily="34" charset="-120"/>
              </a:rPr>
              <a:t>2</a:t>
            </a:r>
            <a:endParaRPr lang="en-US" sz="1800" dirty="0"/>
          </a:p>
        </p:txBody>
      </p:sp>
      <p:sp>
        <p:nvSpPr>
          <p:cNvPr id="13" name="Text 11"/>
          <p:cNvSpPr/>
          <p:nvPr/>
        </p:nvSpPr>
        <p:spPr>
          <a:xfrm>
            <a:off x="4114800" y="1234440"/>
            <a:ext cx="365760" cy="411480"/>
          </a:xfrm>
          <a:prstGeom prst="rect">
            <a:avLst/>
          </a:prstGeom>
          <a:noFill/>
          <a:ln/>
        </p:spPr>
        <p:txBody>
          <a:bodyPr wrap="square" rtlCol="0" anchor="ctr"/>
          <a:lstStyle/>
          <a:p>
            <a:pPr algn="ctr" indent="0" marL="0">
              <a:buNone/>
            </a:pPr>
            <a:r>
              <a:rPr lang="en-US" sz="1300" dirty="0">
                <a:solidFill>
                  <a:srgbClr val="B0B8C4"/>
                </a:solidFill>
              </a:rPr>
              <a:t>→</a:t>
            </a:r>
            <a:endParaRPr lang="en-US" sz="1300" dirty="0"/>
          </a:p>
        </p:txBody>
      </p:sp>
      <p:sp>
        <p:nvSpPr>
          <p:cNvPr id="14" name="Text 12"/>
          <p:cNvSpPr/>
          <p:nvPr/>
        </p:nvSpPr>
        <p:spPr>
          <a:xfrm>
            <a:off x="2788920" y="1920240"/>
            <a:ext cx="1828800" cy="228600"/>
          </a:xfrm>
          <a:prstGeom prst="rect">
            <a:avLst/>
          </a:prstGeom>
          <a:noFill/>
          <a:ln/>
        </p:spPr>
        <p:txBody>
          <a:bodyPr wrap="square" rtlCol="0" anchor="ctr"/>
          <a:lstStyle/>
          <a:p>
            <a:pPr algn="ctr" indent="0" marL="0">
              <a:buNone/>
            </a:pPr>
            <a:r>
              <a:rPr lang="en-US" sz="1000" b="1" dirty="0">
                <a:solidFill>
                  <a:srgbClr val="1E2A38"/>
                </a:solidFill>
                <a:latin typeface="Source Han Sans SC" pitchFamily="34" charset="0"/>
                <a:ea typeface="Source Han Sans SC" pitchFamily="34" charset="-122"/>
                <a:cs typeface="Source Han Sans SC" pitchFamily="34" charset="-120"/>
              </a:rPr>
              <a:t>问卷设计</a:t>
            </a:r>
            <a:endParaRPr lang="en-US" sz="1000" dirty="0"/>
          </a:p>
        </p:txBody>
      </p:sp>
      <p:sp>
        <p:nvSpPr>
          <p:cNvPr id="15" name="Text 13"/>
          <p:cNvSpPr/>
          <p:nvPr/>
        </p:nvSpPr>
        <p:spPr>
          <a:xfrm>
            <a:off x="2788920" y="2148840"/>
            <a:ext cx="1828800" cy="182880"/>
          </a:xfrm>
          <a:prstGeom prst="rect">
            <a:avLst/>
          </a:prstGeom>
          <a:noFill/>
          <a:ln/>
        </p:spPr>
        <p:txBody>
          <a:bodyPr wrap="square" rtlCol="0" anchor="ctr"/>
          <a:lstStyle/>
          <a:p>
            <a:pPr algn="ctr" indent="0" marL="0">
              <a:buNone/>
            </a:pPr>
            <a:r>
              <a:rPr lang="en-US" sz="750" dirty="0">
                <a:solidFill>
                  <a:srgbClr val="8899AA"/>
                </a:solidFill>
                <a:latin typeface="Source Han Sans SC" pitchFamily="34" charset="0"/>
                <a:ea typeface="Source Han Sans SC" pitchFamily="34" charset="-122"/>
                <a:cs typeface="Source Han Sans SC" pitchFamily="34" charset="-120"/>
              </a:rPr>
              <a:t>第3-5天</a:t>
            </a:r>
            <a:endParaRPr lang="en-US" sz="750" dirty="0"/>
          </a:p>
        </p:txBody>
      </p:sp>
      <p:sp>
        <p:nvSpPr>
          <p:cNvPr id="16" name="Text 14"/>
          <p:cNvSpPr/>
          <p:nvPr/>
        </p:nvSpPr>
        <p:spPr>
          <a:xfrm>
            <a:off x="2880360" y="2331720"/>
            <a:ext cx="1645920" cy="365760"/>
          </a:xfrm>
          <a:prstGeom prst="rect">
            <a:avLst/>
          </a:prstGeom>
          <a:noFill/>
          <a:ln/>
        </p:spPr>
        <p:txBody>
          <a:bodyPr wrap="square" rtlCol="0" anchor="ctr"/>
          <a:lstStyle/>
          <a:p>
            <a:pPr algn="ct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预调查、信效度检验、修改完善</a:t>
            </a:r>
            <a:endParaRPr lang="en-US" sz="750" dirty="0"/>
          </a:p>
        </p:txBody>
      </p:sp>
      <p:sp>
        <p:nvSpPr>
          <p:cNvPr id="17" name="Shape 15"/>
          <p:cNvSpPr/>
          <p:nvPr/>
        </p:nvSpPr>
        <p:spPr>
          <a:xfrm>
            <a:off x="5532120" y="1051560"/>
            <a:ext cx="777240" cy="777240"/>
          </a:xfrm>
          <a:prstGeom prst="ellipse">
            <a:avLst/>
          </a:prstGeom>
          <a:solidFill>
            <a:srgbClr val="5C9BD4"/>
          </a:solidFill>
          <a:ln/>
        </p:spPr>
      </p:sp>
      <p:sp>
        <p:nvSpPr>
          <p:cNvPr id="18" name="Text 16"/>
          <p:cNvSpPr/>
          <p:nvPr/>
        </p:nvSpPr>
        <p:spPr>
          <a:xfrm>
            <a:off x="5532120" y="1097280"/>
            <a:ext cx="777240" cy="685800"/>
          </a:xfrm>
          <a:prstGeom prst="rect">
            <a:avLst/>
          </a:prstGeom>
          <a:noFill/>
          <a:ln/>
        </p:spPr>
        <p:txBody>
          <a:bodyPr wrap="square" rtlCol="0" anchor="ctr"/>
          <a:lstStyle/>
          <a:p>
            <a:pPr algn="ctr" indent="0" marL="0">
              <a:buNone/>
            </a:pPr>
            <a:r>
              <a:rPr lang="en-US" sz="1800" b="1" dirty="0">
                <a:solidFill>
                  <a:srgbClr val="FFFFFF"/>
                </a:solidFill>
                <a:latin typeface="Source Han Sans SC" pitchFamily="34" charset="0"/>
                <a:ea typeface="Source Han Sans SC" pitchFamily="34" charset="-122"/>
                <a:cs typeface="Source Han Sans SC" pitchFamily="34" charset="-120"/>
              </a:rPr>
              <a:t>3</a:t>
            </a:r>
            <a:endParaRPr lang="en-US" sz="1800" dirty="0"/>
          </a:p>
        </p:txBody>
      </p:sp>
      <p:sp>
        <p:nvSpPr>
          <p:cNvPr id="19" name="Text 17"/>
          <p:cNvSpPr/>
          <p:nvPr/>
        </p:nvSpPr>
        <p:spPr>
          <a:xfrm>
            <a:off x="6309360" y="1234440"/>
            <a:ext cx="365760" cy="411480"/>
          </a:xfrm>
          <a:prstGeom prst="rect">
            <a:avLst/>
          </a:prstGeom>
          <a:noFill/>
          <a:ln/>
        </p:spPr>
        <p:txBody>
          <a:bodyPr wrap="square" rtlCol="0" anchor="ctr"/>
          <a:lstStyle/>
          <a:p>
            <a:pPr algn="ctr" indent="0" marL="0">
              <a:buNone/>
            </a:pPr>
            <a:r>
              <a:rPr lang="en-US" sz="1300" dirty="0">
                <a:solidFill>
                  <a:srgbClr val="B0B8C4"/>
                </a:solidFill>
              </a:rPr>
              <a:t>→</a:t>
            </a:r>
            <a:endParaRPr lang="en-US" sz="1300" dirty="0"/>
          </a:p>
        </p:txBody>
      </p:sp>
      <p:sp>
        <p:nvSpPr>
          <p:cNvPr id="20" name="Text 18"/>
          <p:cNvSpPr/>
          <p:nvPr/>
        </p:nvSpPr>
        <p:spPr>
          <a:xfrm>
            <a:off x="4983480" y="1920240"/>
            <a:ext cx="1828800" cy="228600"/>
          </a:xfrm>
          <a:prstGeom prst="rect">
            <a:avLst/>
          </a:prstGeom>
          <a:noFill/>
          <a:ln/>
        </p:spPr>
        <p:txBody>
          <a:bodyPr wrap="square" rtlCol="0" anchor="ctr"/>
          <a:lstStyle/>
          <a:p>
            <a:pPr algn="ctr" indent="0" marL="0">
              <a:buNone/>
            </a:pPr>
            <a:r>
              <a:rPr lang="en-US" sz="1000" b="1" dirty="0">
                <a:solidFill>
                  <a:srgbClr val="1E2A38"/>
                </a:solidFill>
                <a:latin typeface="Source Han Sans SC" pitchFamily="34" charset="0"/>
                <a:ea typeface="Source Han Sans SC" pitchFamily="34" charset="-122"/>
                <a:cs typeface="Source Han Sans SC" pitchFamily="34" charset="-120"/>
              </a:rPr>
              <a:t>实地调研</a:t>
            </a:r>
            <a:endParaRPr lang="en-US" sz="1000" dirty="0"/>
          </a:p>
        </p:txBody>
      </p:sp>
      <p:sp>
        <p:nvSpPr>
          <p:cNvPr id="21" name="Text 19"/>
          <p:cNvSpPr/>
          <p:nvPr/>
        </p:nvSpPr>
        <p:spPr>
          <a:xfrm>
            <a:off x="4983480" y="2148840"/>
            <a:ext cx="1828800" cy="182880"/>
          </a:xfrm>
          <a:prstGeom prst="rect">
            <a:avLst/>
          </a:prstGeom>
          <a:noFill/>
          <a:ln/>
        </p:spPr>
        <p:txBody>
          <a:bodyPr wrap="square" rtlCol="0" anchor="ctr"/>
          <a:lstStyle/>
          <a:p>
            <a:pPr algn="ctr" indent="0" marL="0">
              <a:buNone/>
            </a:pPr>
            <a:r>
              <a:rPr lang="en-US" sz="750" dirty="0">
                <a:solidFill>
                  <a:srgbClr val="8899AA"/>
                </a:solidFill>
                <a:latin typeface="Source Han Sans SC" pitchFamily="34" charset="0"/>
                <a:ea typeface="Source Han Sans SC" pitchFamily="34" charset="-122"/>
                <a:cs typeface="Source Han Sans SC" pitchFamily="34" charset="-120"/>
              </a:rPr>
              <a:t>第5-10天</a:t>
            </a:r>
            <a:endParaRPr lang="en-US" sz="750" dirty="0"/>
          </a:p>
        </p:txBody>
      </p:sp>
      <p:sp>
        <p:nvSpPr>
          <p:cNvPr id="22" name="Text 20"/>
          <p:cNvSpPr/>
          <p:nvPr/>
        </p:nvSpPr>
        <p:spPr>
          <a:xfrm>
            <a:off x="5074920" y="2331720"/>
            <a:ext cx="1645920" cy="365760"/>
          </a:xfrm>
          <a:prstGeom prst="rect">
            <a:avLst/>
          </a:prstGeom>
          <a:noFill/>
          <a:ln/>
        </p:spPr>
        <p:txBody>
          <a:bodyPr wrap="square" rtlCol="0" anchor="ctr"/>
          <a:lstStyle/>
          <a:p>
            <a:pPr algn="ct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问卷发放+半结构化访谈</a:t>
            </a:r>
            <a:endParaRPr lang="en-US" sz="750" dirty="0"/>
          </a:p>
        </p:txBody>
      </p:sp>
      <p:sp>
        <p:nvSpPr>
          <p:cNvPr id="23" name="Shape 21"/>
          <p:cNvSpPr/>
          <p:nvPr/>
        </p:nvSpPr>
        <p:spPr>
          <a:xfrm>
            <a:off x="7726680" y="1051560"/>
            <a:ext cx="777240" cy="777240"/>
          </a:xfrm>
          <a:prstGeom prst="ellipse">
            <a:avLst/>
          </a:prstGeom>
          <a:solidFill>
            <a:srgbClr val="6DA8E0"/>
          </a:solidFill>
          <a:ln/>
        </p:spPr>
      </p:sp>
      <p:sp>
        <p:nvSpPr>
          <p:cNvPr id="24" name="Text 22"/>
          <p:cNvSpPr/>
          <p:nvPr/>
        </p:nvSpPr>
        <p:spPr>
          <a:xfrm>
            <a:off x="7726680" y="1097280"/>
            <a:ext cx="777240" cy="685800"/>
          </a:xfrm>
          <a:prstGeom prst="rect">
            <a:avLst/>
          </a:prstGeom>
          <a:noFill/>
          <a:ln/>
        </p:spPr>
        <p:txBody>
          <a:bodyPr wrap="square" rtlCol="0" anchor="ctr"/>
          <a:lstStyle/>
          <a:p>
            <a:pPr algn="ctr" indent="0" marL="0">
              <a:buNone/>
            </a:pPr>
            <a:r>
              <a:rPr lang="en-US" sz="1800" b="1" dirty="0">
                <a:solidFill>
                  <a:srgbClr val="FFFFFF"/>
                </a:solidFill>
                <a:latin typeface="Source Han Sans SC" pitchFamily="34" charset="0"/>
                <a:ea typeface="Source Han Sans SC" pitchFamily="34" charset="-122"/>
                <a:cs typeface="Source Han Sans SC" pitchFamily="34" charset="-120"/>
              </a:rPr>
              <a:t>4</a:t>
            </a:r>
            <a:endParaRPr lang="en-US" sz="1800" dirty="0"/>
          </a:p>
        </p:txBody>
      </p:sp>
      <p:sp>
        <p:nvSpPr>
          <p:cNvPr id="25" name="Text 23"/>
          <p:cNvSpPr/>
          <p:nvPr/>
        </p:nvSpPr>
        <p:spPr>
          <a:xfrm>
            <a:off x="8503920" y="1234440"/>
            <a:ext cx="365760" cy="411480"/>
          </a:xfrm>
          <a:prstGeom prst="rect">
            <a:avLst/>
          </a:prstGeom>
          <a:noFill/>
          <a:ln/>
        </p:spPr>
        <p:txBody>
          <a:bodyPr wrap="square" rtlCol="0" anchor="ctr"/>
          <a:lstStyle/>
          <a:p>
            <a:pPr algn="ctr" indent="0" marL="0">
              <a:buNone/>
            </a:pPr>
            <a:r>
              <a:rPr lang="en-US" sz="1300" dirty="0">
                <a:solidFill>
                  <a:srgbClr val="B0B8C4"/>
                </a:solidFill>
              </a:rPr>
              <a:t>→</a:t>
            </a:r>
            <a:endParaRPr lang="en-US" sz="1300" dirty="0"/>
          </a:p>
        </p:txBody>
      </p:sp>
      <p:sp>
        <p:nvSpPr>
          <p:cNvPr id="26" name="Text 24"/>
          <p:cNvSpPr/>
          <p:nvPr/>
        </p:nvSpPr>
        <p:spPr>
          <a:xfrm>
            <a:off x="7178040" y="1920240"/>
            <a:ext cx="1828800" cy="228600"/>
          </a:xfrm>
          <a:prstGeom prst="rect">
            <a:avLst/>
          </a:prstGeom>
          <a:noFill/>
          <a:ln/>
        </p:spPr>
        <p:txBody>
          <a:bodyPr wrap="square" rtlCol="0" anchor="ctr"/>
          <a:lstStyle/>
          <a:p>
            <a:pPr algn="ctr" indent="0" marL="0">
              <a:buNone/>
            </a:pPr>
            <a:r>
              <a:rPr lang="en-US" sz="1000" b="1" dirty="0">
                <a:solidFill>
                  <a:srgbClr val="1E2A38"/>
                </a:solidFill>
                <a:latin typeface="Source Han Sans SC" pitchFamily="34" charset="0"/>
                <a:ea typeface="Source Han Sans SC" pitchFamily="34" charset="-122"/>
                <a:cs typeface="Source Han Sans SC" pitchFamily="34" charset="-120"/>
              </a:rPr>
              <a:t>数据处理</a:t>
            </a:r>
            <a:endParaRPr lang="en-US" sz="1000" dirty="0"/>
          </a:p>
        </p:txBody>
      </p:sp>
      <p:sp>
        <p:nvSpPr>
          <p:cNvPr id="27" name="Text 25"/>
          <p:cNvSpPr/>
          <p:nvPr/>
        </p:nvSpPr>
        <p:spPr>
          <a:xfrm>
            <a:off x="7178040" y="2148840"/>
            <a:ext cx="1828800" cy="182880"/>
          </a:xfrm>
          <a:prstGeom prst="rect">
            <a:avLst/>
          </a:prstGeom>
          <a:noFill/>
          <a:ln/>
        </p:spPr>
        <p:txBody>
          <a:bodyPr wrap="square" rtlCol="0" anchor="ctr"/>
          <a:lstStyle/>
          <a:p>
            <a:pPr algn="ctr" indent="0" marL="0">
              <a:buNone/>
            </a:pPr>
            <a:r>
              <a:rPr lang="en-US" sz="750" dirty="0">
                <a:solidFill>
                  <a:srgbClr val="8899AA"/>
                </a:solidFill>
                <a:latin typeface="Source Han Sans SC" pitchFamily="34" charset="0"/>
                <a:ea typeface="Source Han Sans SC" pitchFamily="34" charset="-122"/>
                <a:cs typeface="Source Han Sans SC" pitchFamily="34" charset="-120"/>
              </a:rPr>
              <a:t>第10-13天</a:t>
            </a:r>
            <a:endParaRPr lang="en-US" sz="750" dirty="0"/>
          </a:p>
        </p:txBody>
      </p:sp>
      <p:sp>
        <p:nvSpPr>
          <p:cNvPr id="28" name="Text 26"/>
          <p:cNvSpPr/>
          <p:nvPr/>
        </p:nvSpPr>
        <p:spPr>
          <a:xfrm>
            <a:off x="7269480" y="2331720"/>
            <a:ext cx="1645920" cy="365760"/>
          </a:xfrm>
          <a:prstGeom prst="rect">
            <a:avLst/>
          </a:prstGeom>
          <a:noFill/>
          <a:ln/>
        </p:spPr>
        <p:txBody>
          <a:bodyPr wrap="square" rtlCol="0" anchor="ctr"/>
          <a:lstStyle/>
          <a:p>
            <a:pPr algn="ct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SPSS统计分析、质性内容编码</a:t>
            </a:r>
            <a:endParaRPr lang="en-US" sz="750" dirty="0"/>
          </a:p>
        </p:txBody>
      </p:sp>
      <p:sp>
        <p:nvSpPr>
          <p:cNvPr id="29" name="Shape 27"/>
          <p:cNvSpPr/>
          <p:nvPr/>
        </p:nvSpPr>
        <p:spPr>
          <a:xfrm>
            <a:off x="9921240" y="1051560"/>
            <a:ext cx="777240" cy="777240"/>
          </a:xfrm>
          <a:prstGeom prst="ellipse">
            <a:avLst/>
          </a:prstGeom>
          <a:solidFill>
            <a:srgbClr val="6DA8E0"/>
          </a:solidFill>
          <a:ln/>
        </p:spPr>
      </p:sp>
      <p:sp>
        <p:nvSpPr>
          <p:cNvPr id="30" name="Text 28"/>
          <p:cNvSpPr/>
          <p:nvPr/>
        </p:nvSpPr>
        <p:spPr>
          <a:xfrm>
            <a:off x="9921240" y="1097280"/>
            <a:ext cx="777240" cy="685800"/>
          </a:xfrm>
          <a:prstGeom prst="rect">
            <a:avLst/>
          </a:prstGeom>
          <a:noFill/>
          <a:ln/>
        </p:spPr>
        <p:txBody>
          <a:bodyPr wrap="square" rtlCol="0" anchor="ctr"/>
          <a:lstStyle/>
          <a:p>
            <a:pPr algn="ctr" indent="0" marL="0">
              <a:buNone/>
            </a:pPr>
            <a:r>
              <a:rPr lang="en-US" sz="1800" b="1" dirty="0">
                <a:solidFill>
                  <a:srgbClr val="FFFFFF"/>
                </a:solidFill>
                <a:latin typeface="Source Han Sans SC" pitchFamily="34" charset="0"/>
                <a:ea typeface="Source Han Sans SC" pitchFamily="34" charset="-122"/>
                <a:cs typeface="Source Han Sans SC" pitchFamily="34" charset="-120"/>
              </a:rPr>
              <a:t>5</a:t>
            </a:r>
            <a:endParaRPr lang="en-US" sz="1800" dirty="0"/>
          </a:p>
        </p:txBody>
      </p:sp>
      <p:sp>
        <p:nvSpPr>
          <p:cNvPr id="31" name="Text 29"/>
          <p:cNvSpPr/>
          <p:nvPr/>
        </p:nvSpPr>
        <p:spPr>
          <a:xfrm>
            <a:off x="9372600" y="1920240"/>
            <a:ext cx="1828800" cy="228600"/>
          </a:xfrm>
          <a:prstGeom prst="rect">
            <a:avLst/>
          </a:prstGeom>
          <a:noFill/>
          <a:ln/>
        </p:spPr>
        <p:txBody>
          <a:bodyPr wrap="square" rtlCol="0" anchor="ctr"/>
          <a:lstStyle/>
          <a:p>
            <a:pPr algn="ctr" indent="0" marL="0">
              <a:buNone/>
            </a:pPr>
            <a:r>
              <a:rPr lang="en-US" sz="1000" b="1" dirty="0">
                <a:solidFill>
                  <a:srgbClr val="1E2A38"/>
                </a:solidFill>
                <a:latin typeface="Source Han Sans SC" pitchFamily="34" charset="0"/>
                <a:ea typeface="Source Han Sans SC" pitchFamily="34" charset="-122"/>
                <a:cs typeface="Source Han Sans SC" pitchFamily="34" charset="-120"/>
              </a:rPr>
              <a:t>报告撰写</a:t>
            </a:r>
            <a:endParaRPr lang="en-US" sz="1000" dirty="0"/>
          </a:p>
        </p:txBody>
      </p:sp>
      <p:sp>
        <p:nvSpPr>
          <p:cNvPr id="32" name="Text 30"/>
          <p:cNvSpPr/>
          <p:nvPr/>
        </p:nvSpPr>
        <p:spPr>
          <a:xfrm>
            <a:off x="9372600" y="2148840"/>
            <a:ext cx="1828800" cy="182880"/>
          </a:xfrm>
          <a:prstGeom prst="rect">
            <a:avLst/>
          </a:prstGeom>
          <a:noFill/>
          <a:ln/>
        </p:spPr>
        <p:txBody>
          <a:bodyPr wrap="square" rtlCol="0" anchor="ctr"/>
          <a:lstStyle/>
          <a:p>
            <a:pPr algn="ctr" indent="0" marL="0">
              <a:buNone/>
            </a:pPr>
            <a:r>
              <a:rPr lang="en-US" sz="750" dirty="0">
                <a:solidFill>
                  <a:srgbClr val="8899AA"/>
                </a:solidFill>
                <a:latin typeface="Source Han Sans SC" pitchFamily="34" charset="0"/>
                <a:ea typeface="Source Han Sans SC" pitchFamily="34" charset="-122"/>
                <a:cs typeface="Source Han Sans SC" pitchFamily="34" charset="-120"/>
              </a:rPr>
              <a:t>第13-15天</a:t>
            </a:r>
            <a:endParaRPr lang="en-US" sz="750" dirty="0"/>
          </a:p>
        </p:txBody>
      </p:sp>
      <p:sp>
        <p:nvSpPr>
          <p:cNvPr id="33" name="Text 31"/>
          <p:cNvSpPr/>
          <p:nvPr/>
        </p:nvSpPr>
        <p:spPr>
          <a:xfrm>
            <a:off x="9464040" y="2331720"/>
            <a:ext cx="1645920" cy="365760"/>
          </a:xfrm>
          <a:prstGeom prst="rect">
            <a:avLst/>
          </a:prstGeom>
          <a:noFill/>
          <a:ln/>
        </p:spPr>
        <p:txBody>
          <a:bodyPr wrap="square" rtlCol="0" anchor="ctr"/>
          <a:lstStyle/>
          <a:p>
            <a:pPr algn="ct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综合研判+建议论证撰写</a:t>
            </a:r>
            <a:endParaRPr lang="en-US" sz="750" dirty="0"/>
          </a:p>
        </p:txBody>
      </p:sp>
      <p:sp>
        <p:nvSpPr>
          <p:cNvPr id="34" name="Shape 32"/>
          <p:cNvSpPr/>
          <p:nvPr/>
        </p:nvSpPr>
        <p:spPr>
          <a:xfrm>
            <a:off x="594360" y="2926080"/>
            <a:ext cx="11000232" cy="9144"/>
          </a:xfrm>
          <a:prstGeom prst="rect">
            <a:avLst/>
          </a:prstGeom>
          <a:solidFill>
            <a:srgbClr val="E5E9F0"/>
          </a:solidFill>
          <a:ln/>
        </p:spPr>
      </p:sp>
      <p:sp>
        <p:nvSpPr>
          <p:cNvPr id="35" name="Text 33"/>
          <p:cNvSpPr/>
          <p:nvPr/>
        </p:nvSpPr>
        <p:spPr>
          <a:xfrm>
            <a:off x="594360" y="3063240"/>
            <a:ext cx="2286000" cy="365760"/>
          </a:xfrm>
          <a:prstGeom prst="rect">
            <a:avLst/>
          </a:prstGeom>
          <a:noFill/>
          <a:ln/>
        </p:spPr>
        <p:txBody>
          <a:bodyPr wrap="square" rtlCol="0" anchor="ctr"/>
          <a:lstStyle/>
          <a:p>
            <a:pPr algn="ctr" indent="0" marL="0">
              <a:buNone/>
            </a:pPr>
            <a:r>
              <a:rPr lang="en-US" sz="2200" b="1" dirty="0">
                <a:solidFill>
                  <a:srgbClr val="3A6EA5"/>
                </a:solidFill>
                <a:latin typeface="Source Han Sans SC" pitchFamily="34" charset="0"/>
                <a:ea typeface="Source Han Sans SC" pitchFamily="34" charset="-122"/>
                <a:cs typeface="Source Han Sans SC" pitchFamily="34" charset="-120"/>
              </a:rPr>
              <a:t>3所</a:t>
            </a:r>
            <a:endParaRPr lang="en-US" sz="2200" dirty="0"/>
          </a:p>
        </p:txBody>
      </p:sp>
      <p:sp>
        <p:nvSpPr>
          <p:cNvPr id="36" name="Text 34"/>
          <p:cNvSpPr/>
          <p:nvPr/>
        </p:nvSpPr>
        <p:spPr>
          <a:xfrm>
            <a:off x="594360" y="3429000"/>
            <a:ext cx="2286000" cy="228600"/>
          </a:xfrm>
          <a:prstGeom prst="rect">
            <a:avLst/>
          </a:prstGeom>
          <a:noFill/>
          <a:ln/>
        </p:spPr>
        <p:txBody>
          <a:bodyPr wrap="square" rtlCol="0" anchor="ctr"/>
          <a:lstStyle/>
          <a:p>
            <a:pPr algn="ctr" indent="0" marL="0">
              <a:buNone/>
            </a:pPr>
            <a:r>
              <a:rPr lang="en-US" sz="800" dirty="0">
                <a:solidFill>
                  <a:srgbClr val="8899AA"/>
                </a:solidFill>
                <a:latin typeface="Source Han Sans SC" pitchFamily="34" charset="0"/>
                <a:ea typeface="Source Han Sans SC" pitchFamily="34" charset="-122"/>
                <a:cs typeface="Source Han Sans SC" pitchFamily="34" charset="-120"/>
              </a:rPr>
              <a:t>调研学校</a:t>
            </a:r>
            <a:endParaRPr lang="en-US" sz="800" dirty="0"/>
          </a:p>
        </p:txBody>
      </p:sp>
      <p:sp>
        <p:nvSpPr>
          <p:cNvPr id="37" name="Text 35"/>
          <p:cNvSpPr/>
          <p:nvPr/>
        </p:nvSpPr>
        <p:spPr>
          <a:xfrm>
            <a:off x="3337560" y="3063240"/>
            <a:ext cx="2286000" cy="365760"/>
          </a:xfrm>
          <a:prstGeom prst="rect">
            <a:avLst/>
          </a:prstGeom>
          <a:noFill/>
          <a:ln/>
        </p:spPr>
        <p:txBody>
          <a:bodyPr wrap="square" rtlCol="0" anchor="ctr"/>
          <a:lstStyle/>
          <a:p>
            <a:pPr algn="ctr" indent="0" marL="0">
              <a:buNone/>
            </a:pPr>
            <a:r>
              <a:rPr lang="en-US" sz="2200" b="1" dirty="0">
                <a:solidFill>
                  <a:srgbClr val="3A6EA5"/>
                </a:solidFill>
                <a:latin typeface="Source Han Sans SC" pitchFamily="34" charset="0"/>
                <a:ea typeface="Source Han Sans SC" pitchFamily="34" charset="-122"/>
                <a:cs typeface="Source Han Sans SC" pitchFamily="34" charset="-120"/>
              </a:rPr>
              <a:t>672份</a:t>
            </a:r>
            <a:endParaRPr lang="en-US" sz="2200" dirty="0"/>
          </a:p>
        </p:txBody>
      </p:sp>
      <p:sp>
        <p:nvSpPr>
          <p:cNvPr id="38" name="Text 36"/>
          <p:cNvSpPr/>
          <p:nvPr/>
        </p:nvSpPr>
        <p:spPr>
          <a:xfrm>
            <a:off x="3337560" y="3429000"/>
            <a:ext cx="2286000" cy="228600"/>
          </a:xfrm>
          <a:prstGeom prst="rect">
            <a:avLst/>
          </a:prstGeom>
          <a:noFill/>
          <a:ln/>
        </p:spPr>
        <p:txBody>
          <a:bodyPr wrap="square" rtlCol="0" anchor="ctr"/>
          <a:lstStyle/>
          <a:p>
            <a:pPr algn="ctr" indent="0" marL="0">
              <a:buNone/>
            </a:pPr>
            <a:r>
              <a:rPr lang="en-US" sz="800" dirty="0">
                <a:solidFill>
                  <a:srgbClr val="8899AA"/>
                </a:solidFill>
                <a:latin typeface="Source Han Sans SC" pitchFamily="34" charset="0"/>
                <a:ea typeface="Source Han Sans SC" pitchFamily="34" charset="-122"/>
                <a:cs typeface="Source Han Sans SC" pitchFamily="34" charset="-120"/>
              </a:rPr>
              <a:t>有效问卷 | 回收率91.3%</a:t>
            </a:r>
            <a:endParaRPr lang="en-US" sz="800" dirty="0"/>
          </a:p>
        </p:txBody>
      </p:sp>
      <p:sp>
        <p:nvSpPr>
          <p:cNvPr id="39" name="Text 37"/>
          <p:cNvSpPr/>
          <p:nvPr/>
        </p:nvSpPr>
        <p:spPr>
          <a:xfrm>
            <a:off x="6080760" y="3063240"/>
            <a:ext cx="2286000" cy="365760"/>
          </a:xfrm>
          <a:prstGeom prst="rect">
            <a:avLst/>
          </a:prstGeom>
          <a:noFill/>
          <a:ln/>
        </p:spPr>
        <p:txBody>
          <a:bodyPr wrap="square" rtlCol="0" anchor="ctr"/>
          <a:lstStyle/>
          <a:p>
            <a:pPr algn="ctr" indent="0" marL="0">
              <a:buNone/>
            </a:pPr>
            <a:r>
              <a:rPr lang="en-US" sz="2200" b="1" dirty="0">
                <a:solidFill>
                  <a:srgbClr val="3A6EA5"/>
                </a:solidFill>
                <a:latin typeface="Source Han Sans SC" pitchFamily="34" charset="0"/>
                <a:ea typeface="Source Han Sans SC" pitchFamily="34" charset="-122"/>
                <a:cs typeface="Source Han Sans SC" pitchFamily="34" charset="-120"/>
              </a:rPr>
              <a:t>38人</a:t>
            </a:r>
            <a:endParaRPr lang="en-US" sz="2200" dirty="0"/>
          </a:p>
        </p:txBody>
      </p:sp>
      <p:sp>
        <p:nvSpPr>
          <p:cNvPr id="40" name="Text 38"/>
          <p:cNvSpPr/>
          <p:nvPr/>
        </p:nvSpPr>
        <p:spPr>
          <a:xfrm>
            <a:off x="6080760" y="3429000"/>
            <a:ext cx="2286000" cy="228600"/>
          </a:xfrm>
          <a:prstGeom prst="rect">
            <a:avLst/>
          </a:prstGeom>
          <a:noFill/>
          <a:ln/>
        </p:spPr>
        <p:txBody>
          <a:bodyPr wrap="square" rtlCol="0" anchor="ctr"/>
          <a:lstStyle/>
          <a:p>
            <a:pPr algn="ctr" indent="0" marL="0">
              <a:buNone/>
            </a:pPr>
            <a:r>
              <a:rPr lang="en-US" sz="800" dirty="0">
                <a:solidFill>
                  <a:srgbClr val="8899AA"/>
                </a:solidFill>
                <a:latin typeface="Source Han Sans SC" pitchFamily="34" charset="0"/>
                <a:ea typeface="Source Han Sans SC" pitchFamily="34" charset="-122"/>
                <a:cs typeface="Source Han Sans SC" pitchFamily="34" charset="-120"/>
              </a:rPr>
              <a:t>深度访谈</a:t>
            </a:r>
            <a:endParaRPr lang="en-US" sz="800" dirty="0"/>
          </a:p>
        </p:txBody>
      </p:sp>
      <p:sp>
        <p:nvSpPr>
          <p:cNvPr id="41" name="Text 39"/>
          <p:cNvSpPr/>
          <p:nvPr/>
        </p:nvSpPr>
        <p:spPr>
          <a:xfrm>
            <a:off x="8823960" y="3063240"/>
            <a:ext cx="2286000" cy="365760"/>
          </a:xfrm>
          <a:prstGeom prst="rect">
            <a:avLst/>
          </a:prstGeom>
          <a:noFill/>
          <a:ln/>
        </p:spPr>
        <p:txBody>
          <a:bodyPr wrap="square" rtlCol="0" anchor="ctr"/>
          <a:lstStyle/>
          <a:p>
            <a:pPr algn="ctr" indent="0" marL="0">
              <a:buNone/>
            </a:pPr>
            <a:r>
              <a:rPr lang="en-US" sz="2200" b="1" dirty="0">
                <a:solidFill>
                  <a:srgbClr val="3A6EA5"/>
                </a:solidFill>
                <a:latin typeface="Source Han Sans SC" pitchFamily="34" charset="0"/>
                <a:ea typeface="Source Han Sans SC" pitchFamily="34" charset="-122"/>
                <a:cs typeface="Source Han Sans SC" pitchFamily="34" charset="-120"/>
              </a:rPr>
              <a:t>15天</a:t>
            </a:r>
            <a:endParaRPr lang="en-US" sz="2200" dirty="0"/>
          </a:p>
        </p:txBody>
      </p:sp>
      <p:sp>
        <p:nvSpPr>
          <p:cNvPr id="42" name="Text 40"/>
          <p:cNvSpPr/>
          <p:nvPr/>
        </p:nvSpPr>
        <p:spPr>
          <a:xfrm>
            <a:off x="8823960" y="3429000"/>
            <a:ext cx="2286000" cy="228600"/>
          </a:xfrm>
          <a:prstGeom prst="rect">
            <a:avLst/>
          </a:prstGeom>
          <a:noFill/>
          <a:ln/>
        </p:spPr>
        <p:txBody>
          <a:bodyPr wrap="square" rtlCol="0" anchor="ctr"/>
          <a:lstStyle/>
          <a:p>
            <a:pPr algn="ctr" indent="0" marL="0">
              <a:buNone/>
            </a:pPr>
            <a:r>
              <a:rPr lang="en-US" sz="800" dirty="0">
                <a:solidFill>
                  <a:srgbClr val="8899AA"/>
                </a:solidFill>
                <a:latin typeface="Source Han Sans SC" pitchFamily="34" charset="0"/>
                <a:ea typeface="Source Han Sans SC" pitchFamily="34" charset="-122"/>
                <a:cs typeface="Source Han Sans SC" pitchFamily="34" charset="-120"/>
              </a:rPr>
              <a:t>调研周期</a:t>
            </a:r>
            <a:endParaRPr lang="en-US" sz="800" dirty="0"/>
          </a:p>
        </p:txBody>
      </p:sp>
      <p:sp>
        <p:nvSpPr>
          <p:cNvPr id="43" name="Shape 41"/>
          <p:cNvSpPr/>
          <p:nvPr/>
        </p:nvSpPr>
        <p:spPr>
          <a:xfrm>
            <a:off x="594360" y="3840480"/>
            <a:ext cx="5486400" cy="2011680"/>
          </a:xfrm>
          <a:prstGeom prst="roundRect">
            <a:avLst>
              <a:gd name="adj" fmla="val 2273"/>
            </a:avLst>
          </a:prstGeom>
          <a:solidFill>
            <a:srgbClr val="FFFFFF"/>
          </a:solidFill>
          <a:ln w="6350">
            <a:solidFill>
              <a:srgbClr val="E5E9F0"/>
            </a:solidFill>
            <a:prstDash val="solid"/>
          </a:ln>
        </p:spPr>
      </p:sp>
      <p:sp>
        <p:nvSpPr>
          <p:cNvPr id="44" name="Shape 42"/>
          <p:cNvSpPr/>
          <p:nvPr/>
        </p:nvSpPr>
        <p:spPr>
          <a:xfrm>
            <a:off x="594360" y="3840480"/>
            <a:ext cx="45720" cy="2011680"/>
          </a:xfrm>
          <a:prstGeom prst="rect">
            <a:avLst/>
          </a:prstGeom>
          <a:solidFill>
            <a:srgbClr val="3A6EA5"/>
          </a:solidFill>
          <a:ln/>
        </p:spPr>
      </p:sp>
      <p:sp>
        <p:nvSpPr>
          <p:cNvPr id="45" name="Text 43"/>
          <p:cNvSpPr/>
          <p:nvPr/>
        </p:nvSpPr>
        <p:spPr>
          <a:xfrm>
            <a:off x="777240" y="3913632"/>
            <a:ext cx="2743200" cy="228600"/>
          </a:xfrm>
          <a:prstGeom prst="rect">
            <a:avLst/>
          </a:prstGeom>
          <a:noFill/>
          <a:ln/>
        </p:spPr>
        <p:txBody>
          <a:bodyPr wrap="square" rtlCol="0" anchor="ctr"/>
          <a:lstStyle/>
          <a:p>
            <a:pPr indent="0" marL="0">
              <a:buNone/>
            </a:pPr>
            <a:r>
              <a:rPr lang="en-US" sz="950" b="1" dirty="0">
                <a:solidFill>
                  <a:srgbClr val="1E2A38"/>
                </a:solidFill>
                <a:latin typeface="Source Han Sans SC" pitchFamily="34" charset="0"/>
                <a:ea typeface="Source Han Sans SC" pitchFamily="34" charset="-122"/>
                <a:cs typeface="Source Han Sans SC" pitchFamily="34" charset="-120"/>
              </a:rPr>
              <a:t>调研现场记录</a:t>
            </a:r>
            <a:endParaRPr lang="en-US" sz="950" dirty="0"/>
          </a:p>
        </p:txBody>
      </p:sp>
      <p:sp>
        <p:nvSpPr>
          <p:cNvPr id="46" name="Text 44"/>
          <p:cNvSpPr/>
          <p:nvPr/>
        </p:nvSpPr>
        <p:spPr>
          <a:xfrm>
            <a:off x="777240" y="4187952"/>
            <a:ext cx="5029200" cy="1463040"/>
          </a:xfrm>
          <a:prstGeom prst="rect">
            <a:avLst/>
          </a:prstGeom>
          <a:noFill/>
          <a:ln/>
        </p:spPr>
        <p:txBody>
          <a:bodyPr wrap="square" rtlCol="0" anchor="ctr"/>
          <a:lstStyle/>
          <a:p>
            <a:pPr indent="0" marL="0">
              <a:lnSpc>
                <a:spcPts val="1300"/>
              </a:lnSpc>
              <a:buNone/>
            </a:pPr>
            <a:r>
              <a:rPr lang="en-US" sz="750" dirty="0">
                <a:solidFill>
                  <a:srgbClr val="1E2A38"/>
                </a:solidFill>
                <a:latin typeface="Source Han Sans SC" pitchFamily="34" charset="0"/>
                <a:ea typeface="Source Han Sans SC" pitchFamily="34" charset="-122"/>
                <a:cs typeface="Source Han Sans SC" pitchFamily="34" charset="-120"/>
              </a:rPr>
              <a:t>问卷发放现场：利用课间及午休时间在各年级教室统一发放，学生匿名填写当场回收。</a:t>
            </a:r>
            <a:endParaRPr lang="en-US" sz="750" dirty="0"/>
          </a:p>
          <a:p>
            <a:pPr indent="0" marL="0">
              <a:lnSpc>
                <a:spcPts val="1300"/>
              </a:lnSpc>
              <a:buNone/>
            </a:pPr>
            <a:r>
              <a:rPr lang="en-US" sz="750" dirty="0">
                <a:solidFill>
                  <a:srgbClr val="1E2A38"/>
                </a:solidFill>
                <a:latin typeface="Source Han Sans SC" pitchFamily="34" charset="0"/>
                <a:ea typeface="Source Han Sans SC" pitchFamily="34" charset="-122"/>
                <a:cs typeface="Source Han Sans SC" pitchFamily="34" charset="-120"/>
              </a:rPr>
              <a:t>访谈记录：采用半结构化访谈提纲，经知情同意后全程录音并转录为文字约12万字。</a:t>
            </a:r>
            <a:endParaRPr lang="en-US" sz="750" dirty="0"/>
          </a:p>
          <a:p>
            <a:pPr indent="0" marL="0">
              <a:lnSpc>
                <a:spcPts val="1300"/>
              </a:lnSpc>
              <a:buNone/>
            </a:pPr>
            <a:r>
              <a:rPr lang="en-US" sz="750" dirty="0">
                <a:solidFill>
                  <a:srgbClr val="1E2A38"/>
                </a:solidFill>
                <a:latin typeface="Source Han Sans SC" pitchFamily="34" charset="0"/>
                <a:ea typeface="Source Han Sans SC" pitchFamily="34" charset="-122"/>
                <a:cs typeface="Source Han Sans SC" pitchFamily="34" charset="-120"/>
              </a:rPr>
              <a:t>数据处理：定量数据使用SPSS 27.0进行描述统计与差异检验；质性数据采用主题分析法编码。</a:t>
            </a:r>
            <a:endParaRPr lang="en-US" sz="750" dirty="0"/>
          </a:p>
        </p:txBody>
      </p:sp>
      <p:sp>
        <p:nvSpPr>
          <p:cNvPr id="47" name="Shape 45"/>
          <p:cNvSpPr/>
          <p:nvPr/>
        </p:nvSpPr>
        <p:spPr>
          <a:xfrm>
            <a:off x="6309360" y="3840480"/>
            <a:ext cx="5303520" cy="2011680"/>
          </a:xfrm>
          <a:prstGeom prst="roundRect">
            <a:avLst>
              <a:gd name="adj" fmla="val 2273"/>
            </a:avLst>
          </a:prstGeom>
          <a:solidFill>
            <a:srgbClr val="FFFFFF"/>
          </a:solidFill>
          <a:ln w="6350">
            <a:solidFill>
              <a:srgbClr val="E5E9F0"/>
            </a:solidFill>
            <a:prstDash val="solid"/>
          </a:ln>
        </p:spPr>
      </p:sp>
      <p:sp>
        <p:nvSpPr>
          <p:cNvPr id="48" name="Shape 46"/>
          <p:cNvSpPr/>
          <p:nvPr/>
        </p:nvSpPr>
        <p:spPr>
          <a:xfrm>
            <a:off x="6309360" y="3840480"/>
            <a:ext cx="45720" cy="2011680"/>
          </a:xfrm>
          <a:prstGeom prst="rect">
            <a:avLst/>
          </a:prstGeom>
          <a:solidFill>
            <a:srgbClr val="D98E04"/>
          </a:solidFill>
          <a:ln/>
        </p:spPr>
      </p:sp>
      <p:sp>
        <p:nvSpPr>
          <p:cNvPr id="49" name="Text 47"/>
          <p:cNvSpPr/>
          <p:nvPr/>
        </p:nvSpPr>
        <p:spPr>
          <a:xfrm>
            <a:off x="6492240" y="3913632"/>
            <a:ext cx="4937760" cy="228600"/>
          </a:xfrm>
          <a:prstGeom prst="rect">
            <a:avLst/>
          </a:prstGeom>
          <a:noFill/>
          <a:ln/>
        </p:spPr>
        <p:txBody>
          <a:bodyPr wrap="square" rtlCol="0" anchor="ctr"/>
          <a:lstStyle/>
          <a:p>
            <a:pPr indent="0" marL="0">
              <a:buNone/>
            </a:pPr>
            <a:r>
              <a:rPr lang="en-US" sz="950" b="1" dirty="0">
                <a:solidFill>
                  <a:srgbClr val="1E2A38"/>
                </a:solidFill>
                <a:latin typeface="Source Han Sans SC" pitchFamily="34" charset="0"/>
                <a:ea typeface="Source Han Sans SC" pitchFamily="34" charset="-122"/>
                <a:cs typeface="Source Han Sans SC" pitchFamily="34" charset="-120"/>
              </a:rPr>
              <a:t>调研局限性说明</a:t>
            </a:r>
            <a:endParaRPr lang="en-US" sz="950" dirty="0"/>
          </a:p>
        </p:txBody>
      </p:sp>
      <p:sp>
        <p:nvSpPr>
          <p:cNvPr id="50" name="Text 48"/>
          <p:cNvSpPr/>
          <p:nvPr/>
        </p:nvSpPr>
        <p:spPr>
          <a:xfrm>
            <a:off x="6492240" y="4187952"/>
            <a:ext cx="4937760" cy="1463040"/>
          </a:xfrm>
          <a:prstGeom prst="rect">
            <a:avLst/>
          </a:prstGeom>
          <a:noFill/>
          <a:ln/>
        </p:spPr>
        <p:txBody>
          <a:bodyPr wrap="square" rtlCol="0" anchor="ctr"/>
          <a:lstStyle/>
          <a:p>
            <a:pPr indent="0" marL="0">
              <a:lnSpc>
                <a:spcPts val="1300"/>
              </a:lnSpc>
              <a:buNone/>
            </a:pPr>
            <a:r>
              <a:rPr lang="en-US" sz="750" dirty="0">
                <a:solidFill>
                  <a:srgbClr val="8899AA"/>
                </a:solidFill>
                <a:latin typeface="Source Han Sans SC" pitchFamily="34" charset="0"/>
                <a:ea typeface="Source Han Sans SC" pitchFamily="34" charset="-122"/>
                <a:cs typeface="Source Han Sans SC" pitchFamily="34" charset="-120"/>
              </a:rPr>
              <a:t>1. 样本局限：有效样本672份，覆盖3所学校，结论外推需谨慎。</a:t>
            </a:r>
            <a:endParaRPr lang="en-US" sz="750" dirty="0"/>
          </a:p>
          <a:p>
            <a:pPr indent="0" marL="0">
              <a:lnSpc>
                <a:spcPts val="1300"/>
              </a:lnSpc>
              <a:buNone/>
            </a:pPr>
            <a:r>
              <a:rPr lang="en-US" sz="750" dirty="0">
                <a:solidFill>
                  <a:srgbClr val="8899AA"/>
                </a:solidFill>
                <a:latin typeface="Source Han Sans SC" pitchFamily="34" charset="0"/>
                <a:ea typeface="Source Han Sans SC" pitchFamily="34" charset="-122"/>
                <a:cs typeface="Source Han Sans SC" pitchFamily="34" charset="-120"/>
              </a:rPr>
              <a:t>2. 地域局限：集中于城市及近郊区，未覆盖农村及偏远地区。</a:t>
            </a:r>
            <a:endParaRPr lang="en-US" sz="750" dirty="0"/>
          </a:p>
          <a:p>
            <a:pPr indent="0" marL="0">
              <a:lnSpc>
                <a:spcPts val="1300"/>
              </a:lnSpc>
              <a:buNone/>
            </a:pPr>
            <a:r>
              <a:rPr lang="en-US" sz="750" dirty="0">
                <a:solidFill>
                  <a:srgbClr val="8899AA"/>
                </a:solidFill>
                <a:latin typeface="Source Han Sans SC" pitchFamily="34" charset="0"/>
                <a:ea typeface="Source Han Sans SC" pitchFamily="34" charset="-122"/>
                <a:cs typeface="Source Han Sans SC" pitchFamily="34" charset="-120"/>
              </a:rPr>
              <a:t>3. 主观性局限：自填问卷可能存在社会期望偏差。</a:t>
            </a:r>
            <a:endParaRPr lang="en-US" sz="750" dirty="0"/>
          </a:p>
          <a:p>
            <a:pPr indent="0" marL="0">
              <a:lnSpc>
                <a:spcPts val="1300"/>
              </a:lnSpc>
              <a:buNone/>
            </a:pPr>
            <a:r>
              <a:rPr lang="en-US" sz="750" dirty="0">
                <a:solidFill>
                  <a:srgbClr val="8899AA"/>
                </a:solidFill>
                <a:latin typeface="Source Han Sans SC" pitchFamily="34" charset="0"/>
                <a:ea typeface="Source Han Sans SC" pitchFamily="34" charset="-122"/>
                <a:cs typeface="Source Han Sans SC" pitchFamily="34" charset="-120"/>
              </a:rPr>
              <a:t>4. 时间局限：调研期15天，未能覆盖完整学期的动态变化。</a:t>
            </a:r>
            <a:endParaRPr lang="en-US" sz="750" dirty="0"/>
          </a:p>
        </p:txBody>
      </p:sp>
      <p:sp>
        <p:nvSpPr>
          <p:cNvPr id="51" name="Text 49"/>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4/23</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调研核心数据发现</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Key Research Findings</a:t>
            </a:r>
            <a:endParaRPr lang="en-US" sz="1000" dirty="0"/>
          </a:p>
        </p:txBody>
      </p:sp>
      <p:sp>
        <p:nvSpPr>
          <p:cNvPr id="5" name="Shape 3"/>
          <p:cNvSpPr/>
          <p:nvPr/>
        </p:nvSpPr>
        <p:spPr>
          <a:xfrm>
            <a:off x="594360" y="1051560"/>
            <a:ext cx="3474720" cy="1554480"/>
          </a:xfrm>
          <a:prstGeom prst="roundRect">
            <a:avLst>
              <a:gd name="adj" fmla="val 2941"/>
            </a:avLst>
          </a:prstGeom>
          <a:solidFill>
            <a:srgbClr val="FFFFFF"/>
          </a:solidFill>
          <a:ln w="6350">
            <a:solidFill>
              <a:srgbClr val="E5E9F0"/>
            </a:solidFill>
            <a:prstDash val="solid"/>
          </a:ln>
        </p:spPr>
      </p:sp>
      <p:sp>
        <p:nvSpPr>
          <p:cNvPr id="6" name="Text 4"/>
          <p:cNvSpPr/>
          <p:nvPr/>
        </p:nvSpPr>
        <p:spPr>
          <a:xfrm>
            <a:off x="594360" y="1097280"/>
            <a:ext cx="3474720" cy="548640"/>
          </a:xfrm>
          <a:prstGeom prst="rect">
            <a:avLst/>
          </a:prstGeom>
          <a:noFill/>
          <a:ln/>
        </p:spPr>
        <p:txBody>
          <a:bodyPr wrap="square" rtlCol="0" anchor="ctr"/>
          <a:lstStyle/>
          <a:p>
            <a:pPr algn="ctr" indent="0" marL="0">
              <a:buNone/>
            </a:pPr>
            <a:r>
              <a:rPr lang="en-US" sz="2800" b="1" dirty="0">
                <a:solidFill>
                  <a:srgbClr val="3A6EA5"/>
                </a:solidFill>
                <a:latin typeface="Source Han Sans SC" pitchFamily="34" charset="0"/>
                <a:ea typeface="Source Han Sans SC" pitchFamily="34" charset="-122"/>
                <a:cs typeface="Source Han Sans SC" pitchFamily="34" charset="-120"/>
              </a:rPr>
              <a:t>76.8%</a:t>
            </a:r>
            <a:endParaRPr lang="en-US" sz="2800" dirty="0"/>
          </a:p>
        </p:txBody>
      </p:sp>
      <p:sp>
        <p:nvSpPr>
          <p:cNvPr id="7" name="Text 5"/>
          <p:cNvSpPr/>
          <p:nvPr/>
        </p:nvSpPr>
        <p:spPr>
          <a:xfrm>
            <a:off x="731520" y="1645920"/>
            <a:ext cx="3200400" cy="228600"/>
          </a:xfrm>
          <a:prstGeom prst="rect">
            <a:avLst/>
          </a:prstGeom>
          <a:noFill/>
          <a:ln/>
        </p:spPr>
        <p:txBody>
          <a:bodyPr wrap="square" rtlCol="0" anchor="ctr"/>
          <a:lstStyle/>
          <a:p>
            <a:pPr algn="ctr" indent="0" marL="0">
              <a:buNone/>
            </a:pPr>
            <a:r>
              <a:rPr lang="en-US" sz="1100" b="1" dirty="0">
                <a:solidFill>
                  <a:srgbClr val="1E2A38"/>
                </a:solidFill>
                <a:latin typeface="Source Han Sans SC" pitchFamily="34" charset="0"/>
                <a:ea typeface="Source Han Sans SC" pitchFamily="34" charset="-122"/>
                <a:cs typeface="Source Han Sans SC" pitchFamily="34" charset="-120"/>
              </a:rPr>
              <a:t>学业压力为首要焦虑源</a:t>
            </a:r>
            <a:endParaRPr lang="en-US" sz="1100" dirty="0"/>
          </a:p>
        </p:txBody>
      </p:sp>
      <p:sp>
        <p:nvSpPr>
          <p:cNvPr id="8" name="Text 6"/>
          <p:cNvSpPr/>
          <p:nvPr/>
        </p:nvSpPr>
        <p:spPr>
          <a:xfrm>
            <a:off x="731520" y="1901952"/>
            <a:ext cx="3200400" cy="411480"/>
          </a:xfrm>
          <a:prstGeom prst="rect">
            <a:avLst/>
          </a:prstGeom>
          <a:noFill/>
          <a:ln/>
        </p:spPr>
        <p:txBody>
          <a:bodyPr wrap="square" rtlCol="0" anchor="ctr"/>
          <a:lstStyle/>
          <a:p>
            <a:pPr algn="ctr" indent="0" marL="0">
              <a:lnSpc>
                <a:spcPts val="1100"/>
              </a:lnSpc>
              <a:buNone/>
            </a:pPr>
            <a:r>
              <a:rPr lang="en-US" sz="750" dirty="0">
                <a:solidFill>
                  <a:srgbClr val="8899AA"/>
                </a:solidFill>
                <a:latin typeface="Source Han Sans SC" pitchFamily="34" charset="0"/>
                <a:ea typeface="Source Han Sans SC" pitchFamily="34" charset="-122"/>
                <a:cs typeface="Source Han Sans SC" pitchFamily="34" charset="-120"/>
              </a:rPr>
              <a:t>远高于人际关系的9.2%和家庭期望的8.7%</a:t>
            </a:r>
            <a:endParaRPr lang="en-US" sz="750" dirty="0"/>
          </a:p>
        </p:txBody>
      </p:sp>
      <p:sp>
        <p:nvSpPr>
          <p:cNvPr id="9" name="Text 7"/>
          <p:cNvSpPr/>
          <p:nvPr/>
        </p:nvSpPr>
        <p:spPr>
          <a:xfrm>
            <a:off x="731520" y="2331720"/>
            <a:ext cx="3200400" cy="182880"/>
          </a:xfrm>
          <a:prstGeom prst="rect">
            <a:avLst/>
          </a:prstGeom>
          <a:noFill/>
          <a:ln/>
        </p:spPr>
        <p:txBody>
          <a:bodyPr wrap="square" rtlCol="0" anchor="ctr"/>
          <a:lstStyle/>
          <a:p>
            <a:pPr algn="ctr" indent="0" marL="0">
              <a:buNone/>
            </a:pPr>
            <a:r>
              <a:rPr lang="en-US" sz="650" dirty="0">
                <a:solidFill>
                  <a:srgbClr val="B0B8C4"/>
                </a:solidFill>
                <a:latin typeface="Source Han Sans SC" pitchFamily="34" charset="0"/>
                <a:ea typeface="Source Han Sans SC" pitchFamily="34" charset="-122"/>
                <a:cs typeface="Source Han Sans SC" pitchFamily="34" charset="-120"/>
              </a:rPr>
              <a:t>本次调研 N=672</a:t>
            </a:r>
            <a:endParaRPr lang="en-US" sz="650" dirty="0"/>
          </a:p>
        </p:txBody>
      </p:sp>
      <p:sp>
        <p:nvSpPr>
          <p:cNvPr id="10" name="Shape 8"/>
          <p:cNvSpPr/>
          <p:nvPr/>
        </p:nvSpPr>
        <p:spPr>
          <a:xfrm>
            <a:off x="4343400" y="1051560"/>
            <a:ext cx="3474720" cy="1554480"/>
          </a:xfrm>
          <a:prstGeom prst="roundRect">
            <a:avLst>
              <a:gd name="adj" fmla="val 2941"/>
            </a:avLst>
          </a:prstGeom>
          <a:solidFill>
            <a:srgbClr val="FFFFFF"/>
          </a:solidFill>
          <a:ln w="6350">
            <a:solidFill>
              <a:srgbClr val="E5E9F0"/>
            </a:solidFill>
            <a:prstDash val="solid"/>
          </a:ln>
        </p:spPr>
      </p:sp>
      <p:sp>
        <p:nvSpPr>
          <p:cNvPr id="11" name="Text 9"/>
          <p:cNvSpPr/>
          <p:nvPr/>
        </p:nvSpPr>
        <p:spPr>
          <a:xfrm>
            <a:off x="4343400" y="1097280"/>
            <a:ext cx="3474720" cy="548640"/>
          </a:xfrm>
          <a:prstGeom prst="rect">
            <a:avLst/>
          </a:prstGeom>
          <a:noFill/>
          <a:ln/>
        </p:spPr>
        <p:txBody>
          <a:bodyPr wrap="square" rtlCol="0" anchor="ctr"/>
          <a:lstStyle/>
          <a:p>
            <a:pPr algn="ctr" indent="0" marL="0">
              <a:buNone/>
            </a:pPr>
            <a:r>
              <a:rPr lang="en-US" sz="2800" b="1" dirty="0">
                <a:solidFill>
                  <a:srgbClr val="3A6EA5"/>
                </a:solidFill>
                <a:latin typeface="Source Han Sans SC" pitchFamily="34" charset="0"/>
                <a:ea typeface="Source Han Sans SC" pitchFamily="34" charset="-122"/>
                <a:cs typeface="Source Han Sans SC" pitchFamily="34" charset="-120"/>
              </a:rPr>
              <a:t>58.3%</a:t>
            </a:r>
            <a:endParaRPr lang="en-US" sz="2800" dirty="0"/>
          </a:p>
        </p:txBody>
      </p:sp>
      <p:sp>
        <p:nvSpPr>
          <p:cNvPr id="12" name="Text 10"/>
          <p:cNvSpPr/>
          <p:nvPr/>
        </p:nvSpPr>
        <p:spPr>
          <a:xfrm>
            <a:off x="4480560" y="1645920"/>
            <a:ext cx="3200400" cy="228600"/>
          </a:xfrm>
          <a:prstGeom prst="rect">
            <a:avLst/>
          </a:prstGeom>
          <a:noFill/>
          <a:ln/>
        </p:spPr>
        <p:txBody>
          <a:bodyPr wrap="square" rtlCol="0" anchor="ctr"/>
          <a:lstStyle/>
          <a:p>
            <a:pPr algn="ctr" indent="0" marL="0">
              <a:buNone/>
            </a:pPr>
            <a:r>
              <a:rPr lang="en-US" sz="1100" b="1" dirty="0">
                <a:solidFill>
                  <a:srgbClr val="1E2A38"/>
                </a:solidFill>
                <a:latin typeface="Source Han Sans SC" pitchFamily="34" charset="0"/>
                <a:ea typeface="Source Han Sans SC" pitchFamily="34" charset="-122"/>
                <a:cs typeface="Source Han Sans SC" pitchFamily="34" charset="-120"/>
              </a:rPr>
              <a:t>日均学习时间超过11小时</a:t>
            </a:r>
            <a:endParaRPr lang="en-US" sz="1100" dirty="0"/>
          </a:p>
        </p:txBody>
      </p:sp>
      <p:sp>
        <p:nvSpPr>
          <p:cNvPr id="13" name="Text 11"/>
          <p:cNvSpPr/>
          <p:nvPr/>
        </p:nvSpPr>
        <p:spPr>
          <a:xfrm>
            <a:off x="4480560" y="1901952"/>
            <a:ext cx="3200400" cy="411480"/>
          </a:xfrm>
          <a:prstGeom prst="rect">
            <a:avLst/>
          </a:prstGeom>
          <a:noFill/>
          <a:ln/>
        </p:spPr>
        <p:txBody>
          <a:bodyPr wrap="square" rtlCol="0" anchor="ctr"/>
          <a:lstStyle/>
          <a:p>
            <a:pPr algn="ctr" indent="0" marL="0">
              <a:lnSpc>
                <a:spcPts val="1100"/>
              </a:lnSpc>
              <a:buNone/>
            </a:pPr>
            <a:r>
              <a:rPr lang="en-US" sz="750" dirty="0">
                <a:solidFill>
                  <a:srgbClr val="8899AA"/>
                </a:solidFill>
                <a:latin typeface="Source Han Sans SC" pitchFamily="34" charset="0"/>
                <a:ea typeface="Source Han Sans SC" pitchFamily="34" charset="-122"/>
                <a:cs typeface="Source Han Sans SC" pitchFamily="34" charset="-120"/>
              </a:rPr>
              <a:t>仅6.7%学生达到教育部建议的8小时睡眠标准</a:t>
            </a:r>
            <a:endParaRPr lang="en-US" sz="750" dirty="0"/>
          </a:p>
        </p:txBody>
      </p:sp>
      <p:sp>
        <p:nvSpPr>
          <p:cNvPr id="14" name="Text 12"/>
          <p:cNvSpPr/>
          <p:nvPr/>
        </p:nvSpPr>
        <p:spPr>
          <a:xfrm>
            <a:off x="4480560" y="2331720"/>
            <a:ext cx="3200400" cy="182880"/>
          </a:xfrm>
          <a:prstGeom prst="rect">
            <a:avLst/>
          </a:prstGeom>
          <a:noFill/>
          <a:ln/>
        </p:spPr>
        <p:txBody>
          <a:bodyPr wrap="square" rtlCol="0" anchor="ctr"/>
          <a:lstStyle/>
          <a:p>
            <a:pPr algn="ctr" indent="0" marL="0">
              <a:buNone/>
            </a:pPr>
            <a:r>
              <a:rPr lang="en-US" sz="650" dirty="0">
                <a:solidFill>
                  <a:srgbClr val="B0B8C4"/>
                </a:solidFill>
                <a:latin typeface="Source Han Sans SC" pitchFamily="34" charset="0"/>
                <a:ea typeface="Source Han Sans SC" pitchFamily="34" charset="-122"/>
                <a:cs typeface="Source Han Sans SC" pitchFamily="34" charset="-120"/>
              </a:rPr>
              <a:t>本次调研 N=672</a:t>
            </a:r>
            <a:endParaRPr lang="en-US" sz="650" dirty="0"/>
          </a:p>
        </p:txBody>
      </p:sp>
      <p:sp>
        <p:nvSpPr>
          <p:cNvPr id="15" name="Shape 13"/>
          <p:cNvSpPr/>
          <p:nvPr/>
        </p:nvSpPr>
        <p:spPr>
          <a:xfrm>
            <a:off x="8092440" y="1051560"/>
            <a:ext cx="3474720" cy="1554480"/>
          </a:xfrm>
          <a:prstGeom prst="roundRect">
            <a:avLst>
              <a:gd name="adj" fmla="val 2941"/>
            </a:avLst>
          </a:prstGeom>
          <a:solidFill>
            <a:srgbClr val="FFFFFF"/>
          </a:solidFill>
          <a:ln w="6350">
            <a:solidFill>
              <a:srgbClr val="E5E9F0"/>
            </a:solidFill>
            <a:prstDash val="solid"/>
          </a:ln>
        </p:spPr>
      </p:sp>
      <p:sp>
        <p:nvSpPr>
          <p:cNvPr id="16" name="Text 14"/>
          <p:cNvSpPr/>
          <p:nvPr/>
        </p:nvSpPr>
        <p:spPr>
          <a:xfrm>
            <a:off x="8092440" y="1097280"/>
            <a:ext cx="3474720" cy="548640"/>
          </a:xfrm>
          <a:prstGeom prst="rect">
            <a:avLst/>
          </a:prstGeom>
          <a:noFill/>
          <a:ln/>
        </p:spPr>
        <p:txBody>
          <a:bodyPr wrap="square" rtlCol="0" anchor="ctr"/>
          <a:lstStyle/>
          <a:p>
            <a:pPr algn="ctr" indent="0" marL="0">
              <a:buNone/>
            </a:pPr>
            <a:r>
              <a:rPr lang="en-US" sz="2800" b="1" dirty="0">
                <a:solidFill>
                  <a:srgbClr val="3A6EA5"/>
                </a:solidFill>
                <a:latin typeface="Source Han Sans SC" pitchFamily="34" charset="0"/>
                <a:ea typeface="Source Han Sans SC" pitchFamily="34" charset="-122"/>
                <a:cs typeface="Source Han Sans SC" pitchFamily="34" charset="-120"/>
              </a:rPr>
              <a:t>43.5%</a:t>
            </a:r>
            <a:endParaRPr lang="en-US" sz="2800" dirty="0"/>
          </a:p>
        </p:txBody>
      </p:sp>
      <p:sp>
        <p:nvSpPr>
          <p:cNvPr id="17" name="Text 15"/>
          <p:cNvSpPr/>
          <p:nvPr/>
        </p:nvSpPr>
        <p:spPr>
          <a:xfrm>
            <a:off x="8229600" y="1645920"/>
            <a:ext cx="3200400" cy="228600"/>
          </a:xfrm>
          <a:prstGeom prst="rect">
            <a:avLst/>
          </a:prstGeom>
          <a:noFill/>
          <a:ln/>
        </p:spPr>
        <p:txBody>
          <a:bodyPr wrap="square" rtlCol="0" anchor="ctr"/>
          <a:lstStyle/>
          <a:p>
            <a:pPr algn="ctr" indent="0" marL="0">
              <a:buNone/>
            </a:pPr>
            <a:r>
              <a:rPr lang="en-US" sz="1100" b="1" dirty="0">
                <a:solidFill>
                  <a:srgbClr val="1E2A38"/>
                </a:solidFill>
                <a:latin typeface="Source Han Sans SC" pitchFamily="34" charset="0"/>
                <a:ea typeface="Source Han Sans SC" pitchFamily="34" charset="-122"/>
                <a:cs typeface="Source Han Sans SC" pitchFamily="34" charset="-120"/>
              </a:rPr>
              <a:t>不愿主动寻求心理帮助</a:t>
            </a:r>
            <a:endParaRPr lang="en-US" sz="1100" dirty="0"/>
          </a:p>
        </p:txBody>
      </p:sp>
      <p:sp>
        <p:nvSpPr>
          <p:cNvPr id="18" name="Text 16"/>
          <p:cNvSpPr/>
          <p:nvPr/>
        </p:nvSpPr>
        <p:spPr>
          <a:xfrm>
            <a:off x="8229600" y="1901952"/>
            <a:ext cx="3200400" cy="411480"/>
          </a:xfrm>
          <a:prstGeom prst="rect">
            <a:avLst/>
          </a:prstGeom>
          <a:noFill/>
          <a:ln/>
        </p:spPr>
        <p:txBody>
          <a:bodyPr wrap="square" rtlCol="0" anchor="ctr"/>
          <a:lstStyle/>
          <a:p>
            <a:pPr algn="ctr" indent="0" marL="0">
              <a:lnSpc>
                <a:spcPts val="1100"/>
              </a:lnSpc>
              <a:buNone/>
            </a:pPr>
            <a:r>
              <a:rPr lang="en-US" sz="750" dirty="0">
                <a:solidFill>
                  <a:srgbClr val="8899AA"/>
                </a:solidFill>
                <a:latin typeface="Source Han Sans SC" pitchFamily="34" charset="0"/>
                <a:ea typeface="Source Han Sans SC" pitchFamily="34" charset="-122"/>
                <a:cs typeface="Source Han Sans SC" pitchFamily="34" charset="-120"/>
              </a:rPr>
              <a:t>对心理咨询有羞耻感或担心被贴标签</a:t>
            </a:r>
            <a:endParaRPr lang="en-US" sz="750" dirty="0"/>
          </a:p>
        </p:txBody>
      </p:sp>
      <p:sp>
        <p:nvSpPr>
          <p:cNvPr id="19" name="Text 17"/>
          <p:cNvSpPr/>
          <p:nvPr/>
        </p:nvSpPr>
        <p:spPr>
          <a:xfrm>
            <a:off x="8229600" y="2331720"/>
            <a:ext cx="3200400" cy="182880"/>
          </a:xfrm>
          <a:prstGeom prst="rect">
            <a:avLst/>
          </a:prstGeom>
          <a:noFill/>
          <a:ln/>
        </p:spPr>
        <p:txBody>
          <a:bodyPr wrap="square" rtlCol="0" anchor="ctr"/>
          <a:lstStyle/>
          <a:p>
            <a:pPr algn="ctr" indent="0" marL="0">
              <a:buNone/>
            </a:pPr>
            <a:r>
              <a:rPr lang="en-US" sz="650" dirty="0">
                <a:solidFill>
                  <a:srgbClr val="B0B8C4"/>
                </a:solidFill>
                <a:latin typeface="Source Han Sans SC" pitchFamily="34" charset="0"/>
                <a:ea typeface="Source Han Sans SC" pitchFamily="34" charset="-122"/>
                <a:cs typeface="Source Han Sans SC" pitchFamily="34" charset="-120"/>
              </a:rPr>
              <a:t>本次调研 N=672</a:t>
            </a:r>
            <a:endParaRPr lang="en-US" sz="650" dirty="0"/>
          </a:p>
        </p:txBody>
      </p:sp>
      <p:sp>
        <p:nvSpPr>
          <p:cNvPr id="20" name="Shape 18"/>
          <p:cNvSpPr/>
          <p:nvPr/>
        </p:nvSpPr>
        <p:spPr>
          <a:xfrm>
            <a:off x="594360" y="2834640"/>
            <a:ext cx="11000232" cy="9144"/>
          </a:xfrm>
          <a:prstGeom prst="rect">
            <a:avLst/>
          </a:prstGeom>
          <a:solidFill>
            <a:srgbClr val="E5E9F0"/>
          </a:solidFill>
          <a:ln/>
        </p:spPr>
      </p:sp>
      <p:sp>
        <p:nvSpPr>
          <p:cNvPr id="21" name="Text 19"/>
          <p:cNvSpPr/>
          <p:nvPr/>
        </p:nvSpPr>
        <p:spPr>
          <a:xfrm>
            <a:off x="594360" y="2926080"/>
            <a:ext cx="4572000" cy="228600"/>
          </a:xfrm>
          <a:prstGeom prst="rect">
            <a:avLst/>
          </a:prstGeom>
          <a:noFill/>
          <a:ln/>
        </p:spPr>
        <p:txBody>
          <a:bodyPr wrap="square" rtlCol="0" anchor="ctr"/>
          <a:lstStyle/>
          <a:p>
            <a:pPr indent="0" marL="0">
              <a:buNone/>
            </a:pPr>
            <a:r>
              <a:rPr lang="en-US" sz="1000" b="1" dirty="0">
                <a:solidFill>
                  <a:srgbClr val="1E2A38"/>
                </a:solidFill>
                <a:latin typeface="Source Han Sans SC" pitchFamily="34" charset="0"/>
                <a:ea typeface="Source Han Sans SC" pitchFamily="34" charset="-122"/>
                <a:cs typeface="Source Han Sans SC" pitchFamily="34" charset="-120"/>
              </a:rPr>
              <a:t>主要心理困扰分布（多选）</a:t>
            </a:r>
            <a:endParaRPr lang="en-US" sz="1000" dirty="0"/>
          </a:p>
        </p:txBody>
      </p:sp>
      <p:sp>
        <p:nvSpPr>
          <p:cNvPr id="22" name="Text 20"/>
          <p:cNvSpPr/>
          <p:nvPr/>
        </p:nvSpPr>
        <p:spPr>
          <a:xfrm>
            <a:off x="594360" y="3246120"/>
            <a:ext cx="1371600" cy="256032"/>
          </a:xfrm>
          <a:prstGeom prst="rect">
            <a:avLst/>
          </a:prstGeom>
          <a:noFill/>
          <a:ln/>
        </p:spPr>
        <p:txBody>
          <a:bodyPr wrap="square" rtlCol="0" anchor="ctr"/>
          <a:lstStyle/>
          <a:p>
            <a:pPr algn="r" indent="0" marL="0">
              <a:buNone/>
            </a:pPr>
            <a:r>
              <a:rPr lang="en-US" sz="800" dirty="0">
                <a:solidFill>
                  <a:srgbClr val="1E2A38"/>
                </a:solidFill>
                <a:latin typeface="Source Han Sans SC" pitchFamily="34" charset="0"/>
                <a:ea typeface="Source Han Sans SC" pitchFamily="34" charset="-122"/>
                <a:cs typeface="Source Han Sans SC" pitchFamily="34" charset="-120"/>
              </a:rPr>
              <a:t>学业压力</a:t>
            </a:r>
            <a:endParaRPr lang="en-US" sz="800" dirty="0"/>
          </a:p>
        </p:txBody>
      </p:sp>
      <p:sp>
        <p:nvSpPr>
          <p:cNvPr id="23" name="Shape 21"/>
          <p:cNvSpPr/>
          <p:nvPr/>
        </p:nvSpPr>
        <p:spPr>
          <a:xfrm>
            <a:off x="2103120" y="3300984"/>
            <a:ext cx="5029200" cy="146304"/>
          </a:xfrm>
          <a:prstGeom prst="rect">
            <a:avLst/>
          </a:prstGeom>
          <a:solidFill>
            <a:srgbClr val="E5E9F0"/>
          </a:solidFill>
          <a:ln/>
        </p:spPr>
      </p:sp>
      <p:sp>
        <p:nvSpPr>
          <p:cNvPr id="24" name="Shape 22"/>
          <p:cNvSpPr/>
          <p:nvPr/>
        </p:nvSpPr>
        <p:spPr>
          <a:xfrm>
            <a:off x="2103120" y="3300984"/>
            <a:ext cx="3862426" cy="146304"/>
          </a:xfrm>
          <a:prstGeom prst="rect">
            <a:avLst>
              <a:gd name="adj" fmla="val 12500"/>
            </a:avLst>
          </a:prstGeom>
          <a:solidFill>
            <a:srgbClr val="3A6EA5"/>
          </a:solidFill>
          <a:ln/>
        </p:spPr>
      </p:sp>
      <p:sp>
        <p:nvSpPr>
          <p:cNvPr id="25" name="Text 23"/>
          <p:cNvSpPr/>
          <p:nvPr/>
        </p:nvSpPr>
        <p:spPr>
          <a:xfrm>
            <a:off x="6038698" y="3246120"/>
            <a:ext cx="548640" cy="256032"/>
          </a:xfrm>
          <a:prstGeom prst="rect">
            <a:avLst/>
          </a:prstGeom>
          <a:noFill/>
          <a:ln/>
        </p:spPr>
        <p:txBody>
          <a:bodyPr wrap="square" rtlCol="0" anchor="ctr"/>
          <a:lstStyle/>
          <a:p>
            <a:pPr indent="0" marL="0">
              <a:buNone/>
            </a:pPr>
            <a:r>
              <a:rPr lang="en-US" sz="750" b="1" dirty="0">
                <a:solidFill>
                  <a:srgbClr val="1E2A38"/>
                </a:solidFill>
                <a:latin typeface="Source Han Sans SC" pitchFamily="34" charset="0"/>
                <a:ea typeface="Source Han Sans SC" pitchFamily="34" charset="-122"/>
                <a:cs typeface="Source Han Sans SC" pitchFamily="34" charset="-120"/>
              </a:rPr>
              <a:t>76.8%</a:t>
            </a:r>
            <a:endParaRPr lang="en-US" sz="750" dirty="0"/>
          </a:p>
        </p:txBody>
      </p:sp>
      <p:sp>
        <p:nvSpPr>
          <p:cNvPr id="26" name="Text 24"/>
          <p:cNvSpPr/>
          <p:nvPr/>
        </p:nvSpPr>
        <p:spPr>
          <a:xfrm>
            <a:off x="594360" y="3575304"/>
            <a:ext cx="1371600" cy="256032"/>
          </a:xfrm>
          <a:prstGeom prst="rect">
            <a:avLst/>
          </a:prstGeom>
          <a:noFill/>
          <a:ln/>
        </p:spPr>
        <p:txBody>
          <a:bodyPr wrap="square" rtlCol="0" anchor="ctr"/>
          <a:lstStyle/>
          <a:p>
            <a:pPr algn="r" indent="0" marL="0">
              <a:buNone/>
            </a:pPr>
            <a:r>
              <a:rPr lang="en-US" sz="800" dirty="0">
                <a:solidFill>
                  <a:srgbClr val="1E2A38"/>
                </a:solidFill>
                <a:latin typeface="Source Han Sans SC" pitchFamily="34" charset="0"/>
                <a:ea typeface="Source Han Sans SC" pitchFamily="34" charset="-122"/>
                <a:cs typeface="Source Han Sans SC" pitchFamily="34" charset="-120"/>
              </a:rPr>
              <a:t>考试焦虑</a:t>
            </a:r>
            <a:endParaRPr lang="en-US" sz="800" dirty="0"/>
          </a:p>
        </p:txBody>
      </p:sp>
      <p:sp>
        <p:nvSpPr>
          <p:cNvPr id="27" name="Shape 25"/>
          <p:cNvSpPr/>
          <p:nvPr/>
        </p:nvSpPr>
        <p:spPr>
          <a:xfrm>
            <a:off x="2103120" y="3630168"/>
            <a:ext cx="5029200" cy="146304"/>
          </a:xfrm>
          <a:prstGeom prst="rect">
            <a:avLst/>
          </a:prstGeom>
          <a:solidFill>
            <a:srgbClr val="E5E9F0"/>
          </a:solidFill>
          <a:ln/>
        </p:spPr>
      </p:sp>
      <p:sp>
        <p:nvSpPr>
          <p:cNvPr id="28" name="Shape 26"/>
          <p:cNvSpPr/>
          <p:nvPr/>
        </p:nvSpPr>
        <p:spPr>
          <a:xfrm>
            <a:off x="2103120" y="3630168"/>
            <a:ext cx="3123133" cy="146304"/>
          </a:xfrm>
          <a:prstGeom prst="rect">
            <a:avLst>
              <a:gd name="adj" fmla="val 12500"/>
            </a:avLst>
          </a:prstGeom>
          <a:solidFill>
            <a:srgbClr val="5C9BD4"/>
          </a:solidFill>
          <a:ln/>
        </p:spPr>
      </p:sp>
      <p:sp>
        <p:nvSpPr>
          <p:cNvPr id="29" name="Text 27"/>
          <p:cNvSpPr/>
          <p:nvPr/>
        </p:nvSpPr>
        <p:spPr>
          <a:xfrm>
            <a:off x="5299405" y="3575304"/>
            <a:ext cx="548640" cy="256032"/>
          </a:xfrm>
          <a:prstGeom prst="rect">
            <a:avLst/>
          </a:prstGeom>
          <a:noFill/>
          <a:ln/>
        </p:spPr>
        <p:txBody>
          <a:bodyPr wrap="square" rtlCol="0" anchor="ctr"/>
          <a:lstStyle/>
          <a:p>
            <a:pPr indent="0" marL="0">
              <a:buNone/>
            </a:pPr>
            <a:r>
              <a:rPr lang="en-US" sz="750" b="1" dirty="0">
                <a:solidFill>
                  <a:srgbClr val="1E2A38"/>
                </a:solidFill>
                <a:latin typeface="Source Han Sans SC" pitchFamily="34" charset="0"/>
                <a:ea typeface="Source Han Sans SC" pitchFamily="34" charset="-122"/>
                <a:cs typeface="Source Han Sans SC" pitchFamily="34" charset="-120"/>
              </a:rPr>
              <a:t>62.1%</a:t>
            </a:r>
            <a:endParaRPr lang="en-US" sz="750" dirty="0"/>
          </a:p>
        </p:txBody>
      </p:sp>
      <p:sp>
        <p:nvSpPr>
          <p:cNvPr id="30" name="Text 28"/>
          <p:cNvSpPr/>
          <p:nvPr/>
        </p:nvSpPr>
        <p:spPr>
          <a:xfrm>
            <a:off x="594360" y="3904488"/>
            <a:ext cx="1371600" cy="256032"/>
          </a:xfrm>
          <a:prstGeom prst="rect">
            <a:avLst/>
          </a:prstGeom>
          <a:noFill/>
          <a:ln/>
        </p:spPr>
        <p:txBody>
          <a:bodyPr wrap="square" rtlCol="0" anchor="ctr"/>
          <a:lstStyle/>
          <a:p>
            <a:pPr algn="r" indent="0" marL="0">
              <a:buNone/>
            </a:pPr>
            <a:r>
              <a:rPr lang="en-US" sz="800" dirty="0">
                <a:solidFill>
                  <a:srgbClr val="1E2A38"/>
                </a:solidFill>
                <a:latin typeface="Source Han Sans SC" pitchFamily="34" charset="0"/>
                <a:ea typeface="Source Han Sans SC" pitchFamily="34" charset="-122"/>
                <a:cs typeface="Source Han Sans SC" pitchFamily="34" charset="-120"/>
              </a:rPr>
              <a:t>睡眠不足</a:t>
            </a:r>
            <a:endParaRPr lang="en-US" sz="800" dirty="0"/>
          </a:p>
        </p:txBody>
      </p:sp>
      <p:sp>
        <p:nvSpPr>
          <p:cNvPr id="31" name="Shape 29"/>
          <p:cNvSpPr/>
          <p:nvPr/>
        </p:nvSpPr>
        <p:spPr>
          <a:xfrm>
            <a:off x="2103120" y="3959352"/>
            <a:ext cx="5029200" cy="146304"/>
          </a:xfrm>
          <a:prstGeom prst="rect">
            <a:avLst/>
          </a:prstGeom>
          <a:solidFill>
            <a:srgbClr val="E5E9F0"/>
          </a:solidFill>
          <a:ln/>
        </p:spPr>
      </p:sp>
      <p:sp>
        <p:nvSpPr>
          <p:cNvPr id="32" name="Shape 30"/>
          <p:cNvSpPr/>
          <p:nvPr/>
        </p:nvSpPr>
        <p:spPr>
          <a:xfrm>
            <a:off x="2103120" y="3959352"/>
            <a:ext cx="2932024" cy="146304"/>
          </a:xfrm>
          <a:prstGeom prst="rect">
            <a:avLst>
              <a:gd name="adj" fmla="val 12500"/>
            </a:avLst>
          </a:prstGeom>
          <a:solidFill>
            <a:srgbClr val="6DA8E0"/>
          </a:solidFill>
          <a:ln/>
        </p:spPr>
      </p:sp>
      <p:sp>
        <p:nvSpPr>
          <p:cNvPr id="33" name="Text 31"/>
          <p:cNvSpPr/>
          <p:nvPr/>
        </p:nvSpPr>
        <p:spPr>
          <a:xfrm>
            <a:off x="5108296" y="3904488"/>
            <a:ext cx="548640" cy="256032"/>
          </a:xfrm>
          <a:prstGeom prst="rect">
            <a:avLst/>
          </a:prstGeom>
          <a:noFill/>
          <a:ln/>
        </p:spPr>
        <p:txBody>
          <a:bodyPr wrap="square" rtlCol="0" anchor="ctr"/>
          <a:lstStyle/>
          <a:p>
            <a:pPr indent="0" marL="0">
              <a:buNone/>
            </a:pPr>
            <a:r>
              <a:rPr lang="en-US" sz="750" b="1" dirty="0">
                <a:solidFill>
                  <a:srgbClr val="1E2A38"/>
                </a:solidFill>
                <a:latin typeface="Source Han Sans SC" pitchFamily="34" charset="0"/>
                <a:ea typeface="Source Han Sans SC" pitchFamily="34" charset="-122"/>
                <a:cs typeface="Source Han Sans SC" pitchFamily="34" charset="-120"/>
              </a:rPr>
              <a:t>58.3%</a:t>
            </a:r>
            <a:endParaRPr lang="en-US" sz="750" dirty="0"/>
          </a:p>
        </p:txBody>
      </p:sp>
      <p:sp>
        <p:nvSpPr>
          <p:cNvPr id="34" name="Text 32"/>
          <p:cNvSpPr/>
          <p:nvPr/>
        </p:nvSpPr>
        <p:spPr>
          <a:xfrm>
            <a:off x="594360" y="4233672"/>
            <a:ext cx="1371600" cy="256032"/>
          </a:xfrm>
          <a:prstGeom prst="rect">
            <a:avLst/>
          </a:prstGeom>
          <a:noFill/>
          <a:ln/>
        </p:spPr>
        <p:txBody>
          <a:bodyPr wrap="square" rtlCol="0" anchor="ctr"/>
          <a:lstStyle/>
          <a:p>
            <a:pPr algn="r" indent="0" marL="0">
              <a:buNone/>
            </a:pPr>
            <a:r>
              <a:rPr lang="en-US" sz="800" dirty="0">
                <a:solidFill>
                  <a:srgbClr val="1E2A38"/>
                </a:solidFill>
                <a:latin typeface="Source Han Sans SC" pitchFamily="34" charset="0"/>
                <a:ea typeface="Source Han Sans SC" pitchFamily="34" charset="-122"/>
                <a:cs typeface="Source Han Sans SC" pitchFamily="34" charset="-120"/>
              </a:rPr>
              <a:t>自我期望</a:t>
            </a:r>
            <a:endParaRPr lang="en-US" sz="800" dirty="0"/>
          </a:p>
        </p:txBody>
      </p:sp>
      <p:sp>
        <p:nvSpPr>
          <p:cNvPr id="35" name="Shape 33"/>
          <p:cNvSpPr/>
          <p:nvPr/>
        </p:nvSpPr>
        <p:spPr>
          <a:xfrm>
            <a:off x="2103120" y="4288536"/>
            <a:ext cx="5029200" cy="146304"/>
          </a:xfrm>
          <a:prstGeom prst="rect">
            <a:avLst/>
          </a:prstGeom>
          <a:solidFill>
            <a:srgbClr val="E5E9F0"/>
          </a:solidFill>
          <a:ln/>
        </p:spPr>
      </p:sp>
      <p:sp>
        <p:nvSpPr>
          <p:cNvPr id="36" name="Shape 34"/>
          <p:cNvSpPr/>
          <p:nvPr/>
        </p:nvSpPr>
        <p:spPr>
          <a:xfrm>
            <a:off x="2103120" y="4288536"/>
            <a:ext cx="2293315" cy="146304"/>
          </a:xfrm>
          <a:prstGeom prst="rect">
            <a:avLst>
              <a:gd name="adj" fmla="val 12500"/>
            </a:avLst>
          </a:prstGeom>
          <a:solidFill>
            <a:srgbClr val="7BB5E6"/>
          </a:solidFill>
          <a:ln/>
        </p:spPr>
      </p:sp>
      <p:sp>
        <p:nvSpPr>
          <p:cNvPr id="37" name="Text 35"/>
          <p:cNvSpPr/>
          <p:nvPr/>
        </p:nvSpPr>
        <p:spPr>
          <a:xfrm>
            <a:off x="4469587" y="4233672"/>
            <a:ext cx="548640" cy="256032"/>
          </a:xfrm>
          <a:prstGeom prst="rect">
            <a:avLst/>
          </a:prstGeom>
          <a:noFill/>
          <a:ln/>
        </p:spPr>
        <p:txBody>
          <a:bodyPr wrap="square" rtlCol="0" anchor="ctr"/>
          <a:lstStyle/>
          <a:p>
            <a:pPr indent="0" marL="0">
              <a:buNone/>
            </a:pPr>
            <a:r>
              <a:rPr lang="en-US" sz="750" b="1" dirty="0">
                <a:solidFill>
                  <a:srgbClr val="1E2A38"/>
                </a:solidFill>
                <a:latin typeface="Source Han Sans SC" pitchFamily="34" charset="0"/>
                <a:ea typeface="Source Han Sans SC" pitchFamily="34" charset="-122"/>
                <a:cs typeface="Source Han Sans SC" pitchFamily="34" charset="-120"/>
              </a:rPr>
              <a:t>45.6%</a:t>
            </a:r>
            <a:endParaRPr lang="en-US" sz="750" dirty="0"/>
          </a:p>
        </p:txBody>
      </p:sp>
      <p:sp>
        <p:nvSpPr>
          <p:cNvPr id="38" name="Text 36"/>
          <p:cNvSpPr/>
          <p:nvPr/>
        </p:nvSpPr>
        <p:spPr>
          <a:xfrm>
            <a:off x="594360" y="4562856"/>
            <a:ext cx="1371600" cy="256032"/>
          </a:xfrm>
          <a:prstGeom prst="rect">
            <a:avLst/>
          </a:prstGeom>
          <a:noFill/>
          <a:ln/>
        </p:spPr>
        <p:txBody>
          <a:bodyPr wrap="square" rtlCol="0" anchor="ctr"/>
          <a:lstStyle/>
          <a:p>
            <a:pPr algn="r" indent="0" marL="0">
              <a:buNone/>
            </a:pPr>
            <a:r>
              <a:rPr lang="en-US" sz="800" dirty="0">
                <a:solidFill>
                  <a:srgbClr val="1E2A38"/>
                </a:solidFill>
                <a:latin typeface="Source Han Sans SC" pitchFamily="34" charset="0"/>
                <a:ea typeface="Source Han Sans SC" pitchFamily="34" charset="-122"/>
                <a:cs typeface="Source Han Sans SC" pitchFamily="34" charset="-120"/>
              </a:rPr>
              <a:t>社交困扰</a:t>
            </a:r>
            <a:endParaRPr lang="en-US" sz="800" dirty="0"/>
          </a:p>
        </p:txBody>
      </p:sp>
      <p:sp>
        <p:nvSpPr>
          <p:cNvPr id="39" name="Shape 37"/>
          <p:cNvSpPr/>
          <p:nvPr/>
        </p:nvSpPr>
        <p:spPr>
          <a:xfrm>
            <a:off x="2103120" y="4617720"/>
            <a:ext cx="5029200" cy="146304"/>
          </a:xfrm>
          <a:prstGeom prst="rect">
            <a:avLst/>
          </a:prstGeom>
          <a:solidFill>
            <a:srgbClr val="E5E9F0"/>
          </a:solidFill>
          <a:ln/>
        </p:spPr>
      </p:sp>
      <p:sp>
        <p:nvSpPr>
          <p:cNvPr id="40" name="Shape 38"/>
          <p:cNvSpPr/>
          <p:nvPr/>
        </p:nvSpPr>
        <p:spPr>
          <a:xfrm>
            <a:off x="2103120" y="4617720"/>
            <a:ext cx="1719986" cy="146304"/>
          </a:xfrm>
          <a:prstGeom prst="rect">
            <a:avLst>
              <a:gd name="adj" fmla="val 12500"/>
            </a:avLst>
          </a:prstGeom>
          <a:solidFill>
            <a:srgbClr val="1E2A38"/>
          </a:solidFill>
          <a:ln/>
        </p:spPr>
      </p:sp>
      <p:sp>
        <p:nvSpPr>
          <p:cNvPr id="41" name="Text 39"/>
          <p:cNvSpPr/>
          <p:nvPr/>
        </p:nvSpPr>
        <p:spPr>
          <a:xfrm>
            <a:off x="3896258" y="4562856"/>
            <a:ext cx="548640" cy="256032"/>
          </a:xfrm>
          <a:prstGeom prst="rect">
            <a:avLst/>
          </a:prstGeom>
          <a:noFill/>
          <a:ln/>
        </p:spPr>
        <p:txBody>
          <a:bodyPr wrap="square" rtlCol="0" anchor="ctr"/>
          <a:lstStyle/>
          <a:p>
            <a:pPr indent="0" marL="0">
              <a:buNone/>
            </a:pPr>
            <a:r>
              <a:rPr lang="en-US" sz="750" b="1" dirty="0">
                <a:solidFill>
                  <a:srgbClr val="1E2A38"/>
                </a:solidFill>
                <a:latin typeface="Source Han Sans SC" pitchFamily="34" charset="0"/>
                <a:ea typeface="Source Han Sans SC" pitchFamily="34" charset="-122"/>
                <a:cs typeface="Source Han Sans SC" pitchFamily="34" charset="-120"/>
              </a:rPr>
              <a:t>34.2%</a:t>
            </a:r>
            <a:endParaRPr lang="en-US" sz="750" dirty="0"/>
          </a:p>
        </p:txBody>
      </p:sp>
      <p:sp>
        <p:nvSpPr>
          <p:cNvPr id="42" name="Text 40"/>
          <p:cNvSpPr/>
          <p:nvPr/>
        </p:nvSpPr>
        <p:spPr>
          <a:xfrm>
            <a:off x="594360" y="4892040"/>
            <a:ext cx="1371600" cy="256032"/>
          </a:xfrm>
          <a:prstGeom prst="rect">
            <a:avLst/>
          </a:prstGeom>
          <a:noFill/>
          <a:ln/>
        </p:spPr>
        <p:txBody>
          <a:bodyPr wrap="square" rtlCol="0" anchor="ctr"/>
          <a:lstStyle/>
          <a:p>
            <a:pPr algn="r" indent="0" marL="0">
              <a:buNone/>
            </a:pPr>
            <a:r>
              <a:rPr lang="en-US" sz="800" dirty="0">
                <a:solidFill>
                  <a:srgbClr val="1E2A38"/>
                </a:solidFill>
                <a:latin typeface="Source Han Sans SC" pitchFamily="34" charset="0"/>
                <a:ea typeface="Source Han Sans SC" pitchFamily="34" charset="-122"/>
                <a:cs typeface="Source Han Sans SC" pitchFamily="34" charset="-120"/>
              </a:rPr>
              <a:t>亲子沟通</a:t>
            </a:r>
            <a:endParaRPr lang="en-US" sz="800" dirty="0"/>
          </a:p>
        </p:txBody>
      </p:sp>
      <p:sp>
        <p:nvSpPr>
          <p:cNvPr id="43" name="Shape 41"/>
          <p:cNvSpPr/>
          <p:nvPr/>
        </p:nvSpPr>
        <p:spPr>
          <a:xfrm>
            <a:off x="2103120" y="4946904"/>
            <a:ext cx="5029200" cy="146304"/>
          </a:xfrm>
          <a:prstGeom prst="rect">
            <a:avLst/>
          </a:prstGeom>
          <a:solidFill>
            <a:srgbClr val="E5E9F0"/>
          </a:solidFill>
          <a:ln/>
        </p:spPr>
      </p:sp>
      <p:sp>
        <p:nvSpPr>
          <p:cNvPr id="44" name="Shape 42"/>
          <p:cNvSpPr/>
          <p:nvPr/>
        </p:nvSpPr>
        <p:spPr>
          <a:xfrm>
            <a:off x="2103120" y="4946904"/>
            <a:ext cx="1584198" cy="146304"/>
          </a:xfrm>
          <a:prstGeom prst="rect">
            <a:avLst>
              <a:gd name="adj" fmla="val 12500"/>
            </a:avLst>
          </a:prstGeom>
          <a:solidFill>
            <a:srgbClr val="D98E04"/>
          </a:solidFill>
          <a:ln/>
        </p:spPr>
      </p:sp>
      <p:sp>
        <p:nvSpPr>
          <p:cNvPr id="45" name="Text 43"/>
          <p:cNvSpPr/>
          <p:nvPr/>
        </p:nvSpPr>
        <p:spPr>
          <a:xfrm>
            <a:off x="3760470" y="4892040"/>
            <a:ext cx="548640" cy="256032"/>
          </a:xfrm>
          <a:prstGeom prst="rect">
            <a:avLst/>
          </a:prstGeom>
          <a:noFill/>
          <a:ln/>
        </p:spPr>
        <p:txBody>
          <a:bodyPr wrap="square" rtlCol="0" anchor="ctr"/>
          <a:lstStyle/>
          <a:p>
            <a:pPr indent="0" marL="0">
              <a:buNone/>
            </a:pPr>
            <a:r>
              <a:rPr lang="en-US" sz="750" b="1" dirty="0">
                <a:solidFill>
                  <a:srgbClr val="1E2A38"/>
                </a:solidFill>
                <a:latin typeface="Source Han Sans SC" pitchFamily="34" charset="0"/>
                <a:ea typeface="Source Han Sans SC" pitchFamily="34" charset="-122"/>
                <a:cs typeface="Source Han Sans SC" pitchFamily="34" charset="-120"/>
              </a:rPr>
              <a:t>31.5%</a:t>
            </a:r>
            <a:endParaRPr lang="en-US" sz="750" dirty="0"/>
          </a:p>
        </p:txBody>
      </p:sp>
      <p:sp>
        <p:nvSpPr>
          <p:cNvPr id="46" name="Text 44"/>
          <p:cNvSpPr/>
          <p:nvPr/>
        </p:nvSpPr>
        <p:spPr>
          <a:xfrm>
            <a:off x="594360" y="5221224"/>
            <a:ext cx="1371600" cy="256032"/>
          </a:xfrm>
          <a:prstGeom prst="rect">
            <a:avLst/>
          </a:prstGeom>
          <a:noFill/>
          <a:ln/>
        </p:spPr>
        <p:txBody>
          <a:bodyPr wrap="square" rtlCol="0" anchor="ctr"/>
          <a:lstStyle/>
          <a:p>
            <a:pPr algn="r" indent="0" marL="0">
              <a:buNone/>
            </a:pPr>
            <a:r>
              <a:rPr lang="en-US" sz="800" dirty="0">
                <a:solidFill>
                  <a:srgbClr val="1E2A38"/>
                </a:solidFill>
                <a:latin typeface="Source Han Sans SC" pitchFamily="34" charset="0"/>
                <a:ea typeface="Source Han Sans SC" pitchFamily="34" charset="-122"/>
                <a:cs typeface="Source Han Sans SC" pitchFamily="34" charset="-120"/>
              </a:rPr>
              <a:t>未来迷茫</a:t>
            </a:r>
            <a:endParaRPr lang="en-US" sz="800" dirty="0"/>
          </a:p>
        </p:txBody>
      </p:sp>
      <p:sp>
        <p:nvSpPr>
          <p:cNvPr id="47" name="Shape 45"/>
          <p:cNvSpPr/>
          <p:nvPr/>
        </p:nvSpPr>
        <p:spPr>
          <a:xfrm>
            <a:off x="2103120" y="5276088"/>
            <a:ext cx="5029200" cy="146304"/>
          </a:xfrm>
          <a:prstGeom prst="rect">
            <a:avLst/>
          </a:prstGeom>
          <a:solidFill>
            <a:srgbClr val="E5E9F0"/>
          </a:solidFill>
          <a:ln/>
        </p:spPr>
      </p:sp>
      <p:sp>
        <p:nvSpPr>
          <p:cNvPr id="48" name="Shape 46"/>
          <p:cNvSpPr/>
          <p:nvPr/>
        </p:nvSpPr>
        <p:spPr>
          <a:xfrm>
            <a:off x="2103120" y="5276088"/>
            <a:ext cx="1453439" cy="146304"/>
          </a:xfrm>
          <a:prstGeom prst="rect">
            <a:avLst>
              <a:gd name="adj" fmla="val 12500"/>
            </a:avLst>
          </a:prstGeom>
          <a:solidFill>
            <a:srgbClr val="8899AA"/>
          </a:solidFill>
          <a:ln/>
        </p:spPr>
      </p:sp>
      <p:sp>
        <p:nvSpPr>
          <p:cNvPr id="49" name="Text 47"/>
          <p:cNvSpPr/>
          <p:nvPr/>
        </p:nvSpPr>
        <p:spPr>
          <a:xfrm>
            <a:off x="3629711" y="5221224"/>
            <a:ext cx="548640" cy="256032"/>
          </a:xfrm>
          <a:prstGeom prst="rect">
            <a:avLst/>
          </a:prstGeom>
          <a:noFill/>
          <a:ln/>
        </p:spPr>
        <p:txBody>
          <a:bodyPr wrap="square" rtlCol="0" anchor="ctr"/>
          <a:lstStyle/>
          <a:p>
            <a:pPr indent="0" marL="0">
              <a:buNone/>
            </a:pPr>
            <a:r>
              <a:rPr lang="en-US" sz="750" b="1" dirty="0">
                <a:solidFill>
                  <a:srgbClr val="1E2A38"/>
                </a:solidFill>
                <a:latin typeface="Source Han Sans SC" pitchFamily="34" charset="0"/>
                <a:ea typeface="Source Han Sans SC" pitchFamily="34" charset="-122"/>
                <a:cs typeface="Source Han Sans SC" pitchFamily="34" charset="-120"/>
              </a:rPr>
              <a:t>28.9%</a:t>
            </a:r>
            <a:endParaRPr lang="en-US" sz="750" dirty="0"/>
          </a:p>
        </p:txBody>
      </p:sp>
      <p:sp>
        <p:nvSpPr>
          <p:cNvPr id="50" name="Text 48"/>
          <p:cNvSpPr/>
          <p:nvPr/>
        </p:nvSpPr>
        <p:spPr>
          <a:xfrm>
            <a:off x="594360" y="5989320"/>
            <a:ext cx="11000232" cy="274320"/>
          </a:xfrm>
          <a:prstGeom prst="rect">
            <a:avLst/>
          </a:prstGeom>
          <a:noFill/>
          <a:ln/>
        </p:spPr>
        <p:txBody>
          <a:bodyPr wrap="square" rtlCol="0" anchor="ctr"/>
          <a:lstStyle/>
          <a:p>
            <a:pPr indent="0" marL="0">
              <a:buNone/>
            </a:pPr>
            <a:r>
              <a:rPr lang="en-US" sz="750" dirty="0">
                <a:solidFill>
                  <a:srgbClr val="B0B8C4"/>
                </a:solidFill>
                <a:latin typeface="Source Han Sans SC" pitchFamily="34" charset="0"/>
                <a:ea typeface="Source Han Sans SC" pitchFamily="34" charset="-122"/>
                <a:cs typeface="Source Han Sans SC" pitchFamily="34" charset="-120"/>
              </a:rPr>
              <a:t>来源：本次调研 N=672</a:t>
            </a:r>
            <a:endParaRPr lang="en-US" sz="750" dirty="0"/>
          </a:p>
        </p:txBody>
      </p:sp>
      <p:sp>
        <p:nvSpPr>
          <p:cNvPr id="51" name="Shape 49"/>
          <p:cNvSpPr/>
          <p:nvPr/>
        </p:nvSpPr>
        <p:spPr>
          <a:xfrm>
            <a:off x="594360" y="5532120"/>
            <a:ext cx="11000232" cy="320040"/>
          </a:xfrm>
          <a:prstGeom prst="roundRect">
            <a:avLst>
              <a:gd name="adj" fmla="val 11429"/>
            </a:avLst>
          </a:prstGeom>
          <a:solidFill>
            <a:srgbClr val="FFFFFF"/>
          </a:solidFill>
          <a:ln w="3810">
            <a:solidFill>
              <a:srgbClr val="E5E9F0"/>
            </a:solidFill>
            <a:prstDash val="solid"/>
          </a:ln>
        </p:spPr>
      </p:sp>
      <p:sp>
        <p:nvSpPr>
          <p:cNvPr id="52" name="Text 50"/>
          <p:cNvSpPr/>
          <p:nvPr/>
        </p:nvSpPr>
        <p:spPr>
          <a:xfrm>
            <a:off x="731520" y="5532120"/>
            <a:ext cx="10725912" cy="320040"/>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数据交叉验证：本次调研数据与中科院心理所全国抽样调查结果偏差在±5%以内，表明样本具有良好的代表性。</a:t>
            </a:r>
            <a:endParaRPr lang="en-US" sz="750" dirty="0"/>
          </a:p>
        </p:txBody>
      </p:sp>
      <p:sp>
        <p:nvSpPr>
          <p:cNvPr id="53" name="Text 51"/>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5/23</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来自学生的真实声音</a:t>
            </a:r>
            <a:endParaRPr lang="en-US" sz="2400" dirty="0"/>
          </a:p>
        </p:txBody>
      </p:sp>
      <p:sp>
        <p:nvSpPr>
          <p:cNvPr id="4" name="Shape 2"/>
          <p:cNvSpPr/>
          <p:nvPr/>
        </p:nvSpPr>
        <p:spPr>
          <a:xfrm>
            <a:off x="594360" y="548640"/>
            <a:ext cx="18288" cy="5029200"/>
          </a:xfrm>
          <a:prstGeom prst="rect">
            <a:avLst/>
          </a:prstGeom>
          <a:solidFill>
            <a:srgbClr val="D98E04">
              <a:alpha val="70000"/>
            </a:srgbClr>
          </a:solidFill>
          <a:ln/>
        </p:spPr>
      </p:sp>
      <p:sp>
        <p:nvSpPr>
          <p:cNvPr id="5" name="Text 3"/>
          <p:cNvSpPr/>
          <p:nvPr/>
        </p:nvSpPr>
        <p:spPr>
          <a:xfrm>
            <a:off x="868680" y="228600"/>
            <a:ext cx="9144000" cy="320040"/>
          </a:xfrm>
          <a:prstGeom prst="rect">
            <a:avLst/>
          </a:prstGeom>
          <a:noFill/>
          <a:ln/>
        </p:spPr>
        <p:txBody>
          <a:bodyPr wrap="square" rtlCol="0" anchor="ctr"/>
          <a:lstStyle/>
          <a:p>
            <a:pPr indent="0" marL="0">
              <a:buNone/>
            </a:pPr>
            <a:r>
              <a:rPr lang="en-US" sz="1400" b="1" dirty="0">
                <a:solidFill>
                  <a:srgbClr val="D98E04"/>
                </a:solidFill>
                <a:latin typeface="Source Han Sans SC" pitchFamily="34" charset="0"/>
                <a:ea typeface="Source Han Sans SC" pitchFamily="34" charset="-122"/>
                <a:cs typeface="Source Han Sans SC" pitchFamily="34" charset="-120"/>
              </a:rPr>
              <a:t>来自学生的真实声音</a:t>
            </a:r>
            <a:endParaRPr lang="en-US" sz="1400" dirty="0"/>
          </a:p>
        </p:txBody>
      </p:sp>
      <p:sp>
        <p:nvSpPr>
          <p:cNvPr id="6" name="Shape 4"/>
          <p:cNvSpPr/>
          <p:nvPr/>
        </p:nvSpPr>
        <p:spPr>
          <a:xfrm>
            <a:off x="868680" y="777240"/>
            <a:ext cx="10241280" cy="731520"/>
          </a:xfrm>
          <a:prstGeom prst="roundRect">
            <a:avLst>
              <a:gd name="adj" fmla="val 7500"/>
            </a:avLst>
          </a:prstGeom>
          <a:solidFill>
            <a:srgbClr val="162230"/>
          </a:solidFill>
          <a:ln w="3810">
            <a:solidFill>
              <a:srgbClr val="D98E04">
                <a:alpha val="40000"/>
              </a:srgbClr>
            </a:solidFill>
            <a:prstDash val="solid"/>
          </a:ln>
        </p:spPr>
      </p:sp>
      <p:sp>
        <p:nvSpPr>
          <p:cNvPr id="7" name="Text 5"/>
          <p:cNvSpPr/>
          <p:nvPr/>
        </p:nvSpPr>
        <p:spPr>
          <a:xfrm>
            <a:off x="1143000" y="822960"/>
            <a:ext cx="9692640" cy="640080"/>
          </a:xfrm>
          <a:prstGeom prst="rect">
            <a:avLst/>
          </a:prstGeom>
          <a:noFill/>
          <a:ln/>
        </p:spPr>
        <p:txBody>
          <a:bodyPr wrap="square" rtlCol="0" anchor="ctr"/>
          <a:lstStyle/>
          <a:p>
            <a:pPr indent="0" marL="0">
              <a:lnSpc>
                <a:spcPts val="1800"/>
              </a:lnSpc>
              <a:buNone/>
            </a:pPr>
            <a:r>
              <a:rPr lang="en-US" sz="1200" dirty="0">
                <a:solidFill>
                  <a:srgbClr val="FFFFFF"/>
                </a:solidFill>
                <a:latin typeface="Source Han Sans SC" pitchFamily="34" charset="0"/>
                <a:ea typeface="Source Han Sans SC" pitchFamily="34" charset="-122"/>
                <a:cs typeface="Source Han Sans SC" pitchFamily="34" charset="-120"/>
              </a:rPr>
              <a:t>“我不敢去心理咨询室，因为怕别人觉得我有问题。”</a:t>
            </a:r>
            <a:endParaRPr lang="en-US" sz="1200" dirty="0"/>
          </a:p>
        </p:txBody>
      </p:sp>
      <p:sp>
        <p:nvSpPr>
          <p:cNvPr id="8" name="Shape 6"/>
          <p:cNvSpPr/>
          <p:nvPr/>
        </p:nvSpPr>
        <p:spPr>
          <a:xfrm>
            <a:off x="868680" y="1737360"/>
            <a:ext cx="10241280" cy="731520"/>
          </a:xfrm>
          <a:prstGeom prst="roundRect">
            <a:avLst>
              <a:gd name="adj" fmla="val 7500"/>
            </a:avLst>
          </a:prstGeom>
          <a:solidFill>
            <a:srgbClr val="162230"/>
          </a:solidFill>
          <a:ln w="3810">
            <a:solidFill>
              <a:srgbClr val="D98E04">
                <a:alpha val="40000"/>
              </a:srgbClr>
            </a:solidFill>
            <a:prstDash val="solid"/>
          </a:ln>
        </p:spPr>
      </p:sp>
      <p:sp>
        <p:nvSpPr>
          <p:cNvPr id="9" name="Text 7"/>
          <p:cNvSpPr/>
          <p:nvPr/>
        </p:nvSpPr>
        <p:spPr>
          <a:xfrm>
            <a:off x="1143000" y="1783080"/>
            <a:ext cx="9692640" cy="640080"/>
          </a:xfrm>
          <a:prstGeom prst="rect">
            <a:avLst/>
          </a:prstGeom>
          <a:noFill/>
          <a:ln/>
        </p:spPr>
        <p:txBody>
          <a:bodyPr wrap="square" rtlCol="0" anchor="ctr"/>
          <a:lstStyle/>
          <a:p>
            <a:pPr indent="0" marL="0">
              <a:lnSpc>
                <a:spcPts val="1800"/>
              </a:lnSpc>
              <a:buNone/>
            </a:pPr>
            <a:r>
              <a:rPr lang="en-US" sz="1200" dirty="0">
                <a:solidFill>
                  <a:srgbClr val="FFFFFF"/>
                </a:solidFill>
                <a:latin typeface="Source Han Sans SC" pitchFamily="34" charset="0"/>
                <a:ea typeface="Source Han Sans SC" pitchFamily="34" charset="-122"/>
                <a:cs typeface="Source Han Sans SC" pitchFamily="34" charset="-120"/>
              </a:rPr>
              <a:t>“最累的时候不是学习，而是不敢让父母失望。”</a:t>
            </a:r>
            <a:endParaRPr lang="en-US" sz="1200" dirty="0"/>
          </a:p>
        </p:txBody>
      </p:sp>
      <p:sp>
        <p:nvSpPr>
          <p:cNvPr id="10" name="Shape 8"/>
          <p:cNvSpPr/>
          <p:nvPr/>
        </p:nvSpPr>
        <p:spPr>
          <a:xfrm>
            <a:off x="868680" y="2697480"/>
            <a:ext cx="10241280" cy="731520"/>
          </a:xfrm>
          <a:prstGeom prst="roundRect">
            <a:avLst>
              <a:gd name="adj" fmla="val 7500"/>
            </a:avLst>
          </a:prstGeom>
          <a:solidFill>
            <a:srgbClr val="162230"/>
          </a:solidFill>
          <a:ln w="3810">
            <a:solidFill>
              <a:srgbClr val="D98E04">
                <a:alpha val="40000"/>
              </a:srgbClr>
            </a:solidFill>
            <a:prstDash val="solid"/>
          </a:ln>
        </p:spPr>
      </p:sp>
      <p:sp>
        <p:nvSpPr>
          <p:cNvPr id="11" name="Text 9"/>
          <p:cNvSpPr/>
          <p:nvPr/>
        </p:nvSpPr>
        <p:spPr>
          <a:xfrm>
            <a:off x="1143000" y="2743200"/>
            <a:ext cx="9692640" cy="640080"/>
          </a:xfrm>
          <a:prstGeom prst="rect">
            <a:avLst/>
          </a:prstGeom>
          <a:noFill/>
          <a:ln/>
        </p:spPr>
        <p:txBody>
          <a:bodyPr wrap="square" rtlCol="0" anchor="ctr"/>
          <a:lstStyle/>
          <a:p>
            <a:pPr indent="0" marL="0">
              <a:lnSpc>
                <a:spcPts val="1800"/>
              </a:lnSpc>
              <a:buNone/>
            </a:pPr>
            <a:r>
              <a:rPr lang="en-US" sz="1200" dirty="0">
                <a:solidFill>
                  <a:srgbClr val="FFFFFF"/>
                </a:solidFill>
                <a:latin typeface="Source Han Sans SC" pitchFamily="34" charset="0"/>
                <a:ea typeface="Source Han Sans SC" pitchFamily="34" charset="-122"/>
                <a:cs typeface="Source Han Sans SC" pitchFamily="34" charset="-120"/>
              </a:rPr>
              <a:t>“大家都在努力，但没人知道什么时候可以停下来。”</a:t>
            </a:r>
            <a:endParaRPr lang="en-US" sz="1200" dirty="0"/>
          </a:p>
        </p:txBody>
      </p:sp>
      <p:sp>
        <p:nvSpPr>
          <p:cNvPr id="12" name="Shape 10"/>
          <p:cNvSpPr/>
          <p:nvPr/>
        </p:nvSpPr>
        <p:spPr>
          <a:xfrm>
            <a:off x="868680" y="3657600"/>
            <a:ext cx="10241280" cy="731520"/>
          </a:xfrm>
          <a:prstGeom prst="roundRect">
            <a:avLst>
              <a:gd name="adj" fmla="val 7500"/>
            </a:avLst>
          </a:prstGeom>
          <a:solidFill>
            <a:srgbClr val="162230"/>
          </a:solidFill>
          <a:ln w="3810">
            <a:solidFill>
              <a:srgbClr val="D98E04">
                <a:alpha val="40000"/>
              </a:srgbClr>
            </a:solidFill>
            <a:prstDash val="solid"/>
          </a:ln>
        </p:spPr>
      </p:sp>
      <p:sp>
        <p:nvSpPr>
          <p:cNvPr id="13" name="Text 11"/>
          <p:cNvSpPr/>
          <p:nvPr/>
        </p:nvSpPr>
        <p:spPr>
          <a:xfrm>
            <a:off x="1143000" y="3703320"/>
            <a:ext cx="9692640" cy="640080"/>
          </a:xfrm>
          <a:prstGeom prst="rect">
            <a:avLst/>
          </a:prstGeom>
          <a:noFill/>
          <a:ln/>
        </p:spPr>
        <p:txBody>
          <a:bodyPr wrap="square" rtlCol="0" anchor="ctr"/>
          <a:lstStyle/>
          <a:p>
            <a:pPr indent="0" marL="0">
              <a:lnSpc>
                <a:spcPts val="1800"/>
              </a:lnSpc>
              <a:buNone/>
            </a:pPr>
            <a:r>
              <a:rPr lang="en-US" sz="1200" dirty="0">
                <a:solidFill>
                  <a:srgbClr val="FFFFFF"/>
                </a:solidFill>
                <a:latin typeface="Source Han Sans SC" pitchFamily="34" charset="0"/>
                <a:ea typeface="Source Han Sans SC" pitchFamily="34" charset="-122"/>
                <a:cs typeface="Source Han Sans SC" pitchFamily="34" charset="-120"/>
              </a:rPr>
              <a:t>“我考了年级第50名，我妈说'你还有30个可以超过'。”</a:t>
            </a:r>
            <a:endParaRPr lang="en-US" sz="1200" dirty="0"/>
          </a:p>
        </p:txBody>
      </p:sp>
      <p:sp>
        <p:nvSpPr>
          <p:cNvPr id="14" name="Shape 12"/>
          <p:cNvSpPr/>
          <p:nvPr/>
        </p:nvSpPr>
        <p:spPr>
          <a:xfrm>
            <a:off x="868680" y="4617720"/>
            <a:ext cx="10241280" cy="731520"/>
          </a:xfrm>
          <a:prstGeom prst="roundRect">
            <a:avLst>
              <a:gd name="adj" fmla="val 7500"/>
            </a:avLst>
          </a:prstGeom>
          <a:solidFill>
            <a:srgbClr val="162230"/>
          </a:solidFill>
          <a:ln w="3810">
            <a:solidFill>
              <a:srgbClr val="D98E04">
                <a:alpha val="40000"/>
              </a:srgbClr>
            </a:solidFill>
            <a:prstDash val="solid"/>
          </a:ln>
        </p:spPr>
      </p:sp>
      <p:sp>
        <p:nvSpPr>
          <p:cNvPr id="15" name="Text 13"/>
          <p:cNvSpPr/>
          <p:nvPr/>
        </p:nvSpPr>
        <p:spPr>
          <a:xfrm>
            <a:off x="1143000" y="4663440"/>
            <a:ext cx="9692640" cy="640080"/>
          </a:xfrm>
          <a:prstGeom prst="rect">
            <a:avLst/>
          </a:prstGeom>
          <a:noFill/>
          <a:ln/>
        </p:spPr>
        <p:txBody>
          <a:bodyPr wrap="square" rtlCol="0" anchor="ctr"/>
          <a:lstStyle/>
          <a:p>
            <a:pPr indent="0" marL="0">
              <a:lnSpc>
                <a:spcPts val="1800"/>
              </a:lnSpc>
              <a:buNone/>
            </a:pPr>
            <a:r>
              <a:rPr lang="en-US" sz="1200" dirty="0">
                <a:solidFill>
                  <a:srgbClr val="FFFFFF"/>
                </a:solidFill>
                <a:latin typeface="Source Han Sans SC" pitchFamily="34" charset="0"/>
                <a:ea typeface="Source Han Sans SC" pitchFamily="34" charset="-122"/>
                <a:cs typeface="Source Han Sans SC" pitchFamily="34" charset="-120"/>
              </a:rPr>
              <a:t>“心理课就是自习课，老师也不知道该讲什么。”</a:t>
            </a:r>
            <a:endParaRPr lang="en-US" sz="1200" dirty="0"/>
          </a:p>
        </p:txBody>
      </p:sp>
      <p:sp>
        <p:nvSpPr>
          <p:cNvPr id="16" name="Text 14"/>
          <p:cNvSpPr/>
          <p:nvPr/>
        </p:nvSpPr>
        <p:spPr>
          <a:xfrm>
            <a:off x="594360" y="5577840"/>
            <a:ext cx="11000232" cy="274320"/>
          </a:xfrm>
          <a:prstGeom prst="rect">
            <a:avLst/>
          </a:prstGeom>
          <a:noFill/>
          <a:ln/>
        </p:spPr>
        <p:txBody>
          <a:bodyPr wrap="square" rtlCol="0" anchor="ctr"/>
          <a:lstStyle/>
          <a:p>
            <a:pPr algn="r" indent="0" marL="0">
              <a:buNone/>
            </a:pPr>
            <a:r>
              <a:rPr lang="en-US" sz="750" dirty="0">
                <a:solidFill>
                  <a:srgbClr val="8899AA"/>
                </a:solidFill>
                <a:latin typeface="Source Han Sans SC" pitchFamily="34" charset="0"/>
                <a:ea typeface="Source Han Sans SC" pitchFamily="34" charset="-122"/>
                <a:cs typeface="Source Han Sans SC" pitchFamily="34" charset="-120"/>
              </a:rPr>
              <a:t>以上内容摘自本次调研访谈记录（2026年3月）</a:t>
            </a:r>
            <a:endParaRPr lang="en-US" sz="750" dirty="0"/>
          </a:p>
        </p:txBody>
      </p:sp>
      <p:sp>
        <p:nvSpPr>
          <p:cNvPr id="17" name="Shape 15"/>
          <p:cNvSpPr/>
          <p:nvPr/>
        </p:nvSpPr>
        <p:spPr>
          <a:xfrm>
            <a:off x="0" y="6492240"/>
            <a:ext cx="12188952" cy="365760"/>
          </a:xfrm>
          <a:prstGeom prst="rect">
            <a:avLst/>
          </a:prstGeom>
          <a:solidFill>
            <a:srgbClr val="162230"/>
          </a:solidFill>
          <a:ln/>
        </p:spPr>
      </p:sp>
      <p:sp>
        <p:nvSpPr>
          <p:cNvPr id="18" name="Text 16"/>
          <p:cNvSpPr/>
          <p:nvPr/>
        </p:nvSpPr>
        <p:spPr>
          <a:xfrm>
            <a:off x="594360" y="6492240"/>
            <a:ext cx="11000232" cy="365760"/>
          </a:xfrm>
          <a:prstGeom prst="rect">
            <a:avLst/>
          </a:prstGeom>
          <a:noFill/>
          <a:ln/>
        </p:spPr>
        <p:txBody>
          <a:bodyPr wrap="square" rtlCol="0" anchor="ctr"/>
          <a:lstStyle/>
          <a:p>
            <a:pPr algn="r" indent="0" marL="0">
              <a:buNone/>
            </a:pPr>
            <a:r>
              <a:rPr lang="en-US" sz="750" dirty="0">
                <a:solidFill>
                  <a:srgbClr val="8899AA"/>
                </a:solidFill>
                <a:latin typeface="Source Han Sans SC" pitchFamily="34" charset="0"/>
                <a:ea typeface="Source Han Sans SC" pitchFamily="34" charset="-122"/>
                <a:cs typeface="Source Han Sans SC" pitchFamily="34" charset="-120"/>
              </a:rPr>
              <a:t>哈尔滨市第三中学模拟政协提案 · 6/23</a:t>
            </a:r>
            <a:endParaRPr lang="en-US" sz="750" dirty="0"/>
          </a:p>
        </p:txBody>
      </p:sp>
      <p:sp>
        <p:nvSpPr>
          <p:cNvPr id="19" name="Text 17"/>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6/23</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哈尔滨地区高中生心理压力特点</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Local Context: Harbin</a:t>
            </a:r>
            <a:endParaRPr lang="en-US" sz="1000" dirty="0"/>
          </a:p>
        </p:txBody>
      </p:sp>
      <p:sp>
        <p:nvSpPr>
          <p:cNvPr id="5" name="Shape 3"/>
          <p:cNvSpPr/>
          <p:nvPr/>
        </p:nvSpPr>
        <p:spPr>
          <a:xfrm>
            <a:off x="594360" y="1051560"/>
            <a:ext cx="5394960" cy="1737360"/>
          </a:xfrm>
          <a:prstGeom prst="roundRect">
            <a:avLst>
              <a:gd name="adj" fmla="val 2632"/>
            </a:avLst>
          </a:prstGeom>
          <a:solidFill>
            <a:srgbClr val="FFFFFF"/>
          </a:solidFill>
          <a:ln w="6350">
            <a:solidFill>
              <a:srgbClr val="E5E9F0"/>
            </a:solidFill>
            <a:prstDash val="solid"/>
          </a:ln>
        </p:spPr>
      </p:sp>
      <p:sp>
        <p:nvSpPr>
          <p:cNvPr id="6" name="Shape 4"/>
          <p:cNvSpPr/>
          <p:nvPr/>
        </p:nvSpPr>
        <p:spPr>
          <a:xfrm>
            <a:off x="594360" y="1051560"/>
            <a:ext cx="5394960" cy="36576"/>
          </a:xfrm>
          <a:prstGeom prst="rect">
            <a:avLst/>
          </a:prstGeom>
          <a:solidFill>
            <a:srgbClr val="3A6EA5"/>
          </a:solidFill>
          <a:ln/>
        </p:spPr>
      </p:sp>
      <p:sp>
        <p:nvSpPr>
          <p:cNvPr id="7" name="Text 5"/>
          <p:cNvSpPr/>
          <p:nvPr/>
        </p:nvSpPr>
        <p:spPr>
          <a:xfrm>
            <a:off x="731520" y="1161288"/>
            <a:ext cx="5120640" cy="256032"/>
          </a:xfrm>
          <a:prstGeom prst="rect">
            <a:avLst/>
          </a:prstGeom>
          <a:noFill/>
          <a:ln/>
        </p:spPr>
        <p:txBody>
          <a:bodyPr wrap="square" rtlCol="0" anchor="ctr"/>
          <a:lstStyle/>
          <a:p>
            <a:pPr indent="0" marL="0">
              <a:buNone/>
            </a:pPr>
            <a:r>
              <a:rPr lang="en-US" sz="1000" b="1" dirty="0">
                <a:solidFill>
                  <a:srgbClr val="3A6EA5"/>
                </a:solidFill>
                <a:latin typeface="Source Han Sans SC" pitchFamily="34" charset="0"/>
                <a:ea typeface="Source Han Sans SC" pitchFamily="34" charset="-122"/>
                <a:cs typeface="Source Han Sans SC" pitchFamily="34" charset="-120"/>
              </a:rPr>
              <a:t>东北教育竞争</a:t>
            </a:r>
            <a:endParaRPr lang="en-US" sz="1000" dirty="0"/>
          </a:p>
        </p:txBody>
      </p:sp>
      <p:sp>
        <p:nvSpPr>
          <p:cNvPr id="8" name="Text 6"/>
          <p:cNvSpPr/>
          <p:nvPr/>
        </p:nvSpPr>
        <p:spPr>
          <a:xfrm>
            <a:off x="731520" y="1453896"/>
            <a:ext cx="5120640" cy="1188720"/>
          </a:xfrm>
          <a:prstGeom prst="rect">
            <a:avLst/>
          </a:prstGeom>
          <a:noFill/>
          <a:ln/>
        </p:spPr>
        <p:txBody>
          <a:bodyPr wrap="square" rtlCol="0" anchor="ctr"/>
          <a:lstStyle/>
          <a:p>
            <a:pPr indent="0" marL="0">
              <a:lnSpc>
                <a:spcPts val="1200"/>
              </a:lnSpc>
              <a:buNone/>
            </a:pPr>
            <a:r>
              <a:rPr lang="en-US" sz="800" dirty="0">
                <a:solidFill>
                  <a:srgbClr val="1E2A38"/>
                </a:solidFill>
                <a:latin typeface="Source Han Sans SC" pitchFamily="34" charset="0"/>
                <a:ea typeface="Source Han Sans SC" pitchFamily="34" charset="-122"/>
                <a:cs typeface="Source Han Sans SC" pitchFamily="34" charset="-120"/>
              </a:rPr>
              <a:t>哈尔滨作为省会城市集中了全省优质教育资源。重点高中升学竞争激烈，省重点市重点标签体系形成明显分层效应。</a:t>
            </a:r>
            <a:endParaRPr lang="en-US" sz="800" dirty="0"/>
          </a:p>
        </p:txBody>
      </p:sp>
      <p:sp>
        <p:nvSpPr>
          <p:cNvPr id="9" name="Shape 7"/>
          <p:cNvSpPr/>
          <p:nvPr/>
        </p:nvSpPr>
        <p:spPr>
          <a:xfrm>
            <a:off x="6263640" y="1051560"/>
            <a:ext cx="5394960" cy="1737360"/>
          </a:xfrm>
          <a:prstGeom prst="roundRect">
            <a:avLst>
              <a:gd name="adj" fmla="val 2632"/>
            </a:avLst>
          </a:prstGeom>
          <a:solidFill>
            <a:srgbClr val="FFFFFF"/>
          </a:solidFill>
          <a:ln w="6350">
            <a:solidFill>
              <a:srgbClr val="E5E9F0"/>
            </a:solidFill>
            <a:prstDash val="solid"/>
          </a:ln>
        </p:spPr>
      </p:sp>
      <p:sp>
        <p:nvSpPr>
          <p:cNvPr id="10" name="Shape 8"/>
          <p:cNvSpPr/>
          <p:nvPr/>
        </p:nvSpPr>
        <p:spPr>
          <a:xfrm>
            <a:off x="6263640" y="1051560"/>
            <a:ext cx="5394960" cy="36576"/>
          </a:xfrm>
          <a:prstGeom prst="rect">
            <a:avLst/>
          </a:prstGeom>
          <a:solidFill>
            <a:srgbClr val="4A8BC2"/>
          </a:solidFill>
          <a:ln/>
        </p:spPr>
      </p:sp>
      <p:sp>
        <p:nvSpPr>
          <p:cNvPr id="11" name="Text 9"/>
          <p:cNvSpPr/>
          <p:nvPr/>
        </p:nvSpPr>
        <p:spPr>
          <a:xfrm>
            <a:off x="6400800" y="1161288"/>
            <a:ext cx="5120640" cy="256032"/>
          </a:xfrm>
          <a:prstGeom prst="rect">
            <a:avLst/>
          </a:prstGeom>
          <a:noFill/>
          <a:ln/>
        </p:spPr>
        <p:txBody>
          <a:bodyPr wrap="square" rtlCol="0" anchor="ctr"/>
          <a:lstStyle/>
          <a:p>
            <a:pPr indent="0" marL="0">
              <a:buNone/>
            </a:pPr>
            <a:r>
              <a:rPr lang="en-US" sz="1000" b="1" dirty="0">
                <a:solidFill>
                  <a:srgbClr val="4A8BC2"/>
                </a:solidFill>
                <a:latin typeface="Source Han Sans SC" pitchFamily="34" charset="0"/>
                <a:ea typeface="Source Han Sans SC" pitchFamily="34" charset="-122"/>
                <a:cs typeface="Source Han Sans SC" pitchFamily="34" charset="-120"/>
              </a:rPr>
              <a:t>气候与情绪</a:t>
            </a:r>
            <a:endParaRPr lang="en-US" sz="1000" dirty="0"/>
          </a:p>
        </p:txBody>
      </p:sp>
      <p:sp>
        <p:nvSpPr>
          <p:cNvPr id="12" name="Text 10"/>
          <p:cNvSpPr/>
          <p:nvPr/>
        </p:nvSpPr>
        <p:spPr>
          <a:xfrm>
            <a:off x="6400800" y="1453896"/>
            <a:ext cx="5120640" cy="1188720"/>
          </a:xfrm>
          <a:prstGeom prst="rect">
            <a:avLst/>
          </a:prstGeom>
          <a:noFill/>
          <a:ln/>
        </p:spPr>
        <p:txBody>
          <a:bodyPr wrap="square" rtlCol="0" anchor="ctr"/>
          <a:lstStyle/>
          <a:p>
            <a:pPr indent="0" marL="0">
              <a:lnSpc>
                <a:spcPts val="1200"/>
              </a:lnSpc>
              <a:buNone/>
            </a:pPr>
            <a:r>
              <a:rPr lang="en-US" sz="800" dirty="0">
                <a:solidFill>
                  <a:srgbClr val="1E2A38"/>
                </a:solidFill>
                <a:latin typeface="Source Han Sans SC" pitchFamily="34" charset="0"/>
                <a:ea typeface="Source Han Sans SC" pitchFamily="34" charset="-122"/>
                <a:cs typeface="Source Han Sans SC" pitchFamily="34" charset="-120"/>
              </a:rPr>
              <a:t>哈尔滨冬季长达5个月，日照时间短（最低约8.5h/天），季节性情感障碍发生率高于全国均值。户外活动受限加剧情绪问题。</a:t>
            </a:r>
            <a:endParaRPr lang="en-US" sz="800" dirty="0"/>
          </a:p>
        </p:txBody>
      </p:sp>
      <p:sp>
        <p:nvSpPr>
          <p:cNvPr id="13" name="Shape 11"/>
          <p:cNvSpPr/>
          <p:nvPr/>
        </p:nvSpPr>
        <p:spPr>
          <a:xfrm>
            <a:off x="594360" y="2971800"/>
            <a:ext cx="5394960" cy="1737360"/>
          </a:xfrm>
          <a:prstGeom prst="roundRect">
            <a:avLst>
              <a:gd name="adj" fmla="val 2632"/>
            </a:avLst>
          </a:prstGeom>
          <a:solidFill>
            <a:srgbClr val="FFFFFF"/>
          </a:solidFill>
          <a:ln w="6350">
            <a:solidFill>
              <a:srgbClr val="E5E9F0"/>
            </a:solidFill>
            <a:prstDash val="solid"/>
          </a:ln>
        </p:spPr>
      </p:sp>
      <p:sp>
        <p:nvSpPr>
          <p:cNvPr id="14" name="Shape 12"/>
          <p:cNvSpPr/>
          <p:nvPr/>
        </p:nvSpPr>
        <p:spPr>
          <a:xfrm>
            <a:off x="594360" y="2971800"/>
            <a:ext cx="5394960" cy="36576"/>
          </a:xfrm>
          <a:prstGeom prst="rect">
            <a:avLst/>
          </a:prstGeom>
          <a:solidFill>
            <a:srgbClr val="5C9BD4"/>
          </a:solidFill>
          <a:ln/>
        </p:spPr>
      </p:sp>
      <p:sp>
        <p:nvSpPr>
          <p:cNvPr id="15" name="Text 13"/>
          <p:cNvSpPr/>
          <p:nvPr/>
        </p:nvSpPr>
        <p:spPr>
          <a:xfrm>
            <a:off x="731520" y="3081528"/>
            <a:ext cx="5120640" cy="256032"/>
          </a:xfrm>
          <a:prstGeom prst="rect">
            <a:avLst/>
          </a:prstGeom>
          <a:noFill/>
          <a:ln/>
        </p:spPr>
        <p:txBody>
          <a:bodyPr wrap="square" rtlCol="0" anchor="ctr"/>
          <a:lstStyle/>
          <a:p>
            <a:pPr indent="0" marL="0">
              <a:buNone/>
            </a:pPr>
            <a:r>
              <a:rPr lang="en-US" sz="1000" b="1" dirty="0">
                <a:solidFill>
                  <a:srgbClr val="5C9BD4"/>
                </a:solidFill>
                <a:latin typeface="Source Han Sans SC" pitchFamily="34" charset="0"/>
                <a:ea typeface="Source Han Sans SC" pitchFamily="34" charset="-122"/>
                <a:cs typeface="Source Han Sans SC" pitchFamily="34" charset="-120"/>
              </a:rPr>
              <a:t>寄宿制压力</a:t>
            </a:r>
            <a:endParaRPr lang="en-US" sz="1000" dirty="0"/>
          </a:p>
        </p:txBody>
      </p:sp>
      <p:sp>
        <p:nvSpPr>
          <p:cNvPr id="16" name="Text 14"/>
          <p:cNvSpPr/>
          <p:nvPr/>
        </p:nvSpPr>
        <p:spPr>
          <a:xfrm>
            <a:off x="731520" y="3374136"/>
            <a:ext cx="5120640" cy="1188720"/>
          </a:xfrm>
          <a:prstGeom prst="rect">
            <a:avLst/>
          </a:prstGeom>
          <a:noFill/>
          <a:ln/>
        </p:spPr>
        <p:txBody>
          <a:bodyPr wrap="square" rtlCol="0" anchor="ctr"/>
          <a:lstStyle/>
          <a:p>
            <a:pPr indent="0" marL="0">
              <a:lnSpc>
                <a:spcPts val="1200"/>
              </a:lnSpc>
              <a:buNone/>
            </a:pPr>
            <a:r>
              <a:rPr lang="en-US" sz="800" dirty="0">
                <a:solidFill>
                  <a:srgbClr val="1E2A38"/>
                </a:solidFill>
                <a:latin typeface="Source Han Sans SC" pitchFamily="34" charset="0"/>
                <a:ea typeface="Source Han Sans SC" pitchFamily="34" charset="-122"/>
                <a:cs typeface="Source Han Sans SC" pitchFamily="34" charset="-120"/>
              </a:rPr>
              <a:t>多所重点高中实行寄宿制或半寄宿制，脱离家庭支持环境、宿舍人际关系、作息严格管控等因素叠加形成独特的压力场域。</a:t>
            </a:r>
            <a:endParaRPr lang="en-US" sz="800" dirty="0"/>
          </a:p>
        </p:txBody>
      </p:sp>
      <p:sp>
        <p:nvSpPr>
          <p:cNvPr id="17" name="Shape 15"/>
          <p:cNvSpPr/>
          <p:nvPr/>
        </p:nvSpPr>
        <p:spPr>
          <a:xfrm>
            <a:off x="6263640" y="2971800"/>
            <a:ext cx="5394960" cy="1737360"/>
          </a:xfrm>
          <a:prstGeom prst="roundRect">
            <a:avLst>
              <a:gd name="adj" fmla="val 2632"/>
            </a:avLst>
          </a:prstGeom>
          <a:solidFill>
            <a:srgbClr val="FFFFFF"/>
          </a:solidFill>
          <a:ln w="6350">
            <a:solidFill>
              <a:srgbClr val="E5E9F0"/>
            </a:solidFill>
            <a:prstDash val="solid"/>
          </a:ln>
        </p:spPr>
      </p:sp>
      <p:sp>
        <p:nvSpPr>
          <p:cNvPr id="18" name="Shape 16"/>
          <p:cNvSpPr/>
          <p:nvPr/>
        </p:nvSpPr>
        <p:spPr>
          <a:xfrm>
            <a:off x="6263640" y="2971800"/>
            <a:ext cx="5394960" cy="36576"/>
          </a:xfrm>
          <a:prstGeom prst="rect">
            <a:avLst/>
          </a:prstGeom>
          <a:solidFill>
            <a:srgbClr val="6DA8E0"/>
          </a:solidFill>
          <a:ln/>
        </p:spPr>
      </p:sp>
      <p:sp>
        <p:nvSpPr>
          <p:cNvPr id="19" name="Text 17"/>
          <p:cNvSpPr/>
          <p:nvPr/>
        </p:nvSpPr>
        <p:spPr>
          <a:xfrm>
            <a:off x="6400800" y="3081528"/>
            <a:ext cx="5120640" cy="256032"/>
          </a:xfrm>
          <a:prstGeom prst="rect">
            <a:avLst/>
          </a:prstGeom>
          <a:noFill/>
          <a:ln/>
        </p:spPr>
        <p:txBody>
          <a:bodyPr wrap="square" rtlCol="0" anchor="ctr"/>
          <a:lstStyle/>
          <a:p>
            <a:pPr indent="0" marL="0">
              <a:buNone/>
            </a:pPr>
            <a:r>
              <a:rPr lang="en-US" sz="1000" b="1" dirty="0">
                <a:solidFill>
                  <a:srgbClr val="6DA8E0"/>
                </a:solidFill>
                <a:latin typeface="Source Han Sans SC" pitchFamily="34" charset="0"/>
                <a:ea typeface="Source Han Sans SC" pitchFamily="34" charset="-122"/>
                <a:cs typeface="Source Han Sans SC" pitchFamily="34" charset="-120"/>
              </a:rPr>
              <a:t>传统教育观念</a:t>
            </a:r>
            <a:endParaRPr lang="en-US" sz="1000" dirty="0"/>
          </a:p>
        </p:txBody>
      </p:sp>
      <p:sp>
        <p:nvSpPr>
          <p:cNvPr id="20" name="Text 18"/>
          <p:cNvSpPr/>
          <p:nvPr/>
        </p:nvSpPr>
        <p:spPr>
          <a:xfrm>
            <a:off x="6400800" y="3374136"/>
            <a:ext cx="5120640" cy="1188720"/>
          </a:xfrm>
          <a:prstGeom prst="rect">
            <a:avLst/>
          </a:prstGeom>
          <a:noFill/>
          <a:ln/>
        </p:spPr>
        <p:txBody>
          <a:bodyPr wrap="square" rtlCol="0" anchor="ctr"/>
          <a:lstStyle/>
          <a:p>
            <a:pPr indent="0" marL="0">
              <a:lnSpc>
                <a:spcPts val="1200"/>
              </a:lnSpc>
              <a:buNone/>
            </a:pPr>
            <a:r>
              <a:rPr lang="en-US" sz="800" dirty="0">
                <a:solidFill>
                  <a:srgbClr val="1E2A38"/>
                </a:solidFill>
                <a:latin typeface="Source Han Sans SC" pitchFamily="34" charset="0"/>
                <a:ea typeface="Source Han Sans SC" pitchFamily="34" charset="-122"/>
                <a:cs typeface="Source Han Sans SC" pitchFamily="34" charset="-120"/>
              </a:rPr>
              <a:t>哈尔滨作为老工业基地，传统稳定职业路径观念仍在。家长期望与当下多元就业现实存在张力，焦虑由此传导至子女。</a:t>
            </a:r>
            <a:endParaRPr lang="en-US" sz="800" dirty="0"/>
          </a:p>
        </p:txBody>
      </p:sp>
      <p:sp>
        <p:nvSpPr>
          <p:cNvPr id="21" name="Shape 19"/>
          <p:cNvSpPr/>
          <p:nvPr/>
        </p:nvSpPr>
        <p:spPr>
          <a:xfrm>
            <a:off x="594360" y="4937760"/>
            <a:ext cx="11000232" cy="9144"/>
          </a:xfrm>
          <a:prstGeom prst="rect">
            <a:avLst/>
          </a:prstGeom>
          <a:solidFill>
            <a:srgbClr val="E5E9F0"/>
          </a:solidFill>
          <a:ln/>
        </p:spPr>
      </p:sp>
      <p:sp>
        <p:nvSpPr>
          <p:cNvPr id="22" name="Text 20"/>
          <p:cNvSpPr/>
          <p:nvPr/>
        </p:nvSpPr>
        <p:spPr>
          <a:xfrm>
            <a:off x="594360" y="5029200"/>
            <a:ext cx="2468880" cy="320040"/>
          </a:xfrm>
          <a:prstGeom prst="rect">
            <a:avLst/>
          </a:prstGeom>
          <a:noFill/>
          <a:ln/>
        </p:spPr>
        <p:txBody>
          <a:bodyPr wrap="square" rtlCol="0" anchor="ctr"/>
          <a:lstStyle/>
          <a:p>
            <a:pPr algn="ctr" indent="0" marL="0">
              <a:buNone/>
            </a:pPr>
            <a:r>
              <a:rPr lang="en-US" sz="1700" b="1" dirty="0">
                <a:solidFill>
                  <a:srgbClr val="3A6EA5"/>
                </a:solidFill>
                <a:latin typeface="Source Han Sans SC" pitchFamily="34" charset="0"/>
                <a:ea typeface="Source Han Sans SC" pitchFamily="34" charset="-122"/>
                <a:cs typeface="Source Han Sans SC" pitchFamily="34" charset="-120"/>
              </a:rPr>
              <a:t>11.2h</a:t>
            </a:r>
            <a:endParaRPr lang="en-US" sz="1700" dirty="0"/>
          </a:p>
        </p:txBody>
      </p:sp>
      <p:sp>
        <p:nvSpPr>
          <p:cNvPr id="23" name="Text 21"/>
          <p:cNvSpPr/>
          <p:nvPr/>
        </p:nvSpPr>
        <p:spPr>
          <a:xfrm>
            <a:off x="594360" y="5349240"/>
            <a:ext cx="2468880" cy="274320"/>
          </a:xfrm>
          <a:prstGeom prst="rect">
            <a:avLst/>
          </a:prstGeom>
          <a:noFill/>
          <a:ln/>
        </p:spPr>
        <p:txBody>
          <a:bodyPr wrap="square" rtlCol="0" anchor="ctr"/>
          <a:lstStyle/>
          <a:p>
            <a:pPr algn="ctr" indent="0" marL="0">
              <a:buNone/>
            </a:pPr>
            <a:r>
              <a:rPr lang="en-US" sz="700" dirty="0">
                <a:solidFill>
                  <a:srgbClr val="8899AA"/>
                </a:solidFill>
                <a:latin typeface="Source Han Sans SC" pitchFamily="34" charset="0"/>
                <a:ea typeface="Source Han Sans SC" pitchFamily="34" charset="-122"/>
                <a:cs typeface="Source Han Sans SC" pitchFamily="34" charset="-120"/>
              </a:rPr>
              <a:t>哈尔滨高中生日均学习时长</a:t>
            </a:r>
            <a:endParaRPr lang="en-US" sz="700" dirty="0"/>
          </a:p>
        </p:txBody>
      </p:sp>
      <p:sp>
        <p:nvSpPr>
          <p:cNvPr id="24" name="Text 22"/>
          <p:cNvSpPr/>
          <p:nvPr/>
        </p:nvSpPr>
        <p:spPr>
          <a:xfrm>
            <a:off x="3337560" y="5029200"/>
            <a:ext cx="2468880" cy="320040"/>
          </a:xfrm>
          <a:prstGeom prst="rect">
            <a:avLst/>
          </a:prstGeom>
          <a:noFill/>
          <a:ln/>
        </p:spPr>
        <p:txBody>
          <a:bodyPr wrap="square" rtlCol="0" anchor="ctr"/>
          <a:lstStyle/>
          <a:p>
            <a:pPr algn="ctr" indent="0" marL="0">
              <a:buNone/>
            </a:pPr>
            <a:r>
              <a:rPr lang="en-US" sz="1700" b="1" dirty="0">
                <a:solidFill>
                  <a:srgbClr val="3A6EA5"/>
                </a:solidFill>
                <a:latin typeface="Source Han Sans SC" pitchFamily="34" charset="0"/>
                <a:ea typeface="Source Han Sans SC" pitchFamily="34" charset="-122"/>
                <a:cs typeface="Source Han Sans SC" pitchFamily="34" charset="-120"/>
              </a:rPr>
              <a:t>37.6%</a:t>
            </a:r>
            <a:endParaRPr lang="en-US" sz="1700" dirty="0"/>
          </a:p>
        </p:txBody>
      </p:sp>
      <p:sp>
        <p:nvSpPr>
          <p:cNvPr id="25" name="Text 23"/>
          <p:cNvSpPr/>
          <p:nvPr/>
        </p:nvSpPr>
        <p:spPr>
          <a:xfrm>
            <a:off x="3337560" y="5349240"/>
            <a:ext cx="2468880" cy="274320"/>
          </a:xfrm>
          <a:prstGeom prst="rect">
            <a:avLst/>
          </a:prstGeom>
          <a:noFill/>
          <a:ln/>
        </p:spPr>
        <p:txBody>
          <a:bodyPr wrap="square" rtlCol="0" anchor="ctr"/>
          <a:lstStyle/>
          <a:p>
            <a:pPr algn="ctr" indent="0" marL="0">
              <a:buNone/>
            </a:pPr>
            <a:r>
              <a:rPr lang="en-US" sz="700" dirty="0">
                <a:solidFill>
                  <a:srgbClr val="8899AA"/>
                </a:solidFill>
                <a:latin typeface="Source Han Sans SC" pitchFamily="34" charset="0"/>
                <a:ea typeface="Source Han Sans SC" pitchFamily="34" charset="-122"/>
                <a:cs typeface="Source Han Sans SC" pitchFamily="34" charset="-120"/>
              </a:rPr>
              <a:t>冬季抑郁情绪自评比例</a:t>
            </a:r>
            <a:endParaRPr lang="en-US" sz="700" dirty="0"/>
          </a:p>
        </p:txBody>
      </p:sp>
      <p:sp>
        <p:nvSpPr>
          <p:cNvPr id="26" name="Text 24"/>
          <p:cNvSpPr/>
          <p:nvPr/>
        </p:nvSpPr>
        <p:spPr>
          <a:xfrm>
            <a:off x="6080760" y="5029200"/>
            <a:ext cx="2468880" cy="320040"/>
          </a:xfrm>
          <a:prstGeom prst="rect">
            <a:avLst/>
          </a:prstGeom>
          <a:noFill/>
          <a:ln/>
        </p:spPr>
        <p:txBody>
          <a:bodyPr wrap="square" rtlCol="0" anchor="ctr"/>
          <a:lstStyle/>
          <a:p>
            <a:pPr algn="ctr" indent="0" marL="0">
              <a:buNone/>
            </a:pPr>
            <a:r>
              <a:rPr lang="en-US" sz="1700" b="1" dirty="0">
                <a:solidFill>
                  <a:srgbClr val="3A6EA5"/>
                </a:solidFill>
                <a:latin typeface="Source Han Sans SC" pitchFamily="34" charset="0"/>
                <a:ea typeface="Source Han Sans SC" pitchFamily="34" charset="-122"/>
                <a:cs typeface="Source Han Sans SC" pitchFamily="34" charset="-120"/>
              </a:rPr>
              <a:t>低于走读生18%</a:t>
            </a:r>
            <a:endParaRPr lang="en-US" sz="1700" dirty="0"/>
          </a:p>
        </p:txBody>
      </p:sp>
      <p:sp>
        <p:nvSpPr>
          <p:cNvPr id="27" name="Text 25"/>
          <p:cNvSpPr/>
          <p:nvPr/>
        </p:nvSpPr>
        <p:spPr>
          <a:xfrm>
            <a:off x="6080760" y="5349240"/>
            <a:ext cx="2468880" cy="274320"/>
          </a:xfrm>
          <a:prstGeom prst="rect">
            <a:avLst/>
          </a:prstGeom>
          <a:noFill/>
          <a:ln/>
        </p:spPr>
        <p:txBody>
          <a:bodyPr wrap="square" rtlCol="0" anchor="ctr"/>
          <a:lstStyle/>
          <a:p>
            <a:pPr algn="ctr" indent="0" marL="0">
              <a:buNone/>
            </a:pPr>
            <a:r>
              <a:rPr lang="en-US" sz="700" dirty="0">
                <a:solidFill>
                  <a:srgbClr val="8899AA"/>
                </a:solidFill>
                <a:latin typeface="Source Han Sans SC" pitchFamily="34" charset="0"/>
                <a:ea typeface="Source Han Sans SC" pitchFamily="34" charset="-122"/>
                <a:cs typeface="Source Han Sans SC" pitchFamily="34" charset="-120"/>
              </a:rPr>
              <a:t>寄宿生心理求助意愿</a:t>
            </a:r>
            <a:endParaRPr lang="en-US" sz="700" dirty="0"/>
          </a:p>
        </p:txBody>
      </p:sp>
      <p:sp>
        <p:nvSpPr>
          <p:cNvPr id="28" name="Text 26"/>
          <p:cNvSpPr/>
          <p:nvPr/>
        </p:nvSpPr>
        <p:spPr>
          <a:xfrm>
            <a:off x="8823960" y="5029200"/>
            <a:ext cx="2468880" cy="320040"/>
          </a:xfrm>
          <a:prstGeom prst="rect">
            <a:avLst/>
          </a:prstGeom>
          <a:noFill/>
          <a:ln/>
        </p:spPr>
        <p:txBody>
          <a:bodyPr wrap="square" rtlCol="0" anchor="ctr"/>
          <a:lstStyle/>
          <a:p>
            <a:pPr algn="ctr" indent="0" marL="0">
              <a:buNone/>
            </a:pPr>
            <a:r>
              <a:rPr lang="en-US" sz="1700" b="1" dirty="0">
                <a:solidFill>
                  <a:srgbClr val="3A6EA5"/>
                </a:solidFill>
                <a:latin typeface="Source Han Sans SC" pitchFamily="34" charset="0"/>
                <a:ea typeface="Source Han Sans SC" pitchFamily="34" charset="-122"/>
                <a:cs typeface="Source Han Sans SC" pitchFamily="34" charset="-120"/>
              </a:rPr>
              <a:t>32.1%</a:t>
            </a:r>
            <a:endParaRPr lang="en-US" sz="1700" dirty="0"/>
          </a:p>
        </p:txBody>
      </p:sp>
      <p:sp>
        <p:nvSpPr>
          <p:cNvPr id="29" name="Text 27"/>
          <p:cNvSpPr/>
          <p:nvPr/>
        </p:nvSpPr>
        <p:spPr>
          <a:xfrm>
            <a:off x="8823960" y="5349240"/>
            <a:ext cx="2468880" cy="274320"/>
          </a:xfrm>
          <a:prstGeom prst="rect">
            <a:avLst/>
          </a:prstGeom>
          <a:noFill/>
          <a:ln/>
        </p:spPr>
        <p:txBody>
          <a:bodyPr wrap="square" rtlCol="0" anchor="ctr"/>
          <a:lstStyle/>
          <a:p>
            <a:pPr algn="ctr" indent="0" marL="0">
              <a:buNone/>
            </a:pPr>
            <a:r>
              <a:rPr lang="en-US" sz="700" dirty="0">
                <a:solidFill>
                  <a:srgbClr val="8899AA"/>
                </a:solidFill>
                <a:latin typeface="Source Han Sans SC" pitchFamily="34" charset="0"/>
                <a:ea typeface="Source Han Sans SC" pitchFamily="34" charset="-122"/>
                <a:cs typeface="Source Han Sans SC" pitchFamily="34" charset="-120"/>
              </a:rPr>
              <a:t>家长期望与子女意愿一致性</a:t>
            </a:r>
            <a:endParaRPr lang="en-US" sz="700" dirty="0"/>
          </a:p>
        </p:txBody>
      </p:sp>
      <p:sp>
        <p:nvSpPr>
          <p:cNvPr id="30" name="Shape 28"/>
          <p:cNvSpPr/>
          <p:nvPr/>
        </p:nvSpPr>
        <p:spPr>
          <a:xfrm>
            <a:off x="594360" y="5806440"/>
            <a:ext cx="11000232" cy="502920"/>
          </a:xfrm>
          <a:prstGeom prst="roundRect">
            <a:avLst>
              <a:gd name="adj" fmla="val 7273"/>
            </a:avLst>
          </a:prstGeom>
          <a:solidFill>
            <a:srgbClr val="1E2A38"/>
          </a:solidFill>
          <a:ln/>
        </p:spPr>
      </p:sp>
      <p:sp>
        <p:nvSpPr>
          <p:cNvPr id="31" name="Text 29"/>
          <p:cNvSpPr/>
          <p:nvPr/>
        </p:nvSpPr>
        <p:spPr>
          <a:xfrm>
            <a:off x="777240" y="5806440"/>
            <a:ext cx="10634472" cy="502920"/>
          </a:xfrm>
          <a:prstGeom prst="rect">
            <a:avLst/>
          </a:prstGeom>
          <a:noFill/>
          <a:ln/>
        </p:spPr>
        <p:txBody>
          <a:bodyPr wrap="square" rtlCol="0" anchor="ctr"/>
          <a:lstStyle/>
          <a:p>
            <a:pPr indent="0" marL="0">
              <a:lnSpc>
                <a:spcPts val="1200"/>
              </a:lnSpc>
              <a:buNone/>
            </a:pPr>
            <a:r>
              <a:rPr lang="en-US" sz="800" dirty="0">
                <a:solidFill>
                  <a:srgbClr val="FFFFFF"/>
                </a:solidFill>
                <a:latin typeface="Source Han Sans SC" pitchFamily="34" charset="0"/>
                <a:ea typeface="Source Han Sans SC" pitchFamily="34" charset="-122"/>
                <a:cs typeface="Source Han Sans SC" pitchFamily="34" charset="-120"/>
              </a:rPr>
              <a:t>哈尔滨的特殊性在于：高强度学业竞争、极端气候条件、传统教育观念三重叠加。心理健康支持体系建设不能简单复制南方或一线城市模式。</a:t>
            </a:r>
            <a:endParaRPr lang="en-US" sz="800" dirty="0"/>
          </a:p>
        </p:txBody>
      </p:sp>
      <p:sp>
        <p:nvSpPr>
          <p:cNvPr id="32" name="Text 30"/>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7/23</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典型案例分析</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Case Study</a:t>
            </a:r>
            <a:endParaRPr lang="en-US" sz="1000" dirty="0"/>
          </a:p>
        </p:txBody>
      </p:sp>
      <p:sp>
        <p:nvSpPr>
          <p:cNvPr id="5" name="Shape 3"/>
          <p:cNvSpPr/>
          <p:nvPr/>
        </p:nvSpPr>
        <p:spPr>
          <a:xfrm>
            <a:off x="594360" y="1051560"/>
            <a:ext cx="5394960" cy="4572000"/>
          </a:xfrm>
          <a:prstGeom prst="roundRect">
            <a:avLst>
              <a:gd name="adj" fmla="val 1000"/>
            </a:avLst>
          </a:prstGeom>
          <a:solidFill>
            <a:srgbClr val="FFFFFF"/>
          </a:solidFill>
          <a:ln w="6350">
            <a:solidFill>
              <a:srgbClr val="E5E9F0"/>
            </a:solidFill>
            <a:prstDash val="solid"/>
          </a:ln>
        </p:spPr>
      </p:sp>
      <p:sp>
        <p:nvSpPr>
          <p:cNvPr id="6" name="Shape 4"/>
          <p:cNvSpPr/>
          <p:nvPr/>
        </p:nvSpPr>
        <p:spPr>
          <a:xfrm>
            <a:off x="594360" y="1051560"/>
            <a:ext cx="5394960" cy="320040"/>
          </a:xfrm>
          <a:prstGeom prst="rect">
            <a:avLst/>
          </a:prstGeom>
          <a:solidFill>
            <a:srgbClr val="1E2A38"/>
          </a:solidFill>
          <a:ln/>
        </p:spPr>
      </p:sp>
      <p:sp>
        <p:nvSpPr>
          <p:cNvPr id="7" name="Text 5"/>
          <p:cNvSpPr/>
          <p:nvPr/>
        </p:nvSpPr>
        <p:spPr>
          <a:xfrm>
            <a:off x="731520" y="1051560"/>
            <a:ext cx="5120640" cy="320040"/>
          </a:xfrm>
          <a:prstGeom prst="rect">
            <a:avLst/>
          </a:prstGeom>
          <a:noFill/>
          <a:ln/>
        </p:spPr>
        <p:txBody>
          <a:bodyPr wrap="square" rtlCol="0" anchor="ctr"/>
          <a:lstStyle/>
          <a:p>
            <a:pPr indent="0" marL="0">
              <a:buNone/>
            </a:pPr>
            <a:r>
              <a:rPr lang="en-US" sz="950" b="1" dirty="0">
                <a:solidFill>
                  <a:srgbClr val="FFFFFF"/>
                </a:solidFill>
                <a:latin typeface="Source Han Sans SC" pitchFamily="34" charset="0"/>
                <a:ea typeface="Source Han Sans SC" pitchFamily="34" charset="-122"/>
                <a:cs typeface="Source Han Sans SC" pitchFamily="34" charset="-120"/>
              </a:rPr>
              <a:t>绩优生的隐性焦虑</a:t>
            </a:r>
            <a:endParaRPr lang="en-US" sz="950" dirty="0"/>
          </a:p>
        </p:txBody>
      </p:sp>
      <p:sp>
        <p:nvSpPr>
          <p:cNvPr id="8" name="Text 6"/>
          <p:cNvSpPr/>
          <p:nvPr/>
        </p:nvSpPr>
        <p:spPr>
          <a:xfrm>
            <a:off x="731520" y="1463040"/>
            <a:ext cx="1097280" cy="182880"/>
          </a:xfrm>
          <a:prstGeom prst="rect">
            <a:avLst/>
          </a:prstGeom>
          <a:noFill/>
          <a:ln/>
        </p:spPr>
        <p:txBody>
          <a:bodyPr wrap="square" rtlCol="0" anchor="ctr"/>
          <a:lstStyle/>
          <a:p>
            <a:pPr indent="0" marL="0">
              <a:buNone/>
            </a:pPr>
            <a:r>
              <a:rPr lang="en-US" sz="750" b="1" dirty="0">
                <a:solidFill>
                  <a:srgbClr val="3A6EA5"/>
                </a:solidFill>
                <a:latin typeface="Source Han Sans SC" pitchFamily="34" charset="0"/>
                <a:ea typeface="Source Han Sans SC" pitchFamily="34" charset="-122"/>
                <a:cs typeface="Source Han Sans SC" pitchFamily="34" charset="-120"/>
              </a:rPr>
              <a:t>情境</a:t>
            </a:r>
            <a:endParaRPr lang="en-US" sz="750" dirty="0"/>
          </a:p>
        </p:txBody>
      </p:sp>
      <p:sp>
        <p:nvSpPr>
          <p:cNvPr id="9" name="Text 7"/>
          <p:cNvSpPr/>
          <p:nvPr/>
        </p:nvSpPr>
        <p:spPr>
          <a:xfrm>
            <a:off x="731520" y="1645920"/>
            <a:ext cx="5120640" cy="822960"/>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某省重点高中高二学生李某（化名），成绩稳居年级前15%，近半年来每逢月考前后出现失眠、心悸等症状。始终未向任何人提及，也未寻求过任何形式的心理帮助。直到某次月考中途出现惊恐发作，才被班主任发现。</a:t>
            </a:r>
            <a:endParaRPr lang="en-US" sz="750" dirty="0"/>
          </a:p>
        </p:txBody>
      </p:sp>
      <p:sp>
        <p:nvSpPr>
          <p:cNvPr id="10" name="Shape 8"/>
          <p:cNvSpPr/>
          <p:nvPr/>
        </p:nvSpPr>
        <p:spPr>
          <a:xfrm>
            <a:off x="685800" y="2606040"/>
            <a:ext cx="5212080" cy="9144"/>
          </a:xfrm>
          <a:prstGeom prst="rect">
            <a:avLst/>
          </a:prstGeom>
          <a:solidFill>
            <a:srgbClr val="E5E9F0"/>
          </a:solidFill>
          <a:ln/>
        </p:spPr>
      </p:sp>
      <p:sp>
        <p:nvSpPr>
          <p:cNvPr id="11" name="Text 9"/>
          <p:cNvSpPr/>
          <p:nvPr/>
        </p:nvSpPr>
        <p:spPr>
          <a:xfrm>
            <a:off x="731520" y="2651760"/>
            <a:ext cx="1371600" cy="182880"/>
          </a:xfrm>
          <a:prstGeom prst="rect">
            <a:avLst/>
          </a:prstGeom>
          <a:noFill/>
          <a:ln/>
        </p:spPr>
        <p:txBody>
          <a:bodyPr wrap="square" rtlCol="0" anchor="ctr"/>
          <a:lstStyle/>
          <a:p>
            <a:pPr indent="0" marL="0">
              <a:buNone/>
            </a:pPr>
            <a:r>
              <a:rPr lang="en-US" sz="750" b="1" dirty="0">
                <a:solidFill>
                  <a:srgbClr val="D98E04"/>
                </a:solidFill>
                <a:latin typeface="Source Han Sans SC" pitchFamily="34" charset="0"/>
                <a:ea typeface="Source Han Sans SC" pitchFamily="34" charset="-122"/>
                <a:cs typeface="Source Han Sans SC" pitchFamily="34" charset="-120"/>
              </a:rPr>
              <a:t>关联数据</a:t>
            </a:r>
            <a:endParaRPr lang="en-US" sz="750" dirty="0"/>
          </a:p>
        </p:txBody>
      </p:sp>
      <p:sp>
        <p:nvSpPr>
          <p:cNvPr id="12" name="Shape 10"/>
          <p:cNvSpPr/>
          <p:nvPr/>
        </p:nvSpPr>
        <p:spPr>
          <a:xfrm>
            <a:off x="731520" y="2834640"/>
            <a:ext cx="5120640" cy="320040"/>
          </a:xfrm>
          <a:prstGeom prst="roundRect">
            <a:avLst>
              <a:gd name="adj" fmla="val 11429"/>
            </a:avLst>
          </a:prstGeom>
          <a:solidFill>
            <a:srgbClr val="FFF8F0"/>
          </a:solidFill>
          <a:ln w="3810">
            <a:solidFill>
              <a:srgbClr val="D98E04"/>
            </a:solidFill>
            <a:prstDash val="solid"/>
          </a:ln>
        </p:spPr>
      </p:sp>
      <p:sp>
        <p:nvSpPr>
          <p:cNvPr id="13" name="Text 11"/>
          <p:cNvSpPr/>
          <p:nvPr/>
        </p:nvSpPr>
        <p:spPr>
          <a:xfrm>
            <a:off x="868680" y="2834640"/>
            <a:ext cx="4846320" cy="320040"/>
          </a:xfrm>
          <a:prstGeom prst="rect">
            <a:avLst/>
          </a:prstGeom>
          <a:noFill/>
          <a:ln/>
        </p:spPr>
        <p:txBody>
          <a:bodyPr wrap="square" rtlCol="0" anchor="ctr"/>
          <a:lstStyle/>
          <a:p>
            <a:pPr indent="0" marL="0">
              <a:buNone/>
            </a:pPr>
            <a:r>
              <a:rPr lang="en-US" sz="700" dirty="0">
                <a:solidFill>
                  <a:srgbClr val="1E2A38"/>
                </a:solidFill>
                <a:latin typeface="Source Han Sans SC" pitchFamily="34" charset="0"/>
                <a:ea typeface="Source Han Sans SC" pitchFamily="34" charset="-122"/>
                <a:cs typeface="Source Han Sans SC" pitchFamily="34" charset="-120"/>
              </a:rPr>
              <a:t>该校68.3%学生自述存在考前严重焦虑；绩优生群体中该比例为71.2%，高于年级均值。</a:t>
            </a:r>
            <a:endParaRPr lang="en-US" sz="700" dirty="0"/>
          </a:p>
        </p:txBody>
      </p:sp>
      <p:sp>
        <p:nvSpPr>
          <p:cNvPr id="14" name="Shape 12"/>
          <p:cNvSpPr/>
          <p:nvPr/>
        </p:nvSpPr>
        <p:spPr>
          <a:xfrm>
            <a:off x="685800" y="3291840"/>
            <a:ext cx="5212080" cy="9144"/>
          </a:xfrm>
          <a:prstGeom prst="rect">
            <a:avLst/>
          </a:prstGeom>
          <a:solidFill>
            <a:srgbClr val="E5E9F0"/>
          </a:solidFill>
          <a:ln/>
        </p:spPr>
      </p:sp>
      <p:sp>
        <p:nvSpPr>
          <p:cNvPr id="15" name="Text 13"/>
          <p:cNvSpPr/>
          <p:nvPr/>
        </p:nvSpPr>
        <p:spPr>
          <a:xfrm>
            <a:off x="731520" y="3337560"/>
            <a:ext cx="914400" cy="182880"/>
          </a:xfrm>
          <a:prstGeom prst="rect">
            <a:avLst/>
          </a:prstGeom>
          <a:noFill/>
          <a:ln/>
        </p:spPr>
        <p:txBody>
          <a:bodyPr wrap="square" rtlCol="0" anchor="ctr"/>
          <a:lstStyle/>
          <a:p>
            <a:pPr indent="0" marL="0">
              <a:buNone/>
            </a:pPr>
            <a:r>
              <a:rPr lang="en-US" sz="750" b="1" dirty="0">
                <a:solidFill>
                  <a:srgbClr val="1E2A38"/>
                </a:solidFill>
                <a:latin typeface="Source Han Sans SC" pitchFamily="34" charset="0"/>
                <a:ea typeface="Source Han Sans SC" pitchFamily="34" charset="-122"/>
                <a:cs typeface="Source Han Sans SC" pitchFamily="34" charset="-120"/>
              </a:rPr>
              <a:t>分析</a:t>
            </a:r>
            <a:endParaRPr lang="en-US" sz="750" dirty="0"/>
          </a:p>
        </p:txBody>
      </p:sp>
      <p:sp>
        <p:nvSpPr>
          <p:cNvPr id="16" name="Shape 14"/>
          <p:cNvSpPr/>
          <p:nvPr/>
        </p:nvSpPr>
        <p:spPr>
          <a:xfrm>
            <a:off x="731520" y="3520440"/>
            <a:ext cx="5120640" cy="594360"/>
          </a:xfrm>
          <a:prstGeom prst="roundRect">
            <a:avLst>
              <a:gd name="adj" fmla="val 6154"/>
            </a:avLst>
          </a:prstGeom>
          <a:solidFill>
            <a:srgbClr val="F7F9FC"/>
          </a:solidFill>
          <a:ln w="3810">
            <a:solidFill>
              <a:srgbClr val="E5E9F0"/>
            </a:solidFill>
            <a:prstDash val="solid"/>
          </a:ln>
        </p:spPr>
      </p:sp>
      <p:sp>
        <p:nvSpPr>
          <p:cNvPr id="17" name="Text 15"/>
          <p:cNvSpPr/>
          <p:nvPr/>
        </p:nvSpPr>
        <p:spPr>
          <a:xfrm>
            <a:off x="868680" y="3520440"/>
            <a:ext cx="4846320" cy="594360"/>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绩优生群体的心理健康问题具有高功能掩饰性——优异的成绩掩盖了内心的痛苦，也阻塞了求助通道。分数越高，求助门槛反而越高。</a:t>
            </a:r>
            <a:endParaRPr lang="en-US" sz="750" dirty="0"/>
          </a:p>
        </p:txBody>
      </p:sp>
      <p:sp>
        <p:nvSpPr>
          <p:cNvPr id="18" name="Text 16"/>
          <p:cNvSpPr/>
          <p:nvPr/>
        </p:nvSpPr>
        <p:spPr>
          <a:xfrm>
            <a:off x="731520" y="4206240"/>
            <a:ext cx="5120640" cy="182880"/>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调研访谈记录 2026.03</a:t>
            </a:r>
            <a:endParaRPr lang="en-US" sz="650" dirty="0"/>
          </a:p>
        </p:txBody>
      </p:sp>
      <p:sp>
        <p:nvSpPr>
          <p:cNvPr id="19" name="Shape 17"/>
          <p:cNvSpPr/>
          <p:nvPr/>
        </p:nvSpPr>
        <p:spPr>
          <a:xfrm>
            <a:off x="6263640" y="1051560"/>
            <a:ext cx="5394960" cy="4572000"/>
          </a:xfrm>
          <a:prstGeom prst="roundRect">
            <a:avLst>
              <a:gd name="adj" fmla="val 1000"/>
            </a:avLst>
          </a:prstGeom>
          <a:solidFill>
            <a:srgbClr val="FFFFFF"/>
          </a:solidFill>
          <a:ln w="6350">
            <a:solidFill>
              <a:srgbClr val="E5E9F0"/>
            </a:solidFill>
            <a:prstDash val="solid"/>
          </a:ln>
        </p:spPr>
      </p:sp>
      <p:sp>
        <p:nvSpPr>
          <p:cNvPr id="20" name="Shape 18"/>
          <p:cNvSpPr/>
          <p:nvPr/>
        </p:nvSpPr>
        <p:spPr>
          <a:xfrm>
            <a:off x="6263640" y="1051560"/>
            <a:ext cx="5394960" cy="320040"/>
          </a:xfrm>
          <a:prstGeom prst="rect">
            <a:avLst/>
          </a:prstGeom>
          <a:solidFill>
            <a:srgbClr val="1E2A38"/>
          </a:solidFill>
          <a:ln/>
        </p:spPr>
      </p:sp>
      <p:sp>
        <p:nvSpPr>
          <p:cNvPr id="21" name="Text 19"/>
          <p:cNvSpPr/>
          <p:nvPr/>
        </p:nvSpPr>
        <p:spPr>
          <a:xfrm>
            <a:off x="6400800" y="1051560"/>
            <a:ext cx="5120640" cy="320040"/>
          </a:xfrm>
          <a:prstGeom prst="rect">
            <a:avLst/>
          </a:prstGeom>
          <a:noFill/>
          <a:ln/>
        </p:spPr>
        <p:txBody>
          <a:bodyPr wrap="square" rtlCol="0" anchor="ctr"/>
          <a:lstStyle/>
          <a:p>
            <a:pPr indent="0" marL="0">
              <a:buNone/>
            </a:pPr>
            <a:r>
              <a:rPr lang="en-US" sz="950" b="1" dirty="0">
                <a:solidFill>
                  <a:srgbClr val="FFFFFF"/>
                </a:solidFill>
                <a:latin typeface="Source Han Sans SC" pitchFamily="34" charset="0"/>
                <a:ea typeface="Source Han Sans SC" pitchFamily="34" charset="-122"/>
                <a:cs typeface="Source Han Sans SC" pitchFamily="34" charset="-120"/>
              </a:rPr>
              <a:t>心理咨询室的门</a:t>
            </a:r>
            <a:endParaRPr lang="en-US" sz="950" dirty="0"/>
          </a:p>
        </p:txBody>
      </p:sp>
      <p:sp>
        <p:nvSpPr>
          <p:cNvPr id="22" name="Text 20"/>
          <p:cNvSpPr/>
          <p:nvPr/>
        </p:nvSpPr>
        <p:spPr>
          <a:xfrm>
            <a:off x="6400800" y="1463040"/>
            <a:ext cx="1097280" cy="182880"/>
          </a:xfrm>
          <a:prstGeom prst="rect">
            <a:avLst/>
          </a:prstGeom>
          <a:noFill/>
          <a:ln/>
        </p:spPr>
        <p:txBody>
          <a:bodyPr wrap="square" rtlCol="0" anchor="ctr"/>
          <a:lstStyle/>
          <a:p>
            <a:pPr indent="0" marL="0">
              <a:buNone/>
            </a:pPr>
            <a:r>
              <a:rPr lang="en-US" sz="750" b="1" dirty="0">
                <a:solidFill>
                  <a:srgbClr val="3A6EA5"/>
                </a:solidFill>
                <a:latin typeface="Source Han Sans SC" pitchFamily="34" charset="0"/>
                <a:ea typeface="Source Han Sans SC" pitchFamily="34" charset="-122"/>
                <a:cs typeface="Source Han Sans SC" pitchFamily="34" charset="-120"/>
              </a:rPr>
              <a:t>情境</a:t>
            </a:r>
            <a:endParaRPr lang="en-US" sz="750" dirty="0"/>
          </a:p>
        </p:txBody>
      </p:sp>
      <p:sp>
        <p:nvSpPr>
          <p:cNvPr id="23" name="Text 21"/>
          <p:cNvSpPr/>
          <p:nvPr/>
        </p:nvSpPr>
        <p:spPr>
          <a:xfrm>
            <a:off x="6400800" y="1645920"/>
            <a:ext cx="5120640" cy="822960"/>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某普通中学心理咨询室位于行政楼三层角落，每周开放6小时，全年接待咨询不足30人次。同期该校学生心理测评显示约200名学生存在不同程度心理困扰。</a:t>
            </a:r>
            <a:endParaRPr lang="en-US" sz="750" dirty="0"/>
          </a:p>
        </p:txBody>
      </p:sp>
      <p:sp>
        <p:nvSpPr>
          <p:cNvPr id="24" name="Shape 22"/>
          <p:cNvSpPr/>
          <p:nvPr/>
        </p:nvSpPr>
        <p:spPr>
          <a:xfrm>
            <a:off x="6355080" y="2606040"/>
            <a:ext cx="5212080" cy="9144"/>
          </a:xfrm>
          <a:prstGeom prst="rect">
            <a:avLst/>
          </a:prstGeom>
          <a:solidFill>
            <a:srgbClr val="E5E9F0"/>
          </a:solidFill>
          <a:ln/>
        </p:spPr>
      </p:sp>
      <p:sp>
        <p:nvSpPr>
          <p:cNvPr id="25" name="Text 23"/>
          <p:cNvSpPr/>
          <p:nvPr/>
        </p:nvSpPr>
        <p:spPr>
          <a:xfrm>
            <a:off x="6400800" y="2651760"/>
            <a:ext cx="1371600" cy="182880"/>
          </a:xfrm>
          <a:prstGeom prst="rect">
            <a:avLst/>
          </a:prstGeom>
          <a:noFill/>
          <a:ln/>
        </p:spPr>
        <p:txBody>
          <a:bodyPr wrap="square" rtlCol="0" anchor="ctr"/>
          <a:lstStyle/>
          <a:p>
            <a:pPr indent="0" marL="0">
              <a:buNone/>
            </a:pPr>
            <a:r>
              <a:rPr lang="en-US" sz="750" b="1" dirty="0">
                <a:solidFill>
                  <a:srgbClr val="D98E04"/>
                </a:solidFill>
                <a:latin typeface="Source Han Sans SC" pitchFamily="34" charset="0"/>
                <a:ea typeface="Source Han Sans SC" pitchFamily="34" charset="-122"/>
                <a:cs typeface="Source Han Sans SC" pitchFamily="34" charset="-120"/>
              </a:rPr>
              <a:t>关联数据</a:t>
            </a:r>
            <a:endParaRPr lang="en-US" sz="750" dirty="0"/>
          </a:p>
        </p:txBody>
      </p:sp>
      <p:sp>
        <p:nvSpPr>
          <p:cNvPr id="26" name="Shape 24"/>
          <p:cNvSpPr/>
          <p:nvPr/>
        </p:nvSpPr>
        <p:spPr>
          <a:xfrm>
            <a:off x="6400800" y="2834640"/>
            <a:ext cx="5120640" cy="320040"/>
          </a:xfrm>
          <a:prstGeom prst="roundRect">
            <a:avLst>
              <a:gd name="adj" fmla="val 11429"/>
            </a:avLst>
          </a:prstGeom>
          <a:solidFill>
            <a:srgbClr val="FFF8F0"/>
          </a:solidFill>
          <a:ln w="3810">
            <a:solidFill>
              <a:srgbClr val="D98E04"/>
            </a:solidFill>
            <a:prstDash val="solid"/>
          </a:ln>
        </p:spPr>
      </p:sp>
      <p:sp>
        <p:nvSpPr>
          <p:cNvPr id="27" name="Text 25"/>
          <p:cNvSpPr/>
          <p:nvPr/>
        </p:nvSpPr>
        <p:spPr>
          <a:xfrm>
            <a:off x="6537960" y="2834640"/>
            <a:ext cx="4846320" cy="320040"/>
          </a:xfrm>
          <a:prstGeom prst="rect">
            <a:avLst/>
          </a:prstGeom>
          <a:noFill/>
          <a:ln/>
        </p:spPr>
        <p:txBody>
          <a:bodyPr wrap="square" rtlCol="0" anchor="ctr"/>
          <a:lstStyle/>
          <a:p>
            <a:pPr indent="0" marL="0">
              <a:buNone/>
            </a:pPr>
            <a:r>
              <a:rPr lang="en-US" sz="700" dirty="0">
                <a:solidFill>
                  <a:srgbClr val="1E2A38"/>
                </a:solidFill>
                <a:latin typeface="Source Han Sans SC" pitchFamily="34" charset="0"/>
                <a:ea typeface="Source Han Sans SC" pitchFamily="34" charset="-122"/>
                <a:cs typeface="Source Han Sans SC" pitchFamily="34" charset="-120"/>
              </a:rPr>
              <a:t>76.4%受访学生不知道心理咨询室在哪；82.1%担心被同学看到后议论。</a:t>
            </a:r>
            <a:endParaRPr lang="en-US" sz="700" dirty="0"/>
          </a:p>
        </p:txBody>
      </p:sp>
      <p:sp>
        <p:nvSpPr>
          <p:cNvPr id="28" name="Shape 26"/>
          <p:cNvSpPr/>
          <p:nvPr/>
        </p:nvSpPr>
        <p:spPr>
          <a:xfrm>
            <a:off x="6355080" y="3291840"/>
            <a:ext cx="5212080" cy="9144"/>
          </a:xfrm>
          <a:prstGeom prst="rect">
            <a:avLst/>
          </a:prstGeom>
          <a:solidFill>
            <a:srgbClr val="E5E9F0"/>
          </a:solidFill>
          <a:ln/>
        </p:spPr>
      </p:sp>
      <p:sp>
        <p:nvSpPr>
          <p:cNvPr id="29" name="Text 27"/>
          <p:cNvSpPr/>
          <p:nvPr/>
        </p:nvSpPr>
        <p:spPr>
          <a:xfrm>
            <a:off x="6400800" y="3337560"/>
            <a:ext cx="914400" cy="182880"/>
          </a:xfrm>
          <a:prstGeom prst="rect">
            <a:avLst/>
          </a:prstGeom>
          <a:noFill/>
          <a:ln/>
        </p:spPr>
        <p:txBody>
          <a:bodyPr wrap="square" rtlCol="0" anchor="ctr"/>
          <a:lstStyle/>
          <a:p>
            <a:pPr indent="0" marL="0">
              <a:buNone/>
            </a:pPr>
            <a:r>
              <a:rPr lang="en-US" sz="750" b="1" dirty="0">
                <a:solidFill>
                  <a:srgbClr val="1E2A38"/>
                </a:solidFill>
                <a:latin typeface="Source Han Sans SC" pitchFamily="34" charset="0"/>
                <a:ea typeface="Source Han Sans SC" pitchFamily="34" charset="-122"/>
                <a:cs typeface="Source Han Sans SC" pitchFamily="34" charset="-120"/>
              </a:rPr>
              <a:t>分析</a:t>
            </a:r>
            <a:endParaRPr lang="en-US" sz="750" dirty="0"/>
          </a:p>
        </p:txBody>
      </p:sp>
      <p:sp>
        <p:nvSpPr>
          <p:cNvPr id="30" name="Shape 28"/>
          <p:cNvSpPr/>
          <p:nvPr/>
        </p:nvSpPr>
        <p:spPr>
          <a:xfrm>
            <a:off x="6400800" y="3520440"/>
            <a:ext cx="5120640" cy="594360"/>
          </a:xfrm>
          <a:prstGeom prst="roundRect">
            <a:avLst>
              <a:gd name="adj" fmla="val 6154"/>
            </a:avLst>
          </a:prstGeom>
          <a:solidFill>
            <a:srgbClr val="F7F9FC"/>
          </a:solidFill>
          <a:ln w="3810">
            <a:solidFill>
              <a:srgbClr val="E5E9F0"/>
            </a:solidFill>
            <a:prstDash val="solid"/>
          </a:ln>
        </p:spPr>
      </p:sp>
      <p:sp>
        <p:nvSpPr>
          <p:cNvPr id="31" name="Text 29"/>
          <p:cNvSpPr/>
          <p:nvPr/>
        </p:nvSpPr>
        <p:spPr>
          <a:xfrm>
            <a:off x="6537960" y="3520440"/>
            <a:ext cx="4846320" cy="594360"/>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资源短缺与求助门槛形成了双重屏障——既有不可得的客观问题，也有不敢用的主观障碍。心理服务的可达性远不止物理距离。</a:t>
            </a:r>
            <a:endParaRPr lang="en-US" sz="750" dirty="0"/>
          </a:p>
        </p:txBody>
      </p:sp>
      <p:sp>
        <p:nvSpPr>
          <p:cNvPr id="32" name="Text 30"/>
          <p:cNvSpPr/>
          <p:nvPr/>
        </p:nvSpPr>
        <p:spPr>
          <a:xfrm>
            <a:off x="6400800" y="4206240"/>
            <a:ext cx="5120640" cy="182880"/>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调研访谈记录 2026.03</a:t>
            </a:r>
            <a:endParaRPr lang="en-US" sz="650" dirty="0"/>
          </a:p>
        </p:txBody>
      </p:sp>
      <p:sp>
        <p:nvSpPr>
          <p:cNvPr id="33" name="Text 31"/>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8/23</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现实困境：升学压力与心理健康之间的张力</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Structural Tension Analysis</a:t>
            </a:r>
            <a:endParaRPr lang="en-US" sz="1000" dirty="0"/>
          </a:p>
        </p:txBody>
      </p:sp>
      <p:sp>
        <p:nvSpPr>
          <p:cNvPr id="5" name="Shape 3"/>
          <p:cNvSpPr/>
          <p:nvPr/>
        </p:nvSpPr>
        <p:spPr>
          <a:xfrm>
            <a:off x="594360" y="1188720"/>
            <a:ext cx="5120640" cy="1188720"/>
          </a:xfrm>
          <a:prstGeom prst="roundRect">
            <a:avLst>
              <a:gd name="adj" fmla="val 3846"/>
            </a:avLst>
          </a:prstGeom>
          <a:solidFill>
            <a:srgbClr val="FFFFFF"/>
          </a:solidFill>
          <a:ln w="6350">
            <a:solidFill>
              <a:srgbClr val="E5E9F0"/>
            </a:solidFill>
            <a:prstDash val="solid"/>
          </a:ln>
        </p:spPr>
      </p:sp>
      <p:sp>
        <p:nvSpPr>
          <p:cNvPr id="6" name="Shape 4"/>
          <p:cNvSpPr/>
          <p:nvPr/>
        </p:nvSpPr>
        <p:spPr>
          <a:xfrm>
            <a:off x="594360" y="1188720"/>
            <a:ext cx="45720" cy="1188720"/>
          </a:xfrm>
          <a:prstGeom prst="rect">
            <a:avLst/>
          </a:prstGeom>
          <a:solidFill>
            <a:srgbClr val="3A6EA5"/>
          </a:solidFill>
          <a:ln/>
        </p:spPr>
      </p:sp>
      <p:sp>
        <p:nvSpPr>
          <p:cNvPr id="7" name="Text 5"/>
          <p:cNvSpPr/>
          <p:nvPr/>
        </p:nvSpPr>
        <p:spPr>
          <a:xfrm>
            <a:off x="777240" y="1280160"/>
            <a:ext cx="1828800" cy="274320"/>
          </a:xfrm>
          <a:prstGeom prst="rect">
            <a:avLst/>
          </a:prstGeom>
          <a:noFill/>
          <a:ln/>
        </p:spPr>
        <p:txBody>
          <a:bodyPr wrap="square" rtlCol="0" anchor="ctr"/>
          <a:lstStyle/>
          <a:p>
            <a:pPr indent="0" marL="0">
              <a:buNone/>
            </a:pPr>
            <a:r>
              <a:rPr lang="en-US" sz="1200" b="1" dirty="0">
                <a:solidFill>
                  <a:srgbClr val="3A6EA5"/>
                </a:solidFill>
                <a:latin typeface="Source Han Sans SC" pitchFamily="34" charset="0"/>
                <a:ea typeface="Source Han Sans SC" pitchFamily="34" charset="-122"/>
                <a:cs typeface="Source Han Sans SC" pitchFamily="34" charset="-120"/>
              </a:rPr>
              <a:t>学校</a:t>
            </a:r>
            <a:endParaRPr lang="en-US" sz="1200" dirty="0"/>
          </a:p>
        </p:txBody>
      </p:sp>
      <p:sp>
        <p:nvSpPr>
          <p:cNvPr id="8" name="Text 6"/>
          <p:cNvSpPr/>
          <p:nvPr/>
        </p:nvSpPr>
        <p:spPr>
          <a:xfrm>
            <a:off x="777240" y="1600200"/>
            <a:ext cx="4754880" cy="640080"/>
          </a:xfrm>
          <a:prstGeom prst="rect">
            <a:avLst/>
          </a:prstGeom>
          <a:noFill/>
          <a:ln/>
        </p:spPr>
        <p:txBody>
          <a:bodyPr wrap="square" rtlCol="0" anchor="ctr"/>
          <a:lstStyle/>
          <a:p>
            <a:pPr indent="0" marL="0">
              <a:lnSpc>
                <a:spcPts val="1400"/>
              </a:lnSpc>
              <a:buNone/>
            </a:pPr>
            <a:r>
              <a:rPr lang="en-US" sz="950" dirty="0">
                <a:solidFill>
                  <a:srgbClr val="1E2A38"/>
                </a:solidFill>
                <a:latin typeface="Source Han Sans SC" pitchFamily="34" charset="0"/>
                <a:ea typeface="Source Han Sans SC" pitchFamily="34" charset="-122"/>
                <a:cs typeface="Source Han Sans SC" pitchFamily="34" charset="-120"/>
              </a:rPr>
              <a:t>想减压，但担心升学率下降</a:t>
            </a:r>
            <a:endParaRPr lang="en-US" sz="950" dirty="0"/>
          </a:p>
        </p:txBody>
      </p:sp>
      <p:sp>
        <p:nvSpPr>
          <p:cNvPr id="9" name="Shape 7"/>
          <p:cNvSpPr/>
          <p:nvPr/>
        </p:nvSpPr>
        <p:spPr>
          <a:xfrm>
            <a:off x="6473952" y="1188720"/>
            <a:ext cx="5120640" cy="1188720"/>
          </a:xfrm>
          <a:prstGeom prst="roundRect">
            <a:avLst>
              <a:gd name="adj" fmla="val 3846"/>
            </a:avLst>
          </a:prstGeom>
          <a:solidFill>
            <a:srgbClr val="FFFFFF"/>
          </a:solidFill>
          <a:ln w="6350">
            <a:solidFill>
              <a:srgbClr val="E5E9F0"/>
            </a:solidFill>
            <a:prstDash val="solid"/>
          </a:ln>
        </p:spPr>
      </p:sp>
      <p:sp>
        <p:nvSpPr>
          <p:cNvPr id="10" name="Shape 8"/>
          <p:cNvSpPr/>
          <p:nvPr/>
        </p:nvSpPr>
        <p:spPr>
          <a:xfrm>
            <a:off x="6473952" y="1188720"/>
            <a:ext cx="45720" cy="1188720"/>
          </a:xfrm>
          <a:prstGeom prst="rect">
            <a:avLst/>
          </a:prstGeom>
          <a:solidFill>
            <a:srgbClr val="D98E04"/>
          </a:solidFill>
          <a:ln/>
        </p:spPr>
      </p:sp>
      <p:sp>
        <p:nvSpPr>
          <p:cNvPr id="11" name="Text 9"/>
          <p:cNvSpPr/>
          <p:nvPr/>
        </p:nvSpPr>
        <p:spPr>
          <a:xfrm>
            <a:off x="6656832" y="1280160"/>
            <a:ext cx="1828800" cy="274320"/>
          </a:xfrm>
          <a:prstGeom prst="rect">
            <a:avLst/>
          </a:prstGeom>
          <a:noFill/>
          <a:ln/>
        </p:spPr>
        <p:txBody>
          <a:bodyPr wrap="square" rtlCol="0" anchor="ctr"/>
          <a:lstStyle/>
          <a:p>
            <a:pPr indent="0" marL="0">
              <a:buNone/>
            </a:pPr>
            <a:r>
              <a:rPr lang="en-US" sz="1200" b="1" dirty="0">
                <a:solidFill>
                  <a:srgbClr val="D98E04"/>
                </a:solidFill>
                <a:latin typeface="Source Han Sans SC" pitchFamily="34" charset="0"/>
                <a:ea typeface="Source Han Sans SC" pitchFamily="34" charset="-122"/>
                <a:cs typeface="Source Han Sans SC" pitchFamily="34" charset="-120"/>
              </a:rPr>
              <a:t>家长</a:t>
            </a:r>
            <a:endParaRPr lang="en-US" sz="1200" dirty="0"/>
          </a:p>
        </p:txBody>
      </p:sp>
      <p:sp>
        <p:nvSpPr>
          <p:cNvPr id="12" name="Text 10"/>
          <p:cNvSpPr/>
          <p:nvPr/>
        </p:nvSpPr>
        <p:spPr>
          <a:xfrm>
            <a:off x="6656832" y="1600200"/>
            <a:ext cx="4754880" cy="640080"/>
          </a:xfrm>
          <a:prstGeom prst="rect">
            <a:avLst/>
          </a:prstGeom>
          <a:noFill/>
          <a:ln/>
        </p:spPr>
        <p:txBody>
          <a:bodyPr wrap="square" rtlCol="0" anchor="ctr"/>
          <a:lstStyle/>
          <a:p>
            <a:pPr indent="0" marL="0">
              <a:lnSpc>
                <a:spcPts val="1400"/>
              </a:lnSpc>
              <a:buNone/>
            </a:pPr>
            <a:r>
              <a:rPr lang="en-US" sz="950" dirty="0">
                <a:solidFill>
                  <a:srgbClr val="1E2A38"/>
                </a:solidFill>
                <a:latin typeface="Source Han Sans SC" pitchFamily="34" charset="0"/>
                <a:ea typeface="Source Han Sans SC" pitchFamily="34" charset="-122"/>
                <a:cs typeface="Source Han Sans SC" pitchFamily="34" charset="-120"/>
              </a:rPr>
              <a:t>希望孩子快乐，但更怕输在竞争里</a:t>
            </a:r>
            <a:endParaRPr lang="en-US" sz="950" dirty="0"/>
          </a:p>
        </p:txBody>
      </p:sp>
      <p:sp>
        <p:nvSpPr>
          <p:cNvPr id="13" name="Shape 11"/>
          <p:cNvSpPr/>
          <p:nvPr/>
        </p:nvSpPr>
        <p:spPr>
          <a:xfrm>
            <a:off x="594360" y="2743200"/>
            <a:ext cx="5120640" cy="1188720"/>
          </a:xfrm>
          <a:prstGeom prst="roundRect">
            <a:avLst>
              <a:gd name="adj" fmla="val 3846"/>
            </a:avLst>
          </a:prstGeom>
          <a:solidFill>
            <a:srgbClr val="FFFFFF"/>
          </a:solidFill>
          <a:ln w="6350">
            <a:solidFill>
              <a:srgbClr val="E5E9F0"/>
            </a:solidFill>
            <a:prstDash val="solid"/>
          </a:ln>
        </p:spPr>
      </p:sp>
      <p:sp>
        <p:nvSpPr>
          <p:cNvPr id="14" name="Shape 12"/>
          <p:cNvSpPr/>
          <p:nvPr/>
        </p:nvSpPr>
        <p:spPr>
          <a:xfrm>
            <a:off x="594360" y="2743200"/>
            <a:ext cx="45720" cy="1188720"/>
          </a:xfrm>
          <a:prstGeom prst="rect">
            <a:avLst/>
          </a:prstGeom>
          <a:solidFill>
            <a:srgbClr val="5C9BD4"/>
          </a:solidFill>
          <a:ln/>
        </p:spPr>
      </p:sp>
      <p:sp>
        <p:nvSpPr>
          <p:cNvPr id="15" name="Text 13"/>
          <p:cNvSpPr/>
          <p:nvPr/>
        </p:nvSpPr>
        <p:spPr>
          <a:xfrm>
            <a:off x="777240" y="2834640"/>
            <a:ext cx="1828800" cy="274320"/>
          </a:xfrm>
          <a:prstGeom prst="rect">
            <a:avLst/>
          </a:prstGeom>
          <a:noFill/>
          <a:ln/>
        </p:spPr>
        <p:txBody>
          <a:bodyPr wrap="square" rtlCol="0" anchor="ctr"/>
          <a:lstStyle/>
          <a:p>
            <a:pPr indent="0" marL="0">
              <a:buNone/>
            </a:pPr>
            <a:r>
              <a:rPr lang="en-US" sz="1200" b="1" dirty="0">
                <a:solidFill>
                  <a:srgbClr val="5C9BD4"/>
                </a:solidFill>
                <a:latin typeface="Source Han Sans SC" pitchFamily="34" charset="0"/>
                <a:ea typeface="Source Han Sans SC" pitchFamily="34" charset="-122"/>
                <a:cs typeface="Source Han Sans SC" pitchFamily="34" charset="-120"/>
              </a:rPr>
              <a:t>学生</a:t>
            </a:r>
            <a:endParaRPr lang="en-US" sz="1200" dirty="0"/>
          </a:p>
        </p:txBody>
      </p:sp>
      <p:sp>
        <p:nvSpPr>
          <p:cNvPr id="16" name="Text 14"/>
          <p:cNvSpPr/>
          <p:nvPr/>
        </p:nvSpPr>
        <p:spPr>
          <a:xfrm>
            <a:off x="777240" y="3154680"/>
            <a:ext cx="4754880" cy="640080"/>
          </a:xfrm>
          <a:prstGeom prst="rect">
            <a:avLst/>
          </a:prstGeom>
          <a:noFill/>
          <a:ln/>
        </p:spPr>
        <p:txBody>
          <a:bodyPr wrap="square" rtlCol="0" anchor="ctr"/>
          <a:lstStyle/>
          <a:p>
            <a:pPr indent="0" marL="0">
              <a:lnSpc>
                <a:spcPts val="1400"/>
              </a:lnSpc>
              <a:buNone/>
            </a:pPr>
            <a:r>
              <a:rPr lang="en-US" sz="950" dirty="0">
                <a:solidFill>
                  <a:srgbClr val="1E2A38"/>
                </a:solidFill>
                <a:latin typeface="Source Han Sans SC" pitchFamily="34" charset="0"/>
                <a:ea typeface="Source Han Sans SC" pitchFamily="34" charset="-122"/>
                <a:cs typeface="Source Han Sans SC" pitchFamily="34" charset="-120"/>
              </a:rPr>
              <a:t>知道焦虑，却不敢停下</a:t>
            </a:r>
            <a:endParaRPr lang="en-US" sz="950" dirty="0"/>
          </a:p>
        </p:txBody>
      </p:sp>
      <p:sp>
        <p:nvSpPr>
          <p:cNvPr id="17" name="Shape 15"/>
          <p:cNvSpPr/>
          <p:nvPr/>
        </p:nvSpPr>
        <p:spPr>
          <a:xfrm>
            <a:off x="6473952" y="2743200"/>
            <a:ext cx="5120640" cy="1188720"/>
          </a:xfrm>
          <a:prstGeom prst="roundRect">
            <a:avLst>
              <a:gd name="adj" fmla="val 3846"/>
            </a:avLst>
          </a:prstGeom>
          <a:solidFill>
            <a:srgbClr val="FFFFFF"/>
          </a:solidFill>
          <a:ln w="6350">
            <a:solidFill>
              <a:srgbClr val="E5E9F0"/>
            </a:solidFill>
            <a:prstDash val="solid"/>
          </a:ln>
        </p:spPr>
      </p:sp>
      <p:sp>
        <p:nvSpPr>
          <p:cNvPr id="18" name="Shape 16"/>
          <p:cNvSpPr/>
          <p:nvPr/>
        </p:nvSpPr>
        <p:spPr>
          <a:xfrm>
            <a:off x="6473952" y="2743200"/>
            <a:ext cx="45720" cy="1188720"/>
          </a:xfrm>
          <a:prstGeom prst="rect">
            <a:avLst/>
          </a:prstGeom>
          <a:solidFill>
            <a:srgbClr val="6DA8E0"/>
          </a:solidFill>
          <a:ln/>
        </p:spPr>
      </p:sp>
      <p:sp>
        <p:nvSpPr>
          <p:cNvPr id="19" name="Text 17"/>
          <p:cNvSpPr/>
          <p:nvPr/>
        </p:nvSpPr>
        <p:spPr>
          <a:xfrm>
            <a:off x="6656832" y="2834640"/>
            <a:ext cx="1828800" cy="274320"/>
          </a:xfrm>
          <a:prstGeom prst="rect">
            <a:avLst/>
          </a:prstGeom>
          <a:noFill/>
          <a:ln/>
        </p:spPr>
        <p:txBody>
          <a:bodyPr wrap="square" rtlCol="0" anchor="ctr"/>
          <a:lstStyle/>
          <a:p>
            <a:pPr indent="0" marL="0">
              <a:buNone/>
            </a:pPr>
            <a:r>
              <a:rPr lang="en-US" sz="1200" b="1" dirty="0">
                <a:solidFill>
                  <a:srgbClr val="6DA8E0"/>
                </a:solidFill>
                <a:latin typeface="Source Han Sans SC" pitchFamily="34" charset="0"/>
                <a:ea typeface="Source Han Sans SC" pitchFamily="34" charset="-122"/>
                <a:cs typeface="Source Han Sans SC" pitchFamily="34" charset="-120"/>
              </a:rPr>
              <a:t>教师</a:t>
            </a:r>
            <a:endParaRPr lang="en-US" sz="1200" dirty="0"/>
          </a:p>
        </p:txBody>
      </p:sp>
      <p:sp>
        <p:nvSpPr>
          <p:cNvPr id="20" name="Text 18"/>
          <p:cNvSpPr/>
          <p:nvPr/>
        </p:nvSpPr>
        <p:spPr>
          <a:xfrm>
            <a:off x="6656832" y="3154680"/>
            <a:ext cx="4754880" cy="640080"/>
          </a:xfrm>
          <a:prstGeom prst="rect">
            <a:avLst/>
          </a:prstGeom>
          <a:noFill/>
          <a:ln/>
        </p:spPr>
        <p:txBody>
          <a:bodyPr wrap="square" rtlCol="0" anchor="ctr"/>
          <a:lstStyle/>
          <a:p>
            <a:pPr indent="0" marL="0">
              <a:lnSpc>
                <a:spcPts val="1400"/>
              </a:lnSpc>
              <a:buNone/>
            </a:pPr>
            <a:r>
              <a:rPr lang="en-US" sz="950" dirty="0">
                <a:solidFill>
                  <a:srgbClr val="1E2A38"/>
                </a:solidFill>
                <a:latin typeface="Source Han Sans SC" pitchFamily="34" charset="0"/>
                <a:ea typeface="Source Han Sans SC" pitchFamily="34" charset="-122"/>
                <a:cs typeface="Source Han Sans SC" pitchFamily="34" charset="-120"/>
              </a:rPr>
              <a:t>重视心理健康，但考核仍以成绩为主</a:t>
            </a:r>
            <a:endParaRPr lang="en-US" sz="950" dirty="0"/>
          </a:p>
        </p:txBody>
      </p:sp>
      <p:sp>
        <p:nvSpPr>
          <p:cNvPr id="21" name="Shape 19"/>
          <p:cNvSpPr/>
          <p:nvPr/>
        </p:nvSpPr>
        <p:spPr>
          <a:xfrm>
            <a:off x="5029200" y="2286000"/>
            <a:ext cx="2011680" cy="777240"/>
          </a:xfrm>
          <a:prstGeom prst="ellipse">
            <a:avLst/>
          </a:prstGeom>
          <a:solidFill>
            <a:srgbClr val="D98E04"/>
          </a:solidFill>
          <a:ln/>
        </p:spPr>
      </p:sp>
      <p:sp>
        <p:nvSpPr>
          <p:cNvPr id="22" name="Text 20"/>
          <p:cNvSpPr/>
          <p:nvPr/>
        </p:nvSpPr>
        <p:spPr>
          <a:xfrm>
            <a:off x="5029200" y="2331720"/>
            <a:ext cx="2011680" cy="685800"/>
          </a:xfrm>
          <a:prstGeom prst="rect">
            <a:avLst/>
          </a:prstGeom>
          <a:noFill/>
          <a:ln/>
        </p:spPr>
        <p:txBody>
          <a:bodyPr wrap="square" rtlCol="0" anchor="ctr"/>
          <a:lstStyle/>
          <a:p>
            <a:pPr algn="ctr" indent="0" marL="0">
              <a:buNone/>
            </a:pPr>
            <a:r>
              <a:rPr lang="en-US" sz="1400" b="1" dirty="0">
                <a:solidFill>
                  <a:srgbClr val="FFFFFF"/>
                </a:solidFill>
                <a:latin typeface="Source Han Sans SC" pitchFamily="34" charset="0"/>
                <a:ea typeface="Source Han Sans SC" pitchFamily="34" charset="-122"/>
                <a:cs typeface="Source Han Sans SC" pitchFamily="34" charset="-120"/>
              </a:rPr>
              <a:t>张力</a:t>
            </a:r>
            <a:endParaRPr lang="en-US" sz="1400" dirty="0"/>
          </a:p>
        </p:txBody>
      </p:sp>
      <p:sp>
        <p:nvSpPr>
          <p:cNvPr id="23" name="Shape 21"/>
          <p:cNvSpPr/>
          <p:nvPr/>
        </p:nvSpPr>
        <p:spPr>
          <a:xfrm>
            <a:off x="594360" y="4206240"/>
            <a:ext cx="11000232" cy="1463040"/>
          </a:xfrm>
          <a:prstGeom prst="roundRect">
            <a:avLst>
              <a:gd name="adj" fmla="val 3125"/>
            </a:avLst>
          </a:prstGeom>
          <a:solidFill>
            <a:srgbClr val="FFFFFF"/>
          </a:solidFill>
          <a:ln w="6350">
            <a:solidFill>
              <a:srgbClr val="E5E9F0"/>
            </a:solidFill>
            <a:prstDash val="solid"/>
          </a:ln>
        </p:spPr>
      </p:sp>
      <p:sp>
        <p:nvSpPr>
          <p:cNvPr id="24" name="Shape 22"/>
          <p:cNvSpPr/>
          <p:nvPr/>
        </p:nvSpPr>
        <p:spPr>
          <a:xfrm>
            <a:off x="594360" y="4206240"/>
            <a:ext cx="45720" cy="1463040"/>
          </a:xfrm>
          <a:prstGeom prst="rect">
            <a:avLst/>
          </a:prstGeom>
          <a:solidFill>
            <a:srgbClr val="D98E04"/>
          </a:solidFill>
          <a:ln/>
        </p:spPr>
      </p:sp>
      <p:sp>
        <p:nvSpPr>
          <p:cNvPr id="25" name="Text 23"/>
          <p:cNvSpPr/>
          <p:nvPr/>
        </p:nvSpPr>
        <p:spPr>
          <a:xfrm>
            <a:off x="777240" y="4279392"/>
            <a:ext cx="4572000" cy="228600"/>
          </a:xfrm>
          <a:prstGeom prst="rect">
            <a:avLst/>
          </a:prstGeom>
          <a:noFill/>
          <a:ln/>
        </p:spPr>
        <p:txBody>
          <a:bodyPr wrap="square" rtlCol="0" anchor="ctr"/>
          <a:lstStyle/>
          <a:p>
            <a:pPr indent="0" marL="0">
              <a:buNone/>
            </a:pPr>
            <a:r>
              <a:rPr lang="en-US" sz="1000" b="1" dirty="0">
                <a:solidFill>
                  <a:srgbClr val="1E2A38"/>
                </a:solidFill>
                <a:latin typeface="Source Han Sans SC" pitchFamily="34" charset="0"/>
                <a:ea typeface="Source Han Sans SC" pitchFamily="34" charset="-122"/>
                <a:cs typeface="Source Han Sans SC" pitchFamily="34" charset="-120"/>
              </a:rPr>
              <a:t>结构性矛盾的本质</a:t>
            </a:r>
            <a:endParaRPr lang="en-US" sz="1000" dirty="0"/>
          </a:p>
        </p:txBody>
      </p:sp>
      <p:sp>
        <p:nvSpPr>
          <p:cNvPr id="26" name="Text 24"/>
          <p:cNvSpPr/>
          <p:nvPr/>
        </p:nvSpPr>
        <p:spPr>
          <a:xfrm>
            <a:off x="777240" y="4572000"/>
            <a:ext cx="10634472" cy="914400"/>
          </a:xfrm>
          <a:prstGeom prst="rect">
            <a:avLst/>
          </a:prstGeom>
          <a:noFill/>
          <a:ln/>
        </p:spPr>
        <p:txBody>
          <a:bodyPr wrap="square" rtlCol="0" anchor="ctr"/>
          <a:lstStyle/>
          <a:p>
            <a:pPr indent="0" marL="0">
              <a:lnSpc>
                <a:spcPts val="1400"/>
              </a:lnSpc>
              <a:buNone/>
            </a:pPr>
            <a:r>
              <a:rPr lang="en-US" sz="850" dirty="0">
                <a:solidFill>
                  <a:srgbClr val="1E2A38"/>
                </a:solidFill>
                <a:latin typeface="Source Han Sans SC" pitchFamily="34" charset="0"/>
                <a:ea typeface="Source Han Sans SC" pitchFamily="34" charset="-122"/>
                <a:cs typeface="Source Han Sans SC" pitchFamily="34" charset="-120"/>
              </a:rPr>
              <a:t>四方主体并非缺乏善意，而是被同一套制度逻辑所困。在单一评价体系未根本改变的前提下，任何一方的单方面减负尝试都会面临来自其他三方的结构性压力。解决方案必须是系统性的。</a:t>
            </a:r>
            <a:endParaRPr lang="en-US" sz="850" dirty="0"/>
          </a:p>
        </p:txBody>
      </p:sp>
      <p:sp>
        <p:nvSpPr>
          <p:cNvPr id="27" name="Text 25"/>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9/23</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主要问题一：学业压力与应试焦虑</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Issue 1: Academic Pressure &amp; Test Anxiety</a:t>
            </a:r>
            <a:endParaRPr lang="en-US" sz="1000" dirty="0"/>
          </a:p>
        </p:txBody>
      </p:sp>
      <p:sp>
        <p:nvSpPr>
          <p:cNvPr id="5" name="Shape 3"/>
          <p:cNvSpPr/>
          <p:nvPr/>
        </p:nvSpPr>
        <p:spPr>
          <a:xfrm>
            <a:off x="594360" y="1051560"/>
            <a:ext cx="5943600" cy="2194560"/>
          </a:xfrm>
          <a:prstGeom prst="roundRect">
            <a:avLst>
              <a:gd name="adj" fmla="val 2083"/>
            </a:avLst>
          </a:prstGeom>
          <a:solidFill>
            <a:srgbClr val="FFFFFF"/>
          </a:solidFill>
          <a:ln w="6350">
            <a:solidFill>
              <a:srgbClr val="E5E9F0"/>
            </a:solidFill>
            <a:prstDash val="solid"/>
          </a:ln>
        </p:spPr>
      </p:sp>
      <p:sp>
        <p:nvSpPr>
          <p:cNvPr id="6" name="Shape 4"/>
          <p:cNvSpPr/>
          <p:nvPr/>
        </p:nvSpPr>
        <p:spPr>
          <a:xfrm>
            <a:off x="594360" y="1051560"/>
            <a:ext cx="5943600" cy="274320"/>
          </a:xfrm>
          <a:prstGeom prst="rect">
            <a:avLst/>
          </a:prstGeom>
          <a:solidFill>
            <a:srgbClr val="3A6EA5"/>
          </a:solidFill>
          <a:ln/>
        </p:spPr>
      </p:sp>
      <p:sp>
        <p:nvSpPr>
          <p:cNvPr id="7" name="Text 5"/>
          <p:cNvSpPr/>
          <p:nvPr/>
        </p:nvSpPr>
        <p:spPr>
          <a:xfrm>
            <a:off x="594360" y="1051560"/>
            <a:ext cx="5943600" cy="274320"/>
          </a:xfrm>
          <a:prstGeom prst="rect">
            <a:avLst/>
          </a:prstGeom>
          <a:noFill/>
          <a:ln/>
        </p:spPr>
        <p:txBody>
          <a:bodyPr wrap="square" rtlCol="0" anchor="ctr"/>
          <a:lstStyle/>
          <a:p>
            <a:pPr algn="ctr" indent="0" marL="0">
              <a:buNone/>
            </a:pPr>
            <a:r>
              <a:rPr lang="en-US" sz="900" b="1" dirty="0">
                <a:solidFill>
                  <a:srgbClr val="FFFFFF"/>
                </a:solidFill>
                <a:latin typeface="Source Han Sans SC" pitchFamily="34" charset="0"/>
                <a:ea typeface="Source Han Sans SC" pitchFamily="34" charset="-122"/>
                <a:cs typeface="Source Han Sans SC" pitchFamily="34" charset="-120"/>
              </a:rPr>
              <a:t>学业压力的制度性来源</a:t>
            </a:r>
            <a:endParaRPr lang="en-US" sz="900" dirty="0"/>
          </a:p>
        </p:txBody>
      </p:sp>
      <p:sp>
        <p:nvSpPr>
          <p:cNvPr id="8" name="Shape 6"/>
          <p:cNvSpPr/>
          <p:nvPr/>
        </p:nvSpPr>
        <p:spPr>
          <a:xfrm>
            <a:off x="731520" y="1463040"/>
            <a:ext cx="36576" cy="457200"/>
          </a:xfrm>
          <a:prstGeom prst="rect">
            <a:avLst/>
          </a:prstGeom>
          <a:solidFill>
            <a:srgbClr val="3A6EA5"/>
          </a:solidFill>
          <a:ln/>
        </p:spPr>
      </p:sp>
      <p:sp>
        <p:nvSpPr>
          <p:cNvPr id="9" name="Text 7"/>
          <p:cNvSpPr/>
          <p:nvPr/>
        </p:nvSpPr>
        <p:spPr>
          <a:xfrm>
            <a:off x="914400" y="1444752"/>
            <a:ext cx="1828800" cy="228600"/>
          </a:xfrm>
          <a:prstGeom prst="rect">
            <a:avLst/>
          </a:prstGeom>
          <a:noFill/>
          <a:ln/>
        </p:spPr>
        <p:txBody>
          <a:bodyPr wrap="square" rtlCol="0" anchor="ctr"/>
          <a:lstStyle/>
          <a:p>
            <a:pPr indent="0" marL="0">
              <a:buNone/>
            </a:pPr>
            <a:r>
              <a:rPr lang="en-US" sz="900" b="1" dirty="0">
                <a:solidFill>
                  <a:srgbClr val="3A6EA5"/>
                </a:solidFill>
                <a:latin typeface="Source Han Sans SC" pitchFamily="34" charset="0"/>
                <a:ea typeface="Source Han Sans SC" pitchFamily="34" charset="-122"/>
                <a:cs typeface="Source Han Sans SC" pitchFamily="34" charset="-120"/>
              </a:rPr>
              <a:t>评价体系单一化</a:t>
            </a:r>
            <a:endParaRPr lang="en-US" sz="900" dirty="0"/>
          </a:p>
        </p:txBody>
      </p:sp>
      <p:sp>
        <p:nvSpPr>
          <p:cNvPr id="10" name="Text 8"/>
          <p:cNvSpPr/>
          <p:nvPr/>
        </p:nvSpPr>
        <p:spPr>
          <a:xfrm>
            <a:off x="914400" y="1673352"/>
            <a:ext cx="5303520" cy="256032"/>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高考分数作为核心评价标准，形成分分计较的竞争格局。</a:t>
            </a:r>
            <a:endParaRPr lang="en-US" sz="750" dirty="0"/>
          </a:p>
        </p:txBody>
      </p:sp>
      <p:sp>
        <p:nvSpPr>
          <p:cNvPr id="11" name="Shape 9"/>
          <p:cNvSpPr/>
          <p:nvPr/>
        </p:nvSpPr>
        <p:spPr>
          <a:xfrm>
            <a:off x="731520" y="2039112"/>
            <a:ext cx="36576" cy="457200"/>
          </a:xfrm>
          <a:prstGeom prst="rect">
            <a:avLst/>
          </a:prstGeom>
          <a:solidFill>
            <a:srgbClr val="5C9BD4"/>
          </a:solidFill>
          <a:ln/>
        </p:spPr>
      </p:sp>
      <p:sp>
        <p:nvSpPr>
          <p:cNvPr id="12" name="Text 10"/>
          <p:cNvSpPr/>
          <p:nvPr/>
        </p:nvSpPr>
        <p:spPr>
          <a:xfrm>
            <a:off x="914400" y="2020824"/>
            <a:ext cx="1828800" cy="228600"/>
          </a:xfrm>
          <a:prstGeom prst="rect">
            <a:avLst/>
          </a:prstGeom>
          <a:noFill/>
          <a:ln/>
        </p:spPr>
        <p:txBody>
          <a:bodyPr wrap="square" rtlCol="0" anchor="ctr"/>
          <a:lstStyle/>
          <a:p>
            <a:pPr indent="0" marL="0">
              <a:buNone/>
            </a:pPr>
            <a:r>
              <a:rPr lang="en-US" sz="900" b="1" dirty="0">
                <a:solidFill>
                  <a:srgbClr val="5C9BD4"/>
                </a:solidFill>
                <a:latin typeface="Source Han Sans SC" pitchFamily="34" charset="0"/>
                <a:ea typeface="Source Han Sans SC" pitchFamily="34" charset="-122"/>
                <a:cs typeface="Source Han Sans SC" pitchFamily="34" charset="-120"/>
              </a:rPr>
              <a:t>压力层层传导</a:t>
            </a:r>
            <a:endParaRPr lang="en-US" sz="900" dirty="0"/>
          </a:p>
        </p:txBody>
      </p:sp>
      <p:sp>
        <p:nvSpPr>
          <p:cNvPr id="13" name="Text 11"/>
          <p:cNvSpPr/>
          <p:nvPr/>
        </p:nvSpPr>
        <p:spPr>
          <a:xfrm>
            <a:off x="914400" y="2249424"/>
            <a:ext cx="5303520" cy="256032"/>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从教育部门到学校到教师到家长再到学生，每一层都在放大来自上层的压力。</a:t>
            </a:r>
            <a:endParaRPr lang="en-US" sz="750" dirty="0"/>
          </a:p>
        </p:txBody>
      </p:sp>
      <p:sp>
        <p:nvSpPr>
          <p:cNvPr id="14" name="Shape 12"/>
          <p:cNvSpPr/>
          <p:nvPr/>
        </p:nvSpPr>
        <p:spPr>
          <a:xfrm>
            <a:off x="731520" y="2615184"/>
            <a:ext cx="36576" cy="457200"/>
          </a:xfrm>
          <a:prstGeom prst="rect">
            <a:avLst/>
          </a:prstGeom>
          <a:solidFill>
            <a:srgbClr val="6DA8E0"/>
          </a:solidFill>
          <a:ln/>
        </p:spPr>
      </p:sp>
      <p:sp>
        <p:nvSpPr>
          <p:cNvPr id="15" name="Text 13"/>
          <p:cNvSpPr/>
          <p:nvPr/>
        </p:nvSpPr>
        <p:spPr>
          <a:xfrm>
            <a:off x="914400" y="2596896"/>
            <a:ext cx="1828800" cy="228600"/>
          </a:xfrm>
          <a:prstGeom prst="rect">
            <a:avLst/>
          </a:prstGeom>
          <a:noFill/>
          <a:ln/>
        </p:spPr>
        <p:txBody>
          <a:bodyPr wrap="square" rtlCol="0" anchor="ctr"/>
          <a:lstStyle/>
          <a:p>
            <a:pPr indent="0" marL="0">
              <a:buNone/>
            </a:pPr>
            <a:r>
              <a:rPr lang="en-US" sz="900" b="1" dirty="0">
                <a:solidFill>
                  <a:srgbClr val="6DA8E0"/>
                </a:solidFill>
                <a:latin typeface="Source Han Sans SC" pitchFamily="34" charset="0"/>
                <a:ea typeface="Source Han Sans SC" pitchFamily="34" charset="-122"/>
                <a:cs typeface="Source Han Sans SC" pitchFamily="34" charset="-120"/>
              </a:rPr>
              <a:t>时间资源挤占</a:t>
            </a:r>
            <a:endParaRPr lang="en-US" sz="900" dirty="0"/>
          </a:p>
        </p:txBody>
      </p:sp>
      <p:sp>
        <p:nvSpPr>
          <p:cNvPr id="16" name="Text 14"/>
          <p:cNvSpPr/>
          <p:nvPr/>
        </p:nvSpPr>
        <p:spPr>
          <a:xfrm>
            <a:off x="914400" y="2825496"/>
            <a:ext cx="5303520" cy="256032"/>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课外补习与作业量持续高位，学生自主时间被严重压缩，缺乏心理调节空间。</a:t>
            </a:r>
            <a:endParaRPr lang="en-US" sz="750" dirty="0"/>
          </a:p>
        </p:txBody>
      </p:sp>
      <p:sp>
        <p:nvSpPr>
          <p:cNvPr id="17" name="Shape 15"/>
          <p:cNvSpPr/>
          <p:nvPr/>
        </p:nvSpPr>
        <p:spPr>
          <a:xfrm>
            <a:off x="594360" y="3429000"/>
            <a:ext cx="5943600" cy="2194560"/>
          </a:xfrm>
          <a:prstGeom prst="roundRect">
            <a:avLst>
              <a:gd name="adj" fmla="val 2083"/>
            </a:avLst>
          </a:prstGeom>
          <a:solidFill>
            <a:srgbClr val="FFFFFF"/>
          </a:solidFill>
          <a:ln w="6350">
            <a:solidFill>
              <a:srgbClr val="E5E9F0"/>
            </a:solidFill>
            <a:prstDash val="solid"/>
          </a:ln>
        </p:spPr>
      </p:sp>
      <p:sp>
        <p:nvSpPr>
          <p:cNvPr id="18" name="Text 16"/>
          <p:cNvSpPr/>
          <p:nvPr/>
        </p:nvSpPr>
        <p:spPr>
          <a:xfrm>
            <a:off x="777240" y="3493008"/>
            <a:ext cx="2743200" cy="228600"/>
          </a:xfrm>
          <a:prstGeom prst="rect">
            <a:avLst/>
          </a:prstGeom>
          <a:noFill/>
          <a:ln/>
        </p:spPr>
        <p:txBody>
          <a:bodyPr wrap="square" rtlCol="0" anchor="ctr"/>
          <a:lstStyle/>
          <a:p>
            <a:pPr indent="0" marL="0">
              <a:buNone/>
            </a:pPr>
            <a:r>
              <a:rPr lang="en-US" sz="900" b="1" dirty="0">
                <a:solidFill>
                  <a:srgbClr val="1E2A38"/>
                </a:solidFill>
                <a:latin typeface="Source Han Sans SC" pitchFamily="34" charset="0"/>
                <a:ea typeface="Source Han Sans SC" pitchFamily="34" charset="-122"/>
                <a:cs typeface="Source Han Sans SC" pitchFamily="34" charset="-120"/>
              </a:rPr>
              <a:t>压力传导闭环</a:t>
            </a:r>
            <a:endParaRPr lang="en-US" sz="900" dirty="0"/>
          </a:p>
        </p:txBody>
      </p:sp>
      <p:sp>
        <p:nvSpPr>
          <p:cNvPr id="19" name="Shape 17"/>
          <p:cNvSpPr/>
          <p:nvPr/>
        </p:nvSpPr>
        <p:spPr>
          <a:xfrm>
            <a:off x="731520" y="3794760"/>
            <a:ext cx="777240" cy="365760"/>
          </a:xfrm>
          <a:prstGeom prst="roundRect">
            <a:avLst>
              <a:gd name="adj" fmla="val 10000"/>
            </a:avLst>
          </a:prstGeom>
          <a:solidFill>
            <a:srgbClr val="3A6EA5"/>
          </a:solidFill>
          <a:ln/>
        </p:spPr>
      </p:sp>
      <p:sp>
        <p:nvSpPr>
          <p:cNvPr id="20" name="Text 18"/>
          <p:cNvSpPr/>
          <p:nvPr/>
        </p:nvSpPr>
        <p:spPr>
          <a:xfrm>
            <a:off x="731520" y="3794760"/>
            <a:ext cx="777240" cy="365760"/>
          </a:xfrm>
          <a:prstGeom prst="rect">
            <a:avLst/>
          </a:prstGeom>
          <a:noFill/>
          <a:ln/>
        </p:spPr>
        <p:txBody>
          <a:bodyPr wrap="square" rtlCol="0" anchor="ctr"/>
          <a:lstStyle/>
          <a:p>
            <a:pPr algn="ctr" indent="0" marL="0">
              <a:buNone/>
            </a:pPr>
            <a:r>
              <a:rPr lang="en-US" sz="650" dirty="0">
                <a:solidFill>
                  <a:srgbClr val="FFFFFF"/>
                </a:solidFill>
                <a:latin typeface="Source Han Sans SC" pitchFamily="34" charset="0"/>
                <a:ea typeface="Source Han Sans SC" pitchFamily="34" charset="-122"/>
                <a:cs typeface="Source Han Sans SC" pitchFamily="34" charset="-120"/>
              </a:rPr>
              <a:t>高考竞争</a:t>
            </a:r>
            <a:endParaRPr lang="en-US" sz="650" dirty="0"/>
          </a:p>
        </p:txBody>
      </p:sp>
      <p:sp>
        <p:nvSpPr>
          <p:cNvPr id="21" name="Text 19"/>
          <p:cNvSpPr/>
          <p:nvPr/>
        </p:nvSpPr>
        <p:spPr>
          <a:xfrm>
            <a:off x="1481328" y="3822192"/>
            <a:ext cx="228600" cy="320040"/>
          </a:xfrm>
          <a:prstGeom prst="rect">
            <a:avLst/>
          </a:prstGeom>
          <a:noFill/>
          <a:ln/>
        </p:spPr>
        <p:txBody>
          <a:bodyPr wrap="square" rtlCol="0" anchor="ctr"/>
          <a:lstStyle/>
          <a:p>
            <a:pPr algn="ctr" indent="0" marL="0">
              <a:buNone/>
            </a:pPr>
            <a:r>
              <a:rPr lang="en-US" sz="900" dirty="0">
                <a:solidFill>
                  <a:srgbClr val="B0B8C4"/>
                </a:solidFill>
              </a:rPr>
              <a:t>→</a:t>
            </a:r>
            <a:endParaRPr lang="en-US" sz="900" dirty="0"/>
          </a:p>
        </p:txBody>
      </p:sp>
      <p:sp>
        <p:nvSpPr>
          <p:cNvPr id="22" name="Shape 20"/>
          <p:cNvSpPr/>
          <p:nvPr/>
        </p:nvSpPr>
        <p:spPr>
          <a:xfrm>
            <a:off x="1645920" y="3794760"/>
            <a:ext cx="777240" cy="365760"/>
          </a:xfrm>
          <a:prstGeom prst="roundRect">
            <a:avLst>
              <a:gd name="adj" fmla="val 10000"/>
            </a:avLst>
          </a:prstGeom>
          <a:solidFill>
            <a:srgbClr val="3A6EA5"/>
          </a:solidFill>
          <a:ln/>
        </p:spPr>
      </p:sp>
      <p:sp>
        <p:nvSpPr>
          <p:cNvPr id="23" name="Text 21"/>
          <p:cNvSpPr/>
          <p:nvPr/>
        </p:nvSpPr>
        <p:spPr>
          <a:xfrm>
            <a:off x="1645920" y="3794760"/>
            <a:ext cx="777240" cy="365760"/>
          </a:xfrm>
          <a:prstGeom prst="rect">
            <a:avLst/>
          </a:prstGeom>
          <a:noFill/>
          <a:ln/>
        </p:spPr>
        <p:txBody>
          <a:bodyPr wrap="square" rtlCol="0" anchor="ctr"/>
          <a:lstStyle/>
          <a:p>
            <a:pPr algn="ctr" indent="0" marL="0">
              <a:buNone/>
            </a:pPr>
            <a:r>
              <a:rPr lang="en-US" sz="650" dirty="0">
                <a:solidFill>
                  <a:srgbClr val="FFFFFF"/>
                </a:solidFill>
                <a:latin typeface="Source Han Sans SC" pitchFamily="34" charset="0"/>
                <a:ea typeface="Source Han Sans SC" pitchFamily="34" charset="-122"/>
                <a:cs typeface="Source Han Sans SC" pitchFamily="34" charset="-120"/>
              </a:rPr>
              <a:t>长时间学习</a:t>
            </a:r>
            <a:endParaRPr lang="en-US" sz="650" dirty="0"/>
          </a:p>
        </p:txBody>
      </p:sp>
      <p:sp>
        <p:nvSpPr>
          <p:cNvPr id="24" name="Text 22"/>
          <p:cNvSpPr/>
          <p:nvPr/>
        </p:nvSpPr>
        <p:spPr>
          <a:xfrm>
            <a:off x="2395728" y="3822192"/>
            <a:ext cx="228600" cy="320040"/>
          </a:xfrm>
          <a:prstGeom prst="rect">
            <a:avLst/>
          </a:prstGeom>
          <a:noFill/>
          <a:ln/>
        </p:spPr>
        <p:txBody>
          <a:bodyPr wrap="square" rtlCol="0" anchor="ctr"/>
          <a:lstStyle/>
          <a:p>
            <a:pPr algn="ctr" indent="0" marL="0">
              <a:buNone/>
            </a:pPr>
            <a:r>
              <a:rPr lang="en-US" sz="900" dirty="0">
                <a:solidFill>
                  <a:srgbClr val="B0B8C4"/>
                </a:solidFill>
              </a:rPr>
              <a:t>→</a:t>
            </a:r>
            <a:endParaRPr lang="en-US" sz="900" dirty="0"/>
          </a:p>
        </p:txBody>
      </p:sp>
      <p:sp>
        <p:nvSpPr>
          <p:cNvPr id="25" name="Shape 23"/>
          <p:cNvSpPr/>
          <p:nvPr/>
        </p:nvSpPr>
        <p:spPr>
          <a:xfrm>
            <a:off x="2560320" y="3794760"/>
            <a:ext cx="777240" cy="365760"/>
          </a:xfrm>
          <a:prstGeom prst="roundRect">
            <a:avLst>
              <a:gd name="adj" fmla="val 10000"/>
            </a:avLst>
          </a:prstGeom>
          <a:solidFill>
            <a:srgbClr val="3A6EA5"/>
          </a:solidFill>
          <a:ln/>
        </p:spPr>
      </p:sp>
      <p:sp>
        <p:nvSpPr>
          <p:cNvPr id="26" name="Text 24"/>
          <p:cNvSpPr/>
          <p:nvPr/>
        </p:nvSpPr>
        <p:spPr>
          <a:xfrm>
            <a:off x="2560320" y="3794760"/>
            <a:ext cx="777240" cy="365760"/>
          </a:xfrm>
          <a:prstGeom prst="rect">
            <a:avLst/>
          </a:prstGeom>
          <a:noFill/>
          <a:ln/>
        </p:spPr>
        <p:txBody>
          <a:bodyPr wrap="square" rtlCol="0" anchor="ctr"/>
          <a:lstStyle/>
          <a:p>
            <a:pPr algn="ctr" indent="0" marL="0">
              <a:buNone/>
            </a:pPr>
            <a:r>
              <a:rPr lang="en-US" sz="650" dirty="0">
                <a:solidFill>
                  <a:srgbClr val="FFFFFF"/>
                </a:solidFill>
                <a:latin typeface="Source Han Sans SC" pitchFamily="34" charset="0"/>
                <a:ea typeface="Source Han Sans SC" pitchFamily="34" charset="-122"/>
                <a:cs typeface="Source Han Sans SC" pitchFamily="34" charset="-120"/>
              </a:rPr>
              <a:t>睡眠剥夺</a:t>
            </a:r>
            <a:endParaRPr lang="en-US" sz="650" dirty="0"/>
          </a:p>
        </p:txBody>
      </p:sp>
      <p:sp>
        <p:nvSpPr>
          <p:cNvPr id="27" name="Text 25"/>
          <p:cNvSpPr/>
          <p:nvPr/>
        </p:nvSpPr>
        <p:spPr>
          <a:xfrm>
            <a:off x="3310128" y="3822192"/>
            <a:ext cx="228600" cy="320040"/>
          </a:xfrm>
          <a:prstGeom prst="rect">
            <a:avLst/>
          </a:prstGeom>
          <a:noFill/>
          <a:ln/>
        </p:spPr>
        <p:txBody>
          <a:bodyPr wrap="square" rtlCol="0" anchor="ctr"/>
          <a:lstStyle/>
          <a:p>
            <a:pPr algn="ctr" indent="0" marL="0">
              <a:buNone/>
            </a:pPr>
            <a:r>
              <a:rPr lang="en-US" sz="900" dirty="0">
                <a:solidFill>
                  <a:srgbClr val="B0B8C4"/>
                </a:solidFill>
              </a:rPr>
              <a:t>→</a:t>
            </a:r>
            <a:endParaRPr lang="en-US" sz="900" dirty="0"/>
          </a:p>
        </p:txBody>
      </p:sp>
      <p:sp>
        <p:nvSpPr>
          <p:cNvPr id="28" name="Shape 26"/>
          <p:cNvSpPr/>
          <p:nvPr/>
        </p:nvSpPr>
        <p:spPr>
          <a:xfrm>
            <a:off x="3474720" y="3794760"/>
            <a:ext cx="777240" cy="365760"/>
          </a:xfrm>
          <a:prstGeom prst="roundRect">
            <a:avLst>
              <a:gd name="adj" fmla="val 10000"/>
            </a:avLst>
          </a:prstGeom>
          <a:solidFill>
            <a:srgbClr val="D98E04"/>
          </a:solidFill>
          <a:ln/>
        </p:spPr>
      </p:sp>
      <p:sp>
        <p:nvSpPr>
          <p:cNvPr id="29" name="Text 27"/>
          <p:cNvSpPr/>
          <p:nvPr/>
        </p:nvSpPr>
        <p:spPr>
          <a:xfrm>
            <a:off x="3474720" y="3794760"/>
            <a:ext cx="777240" cy="365760"/>
          </a:xfrm>
          <a:prstGeom prst="rect">
            <a:avLst/>
          </a:prstGeom>
          <a:noFill/>
          <a:ln/>
        </p:spPr>
        <p:txBody>
          <a:bodyPr wrap="square" rtlCol="0" anchor="ctr"/>
          <a:lstStyle/>
          <a:p>
            <a:pPr algn="ctr" indent="0" marL="0">
              <a:buNone/>
            </a:pPr>
            <a:r>
              <a:rPr lang="en-US" sz="650" dirty="0">
                <a:solidFill>
                  <a:srgbClr val="FFFFFF"/>
                </a:solidFill>
                <a:latin typeface="Source Han Sans SC" pitchFamily="34" charset="0"/>
                <a:ea typeface="Source Han Sans SC" pitchFamily="34" charset="-122"/>
                <a:cs typeface="Source Han Sans SC" pitchFamily="34" charset="-120"/>
              </a:rPr>
              <a:t>焦虑累积</a:t>
            </a:r>
            <a:endParaRPr lang="en-US" sz="650" dirty="0"/>
          </a:p>
        </p:txBody>
      </p:sp>
      <p:sp>
        <p:nvSpPr>
          <p:cNvPr id="30" name="Text 28"/>
          <p:cNvSpPr/>
          <p:nvPr/>
        </p:nvSpPr>
        <p:spPr>
          <a:xfrm>
            <a:off x="4224528" y="3822192"/>
            <a:ext cx="228600" cy="320040"/>
          </a:xfrm>
          <a:prstGeom prst="rect">
            <a:avLst/>
          </a:prstGeom>
          <a:noFill/>
          <a:ln/>
        </p:spPr>
        <p:txBody>
          <a:bodyPr wrap="square" rtlCol="0" anchor="ctr"/>
          <a:lstStyle/>
          <a:p>
            <a:pPr algn="ctr" indent="0" marL="0">
              <a:buNone/>
            </a:pPr>
            <a:r>
              <a:rPr lang="en-US" sz="900" dirty="0">
                <a:solidFill>
                  <a:srgbClr val="B0B8C4"/>
                </a:solidFill>
              </a:rPr>
              <a:t>→</a:t>
            </a:r>
            <a:endParaRPr lang="en-US" sz="900" dirty="0"/>
          </a:p>
        </p:txBody>
      </p:sp>
      <p:sp>
        <p:nvSpPr>
          <p:cNvPr id="31" name="Shape 29"/>
          <p:cNvSpPr/>
          <p:nvPr/>
        </p:nvSpPr>
        <p:spPr>
          <a:xfrm>
            <a:off x="4389120" y="3794760"/>
            <a:ext cx="777240" cy="365760"/>
          </a:xfrm>
          <a:prstGeom prst="roundRect">
            <a:avLst>
              <a:gd name="adj" fmla="val 10000"/>
            </a:avLst>
          </a:prstGeom>
          <a:solidFill>
            <a:srgbClr val="D98E04"/>
          </a:solidFill>
          <a:ln/>
        </p:spPr>
      </p:sp>
      <p:sp>
        <p:nvSpPr>
          <p:cNvPr id="32" name="Text 30"/>
          <p:cNvSpPr/>
          <p:nvPr/>
        </p:nvSpPr>
        <p:spPr>
          <a:xfrm>
            <a:off x="4389120" y="3794760"/>
            <a:ext cx="777240" cy="365760"/>
          </a:xfrm>
          <a:prstGeom prst="rect">
            <a:avLst/>
          </a:prstGeom>
          <a:noFill/>
          <a:ln/>
        </p:spPr>
        <p:txBody>
          <a:bodyPr wrap="square" rtlCol="0" anchor="ctr"/>
          <a:lstStyle/>
          <a:p>
            <a:pPr algn="ctr" indent="0" marL="0">
              <a:buNone/>
            </a:pPr>
            <a:r>
              <a:rPr lang="en-US" sz="650" dirty="0">
                <a:solidFill>
                  <a:srgbClr val="FFFFFF"/>
                </a:solidFill>
                <a:latin typeface="Source Han Sans SC" pitchFamily="34" charset="0"/>
                <a:ea typeface="Source Han Sans SC" pitchFamily="34" charset="-122"/>
                <a:cs typeface="Source Han Sans SC" pitchFamily="34" charset="-120"/>
              </a:rPr>
              <a:t>效率下降</a:t>
            </a:r>
            <a:endParaRPr lang="en-US" sz="650" dirty="0"/>
          </a:p>
        </p:txBody>
      </p:sp>
      <p:sp>
        <p:nvSpPr>
          <p:cNvPr id="33" name="Text 31"/>
          <p:cNvSpPr/>
          <p:nvPr/>
        </p:nvSpPr>
        <p:spPr>
          <a:xfrm>
            <a:off x="5138928" y="3822192"/>
            <a:ext cx="228600" cy="320040"/>
          </a:xfrm>
          <a:prstGeom prst="rect">
            <a:avLst/>
          </a:prstGeom>
          <a:noFill/>
          <a:ln/>
        </p:spPr>
        <p:txBody>
          <a:bodyPr wrap="square" rtlCol="0" anchor="ctr"/>
          <a:lstStyle/>
          <a:p>
            <a:pPr algn="ctr" indent="0" marL="0">
              <a:buNone/>
            </a:pPr>
            <a:r>
              <a:rPr lang="en-US" sz="900" dirty="0">
                <a:solidFill>
                  <a:srgbClr val="B0B8C4"/>
                </a:solidFill>
              </a:rPr>
              <a:t>→</a:t>
            </a:r>
            <a:endParaRPr lang="en-US" sz="900" dirty="0"/>
          </a:p>
        </p:txBody>
      </p:sp>
      <p:sp>
        <p:nvSpPr>
          <p:cNvPr id="34" name="Shape 32"/>
          <p:cNvSpPr/>
          <p:nvPr/>
        </p:nvSpPr>
        <p:spPr>
          <a:xfrm>
            <a:off x="5303520" y="3794760"/>
            <a:ext cx="777240" cy="365760"/>
          </a:xfrm>
          <a:prstGeom prst="roundRect">
            <a:avLst>
              <a:gd name="adj" fmla="val 10000"/>
            </a:avLst>
          </a:prstGeom>
          <a:solidFill>
            <a:srgbClr val="D98E04"/>
          </a:solidFill>
          <a:ln/>
        </p:spPr>
      </p:sp>
      <p:sp>
        <p:nvSpPr>
          <p:cNvPr id="35" name="Text 33"/>
          <p:cNvSpPr/>
          <p:nvPr/>
        </p:nvSpPr>
        <p:spPr>
          <a:xfrm>
            <a:off x="5303520" y="3794760"/>
            <a:ext cx="777240" cy="365760"/>
          </a:xfrm>
          <a:prstGeom prst="rect">
            <a:avLst/>
          </a:prstGeom>
          <a:noFill/>
          <a:ln/>
        </p:spPr>
        <p:txBody>
          <a:bodyPr wrap="square" rtlCol="0" anchor="ctr"/>
          <a:lstStyle/>
          <a:p>
            <a:pPr algn="ctr" indent="0" marL="0">
              <a:buNone/>
            </a:pPr>
            <a:r>
              <a:rPr lang="en-US" sz="650" dirty="0">
                <a:solidFill>
                  <a:srgbClr val="FFFFFF"/>
                </a:solidFill>
                <a:latin typeface="Source Han Sans SC" pitchFamily="34" charset="0"/>
                <a:ea typeface="Source Han Sans SC" pitchFamily="34" charset="-122"/>
                <a:cs typeface="Source Han Sans SC" pitchFamily="34" charset="-120"/>
              </a:rPr>
              <a:t>压力加剧</a:t>
            </a:r>
            <a:endParaRPr lang="en-US" sz="650" dirty="0"/>
          </a:p>
        </p:txBody>
      </p:sp>
      <p:sp>
        <p:nvSpPr>
          <p:cNvPr id="36" name="Text 34"/>
          <p:cNvSpPr/>
          <p:nvPr/>
        </p:nvSpPr>
        <p:spPr>
          <a:xfrm>
            <a:off x="777240" y="4251960"/>
            <a:ext cx="5486400" cy="228600"/>
          </a:xfrm>
          <a:prstGeom prst="rect">
            <a:avLst/>
          </a:prstGeom>
          <a:noFill/>
          <a:ln/>
        </p:spPr>
        <p:txBody>
          <a:bodyPr wrap="square" rtlCol="0" anchor="ctr"/>
          <a:lstStyle/>
          <a:p>
            <a:pPr indent="0" marL="0">
              <a:buNone/>
            </a:pPr>
            <a:r>
              <a:rPr lang="en-US" sz="750" dirty="0">
                <a:solidFill>
                  <a:srgbClr val="D98E04"/>
                </a:solidFill>
                <a:latin typeface="Source Han Sans SC" pitchFamily="34" charset="0"/>
                <a:ea typeface="Source Han Sans SC" pitchFamily="34" charset="-122"/>
                <a:cs typeface="Source Han Sans SC" pitchFamily="34" charset="-120"/>
              </a:rPr>
              <a:t>需通过结构性干预打破这一闭环</a:t>
            </a:r>
            <a:endParaRPr lang="en-US" sz="750" dirty="0"/>
          </a:p>
        </p:txBody>
      </p:sp>
      <p:sp>
        <p:nvSpPr>
          <p:cNvPr id="37" name="Shape 35"/>
          <p:cNvSpPr/>
          <p:nvPr/>
        </p:nvSpPr>
        <p:spPr>
          <a:xfrm>
            <a:off x="6766560" y="1051560"/>
            <a:ext cx="4846320" cy="4572000"/>
          </a:xfrm>
          <a:prstGeom prst="roundRect">
            <a:avLst>
              <a:gd name="adj" fmla="val 1000"/>
            </a:avLst>
          </a:prstGeom>
          <a:solidFill>
            <a:srgbClr val="FFFFFF"/>
          </a:solidFill>
          <a:ln w="6350">
            <a:solidFill>
              <a:srgbClr val="E5E9F0"/>
            </a:solidFill>
            <a:prstDash val="solid"/>
          </a:ln>
        </p:spPr>
      </p:sp>
      <p:sp>
        <p:nvSpPr>
          <p:cNvPr id="38" name="Shape 36"/>
          <p:cNvSpPr/>
          <p:nvPr/>
        </p:nvSpPr>
        <p:spPr>
          <a:xfrm>
            <a:off x="6766560" y="1051560"/>
            <a:ext cx="4846320" cy="274320"/>
          </a:xfrm>
          <a:prstGeom prst="rect">
            <a:avLst/>
          </a:prstGeom>
          <a:solidFill>
            <a:srgbClr val="D98E04"/>
          </a:solidFill>
          <a:ln/>
        </p:spPr>
      </p:sp>
      <p:sp>
        <p:nvSpPr>
          <p:cNvPr id="39" name="Text 37"/>
          <p:cNvSpPr/>
          <p:nvPr/>
        </p:nvSpPr>
        <p:spPr>
          <a:xfrm>
            <a:off x="6766560" y="1051560"/>
            <a:ext cx="4846320" cy="274320"/>
          </a:xfrm>
          <a:prstGeom prst="rect">
            <a:avLst/>
          </a:prstGeom>
          <a:noFill/>
          <a:ln/>
        </p:spPr>
        <p:txBody>
          <a:bodyPr wrap="square" rtlCol="0" anchor="ctr"/>
          <a:lstStyle/>
          <a:p>
            <a:pPr algn="ctr" indent="0" marL="0">
              <a:buNone/>
            </a:pPr>
            <a:r>
              <a:rPr lang="en-US" sz="900" b="1" dirty="0">
                <a:solidFill>
                  <a:srgbClr val="FFFFFF"/>
                </a:solidFill>
                <a:latin typeface="Source Han Sans SC" pitchFamily="34" charset="0"/>
                <a:ea typeface="Source Han Sans SC" pitchFamily="34" charset="-122"/>
                <a:cs typeface="Source Han Sans SC" pitchFamily="34" charset="-120"/>
              </a:rPr>
              <a:t>关键支撑数据</a:t>
            </a:r>
            <a:endParaRPr lang="en-US" sz="900" dirty="0"/>
          </a:p>
        </p:txBody>
      </p:sp>
      <p:sp>
        <p:nvSpPr>
          <p:cNvPr id="40" name="Shape 38"/>
          <p:cNvSpPr/>
          <p:nvPr/>
        </p:nvSpPr>
        <p:spPr>
          <a:xfrm>
            <a:off x="6903720" y="1463040"/>
            <a:ext cx="4572000" cy="594360"/>
          </a:xfrm>
          <a:prstGeom prst="roundRect">
            <a:avLst>
              <a:gd name="adj" fmla="val 6154"/>
            </a:avLst>
          </a:prstGeom>
          <a:solidFill>
            <a:srgbClr val="FFFFFF"/>
          </a:solidFill>
          <a:ln w="3810">
            <a:solidFill>
              <a:srgbClr val="E5E9F0"/>
            </a:solidFill>
            <a:prstDash val="solid"/>
          </a:ln>
        </p:spPr>
      </p:sp>
      <p:sp>
        <p:nvSpPr>
          <p:cNvPr id="41" name="Text 39"/>
          <p:cNvSpPr/>
          <p:nvPr/>
        </p:nvSpPr>
        <p:spPr>
          <a:xfrm>
            <a:off x="7040880" y="1490472"/>
            <a:ext cx="4297680" cy="292608"/>
          </a:xfrm>
          <a:prstGeom prst="rect">
            <a:avLst/>
          </a:prstGeom>
          <a:noFill/>
          <a:ln/>
        </p:spPr>
        <p:txBody>
          <a:bodyPr wrap="square" rtlCol="0" anchor="ctr"/>
          <a:lstStyle/>
          <a:p>
            <a:pPr indent="0" marL="0">
              <a:buNone/>
            </a:pPr>
            <a:r>
              <a:rPr lang="en-US" sz="800" dirty="0">
                <a:solidFill>
                  <a:srgbClr val="1E2A38"/>
                </a:solidFill>
                <a:latin typeface="Source Han Sans SC" pitchFamily="34" charset="0"/>
                <a:ea typeface="Source Han Sans SC" pitchFamily="34" charset="-122"/>
                <a:cs typeface="Source Han Sans SC" pitchFamily="34" charset="-120"/>
              </a:rPr>
              <a:t>76.8%学生认为学业是首要压力源</a:t>
            </a:r>
            <a:endParaRPr lang="en-US" sz="800" dirty="0"/>
          </a:p>
        </p:txBody>
      </p:sp>
      <p:sp>
        <p:nvSpPr>
          <p:cNvPr id="42" name="Text 40"/>
          <p:cNvSpPr/>
          <p:nvPr/>
        </p:nvSpPr>
        <p:spPr>
          <a:xfrm>
            <a:off x="7040880" y="1783080"/>
            <a:ext cx="4297680" cy="201168"/>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本次调研 N=672</a:t>
            </a:r>
            <a:endParaRPr lang="en-US" sz="650" dirty="0"/>
          </a:p>
        </p:txBody>
      </p:sp>
      <p:sp>
        <p:nvSpPr>
          <p:cNvPr id="43" name="Shape 41"/>
          <p:cNvSpPr/>
          <p:nvPr/>
        </p:nvSpPr>
        <p:spPr>
          <a:xfrm>
            <a:off x="6903720" y="2240280"/>
            <a:ext cx="4572000" cy="594360"/>
          </a:xfrm>
          <a:prstGeom prst="roundRect">
            <a:avLst>
              <a:gd name="adj" fmla="val 6154"/>
            </a:avLst>
          </a:prstGeom>
          <a:solidFill>
            <a:srgbClr val="FFFFFF"/>
          </a:solidFill>
          <a:ln w="3810">
            <a:solidFill>
              <a:srgbClr val="E5E9F0"/>
            </a:solidFill>
            <a:prstDash val="solid"/>
          </a:ln>
        </p:spPr>
      </p:sp>
      <p:sp>
        <p:nvSpPr>
          <p:cNvPr id="44" name="Text 42"/>
          <p:cNvSpPr/>
          <p:nvPr/>
        </p:nvSpPr>
        <p:spPr>
          <a:xfrm>
            <a:off x="7040880" y="2267712"/>
            <a:ext cx="4297680" cy="292608"/>
          </a:xfrm>
          <a:prstGeom prst="rect">
            <a:avLst/>
          </a:prstGeom>
          <a:noFill/>
          <a:ln/>
        </p:spPr>
        <p:txBody>
          <a:bodyPr wrap="square" rtlCol="0" anchor="ctr"/>
          <a:lstStyle/>
          <a:p>
            <a:pPr indent="0" marL="0">
              <a:buNone/>
            </a:pPr>
            <a:r>
              <a:rPr lang="en-US" sz="800" dirty="0">
                <a:solidFill>
                  <a:srgbClr val="1E2A38"/>
                </a:solidFill>
                <a:latin typeface="Source Han Sans SC" pitchFamily="34" charset="0"/>
                <a:ea typeface="Source Han Sans SC" pitchFamily="34" charset="-122"/>
                <a:cs typeface="Source Han Sans SC" pitchFamily="34" charset="-120"/>
              </a:rPr>
              <a:t>高中生日均学习时长高出芬兰同龄约34%</a:t>
            </a:r>
            <a:endParaRPr lang="en-US" sz="800" dirty="0"/>
          </a:p>
        </p:txBody>
      </p:sp>
      <p:sp>
        <p:nvSpPr>
          <p:cNvPr id="45" name="Text 43"/>
          <p:cNvSpPr/>
          <p:nvPr/>
        </p:nvSpPr>
        <p:spPr>
          <a:xfrm>
            <a:off x="7040880" y="2560320"/>
            <a:ext cx="4297680" cy="201168"/>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OECD PISA 2022</a:t>
            </a:r>
            <a:endParaRPr lang="en-US" sz="650" dirty="0"/>
          </a:p>
        </p:txBody>
      </p:sp>
      <p:sp>
        <p:nvSpPr>
          <p:cNvPr id="46" name="Shape 44"/>
          <p:cNvSpPr/>
          <p:nvPr/>
        </p:nvSpPr>
        <p:spPr>
          <a:xfrm>
            <a:off x="6903720" y="3017520"/>
            <a:ext cx="4572000" cy="594360"/>
          </a:xfrm>
          <a:prstGeom prst="roundRect">
            <a:avLst>
              <a:gd name="adj" fmla="val 6154"/>
            </a:avLst>
          </a:prstGeom>
          <a:solidFill>
            <a:srgbClr val="FFFFFF"/>
          </a:solidFill>
          <a:ln w="3810">
            <a:solidFill>
              <a:srgbClr val="E5E9F0"/>
            </a:solidFill>
            <a:prstDash val="solid"/>
          </a:ln>
        </p:spPr>
      </p:sp>
      <p:sp>
        <p:nvSpPr>
          <p:cNvPr id="47" name="Text 45"/>
          <p:cNvSpPr/>
          <p:nvPr/>
        </p:nvSpPr>
        <p:spPr>
          <a:xfrm>
            <a:off x="7040880" y="3044952"/>
            <a:ext cx="4297680" cy="292608"/>
          </a:xfrm>
          <a:prstGeom prst="rect">
            <a:avLst/>
          </a:prstGeom>
          <a:noFill/>
          <a:ln/>
        </p:spPr>
        <p:txBody>
          <a:bodyPr wrap="square" rtlCol="0" anchor="ctr"/>
          <a:lstStyle/>
          <a:p>
            <a:pPr indent="0" marL="0">
              <a:buNone/>
            </a:pPr>
            <a:r>
              <a:rPr lang="en-US" sz="800" dirty="0">
                <a:solidFill>
                  <a:srgbClr val="1E2A38"/>
                </a:solidFill>
                <a:latin typeface="Source Han Sans SC" pitchFamily="34" charset="0"/>
                <a:ea typeface="Source Han Sans SC" pitchFamily="34" charset="-122"/>
                <a:cs typeface="Source Han Sans SC" pitchFamily="34" charset="-120"/>
              </a:rPr>
              <a:t>仅6.7%高中生达到教育部推荐睡眠标准</a:t>
            </a:r>
            <a:endParaRPr lang="en-US" sz="800" dirty="0"/>
          </a:p>
        </p:txBody>
      </p:sp>
      <p:sp>
        <p:nvSpPr>
          <p:cNvPr id="48" name="Text 46"/>
          <p:cNvSpPr/>
          <p:nvPr/>
        </p:nvSpPr>
        <p:spPr>
          <a:xfrm>
            <a:off x="7040880" y="3337560"/>
            <a:ext cx="4297680" cy="201168"/>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中国睡眠研究会 2025</a:t>
            </a:r>
            <a:endParaRPr lang="en-US" sz="650" dirty="0"/>
          </a:p>
        </p:txBody>
      </p:sp>
      <p:sp>
        <p:nvSpPr>
          <p:cNvPr id="49" name="Shape 47"/>
          <p:cNvSpPr/>
          <p:nvPr/>
        </p:nvSpPr>
        <p:spPr>
          <a:xfrm>
            <a:off x="6903720" y="3794760"/>
            <a:ext cx="4572000" cy="594360"/>
          </a:xfrm>
          <a:prstGeom prst="roundRect">
            <a:avLst>
              <a:gd name="adj" fmla="val 6154"/>
            </a:avLst>
          </a:prstGeom>
          <a:solidFill>
            <a:srgbClr val="FFFFFF"/>
          </a:solidFill>
          <a:ln w="3810">
            <a:solidFill>
              <a:srgbClr val="E5E9F0"/>
            </a:solidFill>
            <a:prstDash val="solid"/>
          </a:ln>
        </p:spPr>
      </p:sp>
      <p:sp>
        <p:nvSpPr>
          <p:cNvPr id="50" name="Text 48"/>
          <p:cNvSpPr/>
          <p:nvPr/>
        </p:nvSpPr>
        <p:spPr>
          <a:xfrm>
            <a:off x="7040880" y="3822192"/>
            <a:ext cx="4297680" cy="292608"/>
          </a:xfrm>
          <a:prstGeom prst="rect">
            <a:avLst/>
          </a:prstGeom>
          <a:noFill/>
          <a:ln/>
        </p:spPr>
        <p:txBody>
          <a:bodyPr wrap="square" rtlCol="0" anchor="ctr"/>
          <a:lstStyle/>
          <a:p>
            <a:pPr indent="0" marL="0">
              <a:buNone/>
            </a:pPr>
            <a:r>
              <a:rPr lang="en-US" sz="800" dirty="0">
                <a:solidFill>
                  <a:srgbClr val="1E2A38"/>
                </a:solidFill>
                <a:latin typeface="Source Han Sans SC" pitchFamily="34" charset="0"/>
                <a:ea typeface="Source Han Sans SC" pitchFamily="34" charset="-122"/>
                <a:cs typeface="Source Han Sans SC" pitchFamily="34" charset="-120"/>
              </a:rPr>
              <a:t>因心理问题申请休学比例较十年前上升45%</a:t>
            </a:r>
            <a:endParaRPr lang="en-US" sz="800" dirty="0"/>
          </a:p>
        </p:txBody>
      </p:sp>
      <p:sp>
        <p:nvSpPr>
          <p:cNvPr id="51" name="Text 49"/>
          <p:cNvSpPr/>
          <p:nvPr/>
        </p:nvSpPr>
        <p:spPr>
          <a:xfrm>
            <a:off x="7040880" y="4114800"/>
            <a:ext cx="4297680" cy="201168"/>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教育部相关统计 2024</a:t>
            </a:r>
            <a:endParaRPr lang="en-US" sz="650" dirty="0"/>
          </a:p>
        </p:txBody>
      </p:sp>
      <p:sp>
        <p:nvSpPr>
          <p:cNvPr id="52" name="Text 50"/>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10/23</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主要问题二：心理支持资源的结构性短缺</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Issue 2: Structural Shortage</a:t>
            </a:r>
            <a:endParaRPr lang="en-US" sz="1000" dirty="0"/>
          </a:p>
        </p:txBody>
      </p:sp>
      <p:sp>
        <p:nvSpPr>
          <p:cNvPr id="5" name="Shape 3"/>
          <p:cNvSpPr/>
          <p:nvPr/>
        </p:nvSpPr>
        <p:spPr>
          <a:xfrm>
            <a:off x="594360" y="1051560"/>
            <a:ext cx="5394960" cy="4572000"/>
          </a:xfrm>
          <a:prstGeom prst="roundRect">
            <a:avLst>
              <a:gd name="adj" fmla="val 1000"/>
            </a:avLst>
          </a:prstGeom>
          <a:solidFill>
            <a:srgbClr val="FFFFFF"/>
          </a:solidFill>
          <a:ln w="6350">
            <a:solidFill>
              <a:srgbClr val="E5E9F0"/>
            </a:solidFill>
            <a:prstDash val="solid"/>
          </a:ln>
        </p:spPr>
      </p:sp>
      <p:sp>
        <p:nvSpPr>
          <p:cNvPr id="6" name="Shape 4"/>
          <p:cNvSpPr/>
          <p:nvPr/>
        </p:nvSpPr>
        <p:spPr>
          <a:xfrm>
            <a:off x="594360" y="1051560"/>
            <a:ext cx="5394960" cy="320040"/>
          </a:xfrm>
          <a:prstGeom prst="rect">
            <a:avLst/>
          </a:prstGeom>
          <a:solidFill>
            <a:srgbClr val="D98E04"/>
          </a:solidFill>
          <a:ln/>
        </p:spPr>
      </p:sp>
      <p:sp>
        <p:nvSpPr>
          <p:cNvPr id="7" name="Text 5"/>
          <p:cNvSpPr/>
          <p:nvPr/>
        </p:nvSpPr>
        <p:spPr>
          <a:xfrm>
            <a:off x="594360" y="1051560"/>
            <a:ext cx="5394960" cy="320040"/>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现实困境</a:t>
            </a:r>
            <a:endParaRPr lang="en-US" sz="1000" dirty="0"/>
          </a:p>
        </p:txBody>
      </p:sp>
      <p:sp>
        <p:nvSpPr>
          <p:cNvPr id="8" name="Shape 6"/>
          <p:cNvSpPr/>
          <p:nvPr/>
        </p:nvSpPr>
        <p:spPr>
          <a:xfrm>
            <a:off x="731520" y="1508760"/>
            <a:ext cx="36576" cy="548640"/>
          </a:xfrm>
          <a:prstGeom prst="rect">
            <a:avLst/>
          </a:prstGeom>
          <a:solidFill>
            <a:srgbClr val="D98E04"/>
          </a:solidFill>
          <a:ln/>
        </p:spPr>
      </p:sp>
      <p:sp>
        <p:nvSpPr>
          <p:cNvPr id="9" name="Text 7"/>
          <p:cNvSpPr/>
          <p:nvPr/>
        </p:nvSpPr>
        <p:spPr>
          <a:xfrm>
            <a:off x="914400" y="1508760"/>
            <a:ext cx="4846320" cy="228600"/>
          </a:xfrm>
          <a:prstGeom prst="rect">
            <a:avLst/>
          </a:prstGeom>
          <a:noFill/>
          <a:ln/>
        </p:spPr>
        <p:txBody>
          <a:bodyPr wrap="square" rtlCol="0" anchor="ctr"/>
          <a:lstStyle/>
          <a:p>
            <a:pPr indent="0" marL="0">
              <a:buNone/>
            </a:pPr>
            <a:r>
              <a:rPr lang="en-US" sz="850" b="1" dirty="0">
                <a:solidFill>
                  <a:srgbClr val="1E2A38"/>
                </a:solidFill>
                <a:latin typeface="Source Han Sans SC" pitchFamily="34" charset="0"/>
                <a:ea typeface="Source Han Sans SC" pitchFamily="34" charset="-122"/>
                <a:cs typeface="Source Han Sans SC" pitchFamily="34" charset="-120"/>
              </a:rPr>
              <a:t>心理教师师生比严重不足</a:t>
            </a:r>
            <a:endParaRPr lang="en-US" sz="850" dirty="0"/>
          </a:p>
        </p:txBody>
      </p:sp>
      <p:sp>
        <p:nvSpPr>
          <p:cNvPr id="10" name="Text 8"/>
          <p:cNvSpPr/>
          <p:nvPr/>
        </p:nvSpPr>
        <p:spPr>
          <a:xfrm>
            <a:off x="914400" y="1764792"/>
            <a:ext cx="4846320" cy="292608"/>
          </a:xfrm>
          <a:prstGeom prst="rect">
            <a:avLst/>
          </a:prstGeom>
          <a:noFill/>
          <a:ln/>
        </p:spPr>
        <p:txBody>
          <a:bodyPr wrap="square" rtlCol="0" anchor="ctr"/>
          <a:lstStyle/>
          <a:p>
            <a:pPr indent="0" marL="0">
              <a:buNone/>
            </a:pPr>
            <a:r>
              <a:rPr lang="en-US" sz="700" dirty="0">
                <a:solidFill>
                  <a:srgbClr val="8899AA"/>
                </a:solidFill>
                <a:latin typeface="Source Han Sans SC" pitchFamily="34" charset="0"/>
                <a:ea typeface="Source Han Sans SC" pitchFamily="34" charset="-122"/>
                <a:cs typeface="Source Han Sans SC" pitchFamily="34" charset="-120"/>
              </a:rPr>
              <a:t>全国中小学心理教师缺口约2.3万人。部分学校心理教师被借调从事行政工作。（教育部 2024）</a:t>
            </a:r>
            <a:endParaRPr lang="en-US" sz="700" dirty="0"/>
          </a:p>
        </p:txBody>
      </p:sp>
      <p:sp>
        <p:nvSpPr>
          <p:cNvPr id="11" name="Shape 9"/>
          <p:cNvSpPr/>
          <p:nvPr/>
        </p:nvSpPr>
        <p:spPr>
          <a:xfrm>
            <a:off x="731520" y="2258568"/>
            <a:ext cx="36576" cy="548640"/>
          </a:xfrm>
          <a:prstGeom prst="rect">
            <a:avLst/>
          </a:prstGeom>
          <a:solidFill>
            <a:srgbClr val="D98E04"/>
          </a:solidFill>
          <a:ln/>
        </p:spPr>
      </p:sp>
      <p:sp>
        <p:nvSpPr>
          <p:cNvPr id="12" name="Text 10"/>
          <p:cNvSpPr/>
          <p:nvPr/>
        </p:nvSpPr>
        <p:spPr>
          <a:xfrm>
            <a:off x="914400" y="2258568"/>
            <a:ext cx="4846320" cy="228600"/>
          </a:xfrm>
          <a:prstGeom prst="rect">
            <a:avLst/>
          </a:prstGeom>
          <a:noFill/>
          <a:ln/>
        </p:spPr>
        <p:txBody>
          <a:bodyPr wrap="square" rtlCol="0" anchor="ctr"/>
          <a:lstStyle/>
          <a:p>
            <a:pPr indent="0" marL="0">
              <a:buNone/>
            </a:pPr>
            <a:r>
              <a:rPr lang="en-US" sz="850" b="1" dirty="0">
                <a:solidFill>
                  <a:srgbClr val="1E2A38"/>
                </a:solidFill>
                <a:latin typeface="Source Han Sans SC" pitchFamily="34" charset="0"/>
                <a:ea typeface="Source Han Sans SC" pitchFamily="34" charset="-122"/>
                <a:cs typeface="Source Han Sans SC" pitchFamily="34" charset="-120"/>
              </a:rPr>
              <a:t>咨询室有门难进</a:t>
            </a:r>
            <a:endParaRPr lang="en-US" sz="850" dirty="0"/>
          </a:p>
        </p:txBody>
      </p:sp>
      <p:sp>
        <p:nvSpPr>
          <p:cNvPr id="13" name="Text 11"/>
          <p:cNvSpPr/>
          <p:nvPr/>
        </p:nvSpPr>
        <p:spPr>
          <a:xfrm>
            <a:off x="914400" y="2514600"/>
            <a:ext cx="4846320" cy="292608"/>
          </a:xfrm>
          <a:prstGeom prst="rect">
            <a:avLst/>
          </a:prstGeom>
          <a:noFill/>
          <a:ln/>
        </p:spPr>
        <p:txBody>
          <a:bodyPr wrap="square" rtlCol="0" anchor="ctr"/>
          <a:lstStyle/>
          <a:p>
            <a:pPr indent="0" marL="0">
              <a:buNone/>
            </a:pPr>
            <a:r>
              <a:rPr lang="en-US" sz="700" dirty="0">
                <a:solidFill>
                  <a:srgbClr val="8899AA"/>
                </a:solidFill>
                <a:latin typeface="Source Han Sans SC" pitchFamily="34" charset="0"/>
                <a:ea typeface="Source Han Sans SC" pitchFamily="34" charset="-122"/>
                <a:cs typeface="Source Han Sans SC" pitchFamily="34" charset="-120"/>
              </a:rPr>
              <a:t>82.1%学生担心被议论而不敢前往；全年人均使用不足0.3次。（本次调研）</a:t>
            </a:r>
            <a:endParaRPr lang="en-US" sz="700" dirty="0"/>
          </a:p>
        </p:txBody>
      </p:sp>
      <p:sp>
        <p:nvSpPr>
          <p:cNvPr id="14" name="Shape 12"/>
          <p:cNvSpPr/>
          <p:nvPr/>
        </p:nvSpPr>
        <p:spPr>
          <a:xfrm>
            <a:off x="731520" y="3008376"/>
            <a:ext cx="36576" cy="548640"/>
          </a:xfrm>
          <a:prstGeom prst="rect">
            <a:avLst/>
          </a:prstGeom>
          <a:solidFill>
            <a:srgbClr val="D98E04"/>
          </a:solidFill>
          <a:ln/>
        </p:spPr>
      </p:sp>
      <p:sp>
        <p:nvSpPr>
          <p:cNvPr id="15" name="Text 13"/>
          <p:cNvSpPr/>
          <p:nvPr/>
        </p:nvSpPr>
        <p:spPr>
          <a:xfrm>
            <a:off x="914400" y="3008376"/>
            <a:ext cx="4846320" cy="228600"/>
          </a:xfrm>
          <a:prstGeom prst="rect">
            <a:avLst/>
          </a:prstGeom>
          <a:noFill/>
          <a:ln/>
        </p:spPr>
        <p:txBody>
          <a:bodyPr wrap="square" rtlCol="0" anchor="ctr"/>
          <a:lstStyle/>
          <a:p>
            <a:pPr indent="0" marL="0">
              <a:buNone/>
            </a:pPr>
            <a:r>
              <a:rPr lang="en-US" sz="850" b="1" dirty="0">
                <a:solidFill>
                  <a:srgbClr val="1E2A38"/>
                </a:solidFill>
                <a:latin typeface="Source Han Sans SC" pitchFamily="34" charset="0"/>
                <a:ea typeface="Source Han Sans SC" pitchFamily="34" charset="-122"/>
                <a:cs typeface="Source Han Sans SC" pitchFamily="34" charset="-120"/>
              </a:rPr>
              <a:t>心理课程被边缘化</a:t>
            </a:r>
            <a:endParaRPr lang="en-US" sz="850" dirty="0"/>
          </a:p>
        </p:txBody>
      </p:sp>
      <p:sp>
        <p:nvSpPr>
          <p:cNvPr id="16" name="Text 14"/>
          <p:cNvSpPr/>
          <p:nvPr/>
        </p:nvSpPr>
        <p:spPr>
          <a:xfrm>
            <a:off x="914400" y="3264408"/>
            <a:ext cx="4846320" cy="292608"/>
          </a:xfrm>
          <a:prstGeom prst="rect">
            <a:avLst/>
          </a:prstGeom>
          <a:noFill/>
          <a:ln/>
        </p:spPr>
        <p:txBody>
          <a:bodyPr wrap="square" rtlCol="0" anchor="ctr"/>
          <a:lstStyle/>
          <a:p>
            <a:pPr indent="0" marL="0">
              <a:buNone/>
            </a:pPr>
            <a:r>
              <a:rPr lang="en-US" sz="700" dirty="0">
                <a:solidFill>
                  <a:srgbClr val="8899AA"/>
                </a:solidFill>
                <a:latin typeface="Source Han Sans SC" pitchFamily="34" charset="0"/>
                <a:ea typeface="Source Han Sans SC" pitchFamily="34" charset="-122"/>
                <a:cs typeface="Source Han Sans SC" pitchFamily="34" charset="-120"/>
              </a:rPr>
              <a:t>56.7%学校心理课程以讲座代课或并入班会课，缺乏独立课程体系。（中国教科院 2024）</a:t>
            </a:r>
            <a:endParaRPr lang="en-US" sz="700" dirty="0"/>
          </a:p>
        </p:txBody>
      </p:sp>
      <p:sp>
        <p:nvSpPr>
          <p:cNvPr id="17" name="Shape 15"/>
          <p:cNvSpPr/>
          <p:nvPr/>
        </p:nvSpPr>
        <p:spPr>
          <a:xfrm>
            <a:off x="731520" y="3758184"/>
            <a:ext cx="36576" cy="548640"/>
          </a:xfrm>
          <a:prstGeom prst="rect">
            <a:avLst/>
          </a:prstGeom>
          <a:solidFill>
            <a:srgbClr val="D98E04"/>
          </a:solidFill>
          <a:ln/>
        </p:spPr>
      </p:sp>
      <p:sp>
        <p:nvSpPr>
          <p:cNvPr id="18" name="Text 16"/>
          <p:cNvSpPr/>
          <p:nvPr/>
        </p:nvSpPr>
        <p:spPr>
          <a:xfrm>
            <a:off x="914400" y="3758184"/>
            <a:ext cx="4846320" cy="228600"/>
          </a:xfrm>
          <a:prstGeom prst="rect">
            <a:avLst/>
          </a:prstGeom>
          <a:noFill/>
          <a:ln/>
        </p:spPr>
        <p:txBody>
          <a:bodyPr wrap="square" rtlCol="0" anchor="ctr"/>
          <a:lstStyle/>
          <a:p>
            <a:pPr indent="0" marL="0">
              <a:buNone/>
            </a:pPr>
            <a:r>
              <a:rPr lang="en-US" sz="850" b="1" dirty="0">
                <a:solidFill>
                  <a:srgbClr val="1E2A38"/>
                </a:solidFill>
                <a:latin typeface="Source Han Sans SC" pitchFamily="34" charset="0"/>
                <a:ea typeface="Source Han Sans SC" pitchFamily="34" charset="-122"/>
                <a:cs typeface="Source Han Sans SC" pitchFamily="34" charset="-120"/>
              </a:rPr>
              <a:t>筛查缺乏后续闭环</a:t>
            </a:r>
            <a:endParaRPr lang="en-US" sz="850" dirty="0"/>
          </a:p>
        </p:txBody>
      </p:sp>
      <p:sp>
        <p:nvSpPr>
          <p:cNvPr id="19" name="Text 17"/>
          <p:cNvSpPr/>
          <p:nvPr/>
        </p:nvSpPr>
        <p:spPr>
          <a:xfrm>
            <a:off x="914400" y="4014216"/>
            <a:ext cx="4846320" cy="292608"/>
          </a:xfrm>
          <a:prstGeom prst="rect">
            <a:avLst/>
          </a:prstGeom>
          <a:noFill/>
          <a:ln/>
        </p:spPr>
        <p:txBody>
          <a:bodyPr wrap="square" rtlCol="0" anchor="ctr"/>
          <a:lstStyle/>
          <a:p>
            <a:pPr indent="0" marL="0">
              <a:buNone/>
            </a:pPr>
            <a:r>
              <a:rPr lang="en-US" sz="700" dirty="0">
                <a:solidFill>
                  <a:srgbClr val="8899AA"/>
                </a:solidFill>
                <a:latin typeface="Source Han Sans SC" pitchFamily="34" charset="0"/>
                <a:ea typeface="Source Han Sans SC" pitchFamily="34" charset="-122"/>
                <a:cs typeface="Source Han Sans SC" pitchFamily="34" charset="-120"/>
              </a:rPr>
              <a:t>仅约15%筛查阳性学生获得持续跟踪干预，筛而不管现象普遍。</a:t>
            </a:r>
            <a:endParaRPr lang="en-US" sz="700" dirty="0"/>
          </a:p>
        </p:txBody>
      </p:sp>
      <p:sp>
        <p:nvSpPr>
          <p:cNvPr id="20" name="Shape 18"/>
          <p:cNvSpPr/>
          <p:nvPr/>
        </p:nvSpPr>
        <p:spPr>
          <a:xfrm>
            <a:off x="731520" y="4507992"/>
            <a:ext cx="36576" cy="548640"/>
          </a:xfrm>
          <a:prstGeom prst="rect">
            <a:avLst/>
          </a:prstGeom>
          <a:solidFill>
            <a:srgbClr val="D98E04"/>
          </a:solidFill>
          <a:ln/>
        </p:spPr>
      </p:sp>
      <p:sp>
        <p:nvSpPr>
          <p:cNvPr id="21" name="Text 19"/>
          <p:cNvSpPr/>
          <p:nvPr/>
        </p:nvSpPr>
        <p:spPr>
          <a:xfrm>
            <a:off x="914400" y="4507992"/>
            <a:ext cx="4846320" cy="228600"/>
          </a:xfrm>
          <a:prstGeom prst="rect">
            <a:avLst/>
          </a:prstGeom>
          <a:noFill/>
          <a:ln/>
        </p:spPr>
        <p:txBody>
          <a:bodyPr wrap="square" rtlCol="0" anchor="ctr"/>
          <a:lstStyle/>
          <a:p>
            <a:pPr indent="0" marL="0">
              <a:buNone/>
            </a:pPr>
            <a:r>
              <a:rPr lang="en-US" sz="850" b="1" dirty="0">
                <a:solidFill>
                  <a:srgbClr val="1E2A38"/>
                </a:solidFill>
                <a:latin typeface="Source Han Sans SC" pitchFamily="34" charset="0"/>
                <a:ea typeface="Source Han Sans SC" pitchFamily="34" charset="-122"/>
                <a:cs typeface="Source Han Sans SC" pitchFamily="34" charset="-120"/>
              </a:rPr>
              <a:t>家校协同机制缺失</a:t>
            </a:r>
            <a:endParaRPr lang="en-US" sz="850" dirty="0"/>
          </a:p>
        </p:txBody>
      </p:sp>
      <p:sp>
        <p:nvSpPr>
          <p:cNvPr id="22" name="Text 20"/>
          <p:cNvSpPr/>
          <p:nvPr/>
        </p:nvSpPr>
        <p:spPr>
          <a:xfrm>
            <a:off x="914400" y="4764024"/>
            <a:ext cx="4846320" cy="292608"/>
          </a:xfrm>
          <a:prstGeom prst="rect">
            <a:avLst/>
          </a:prstGeom>
          <a:noFill/>
          <a:ln/>
        </p:spPr>
        <p:txBody>
          <a:bodyPr wrap="square" rtlCol="0" anchor="ctr"/>
          <a:lstStyle/>
          <a:p>
            <a:pPr indent="0" marL="0">
              <a:buNone/>
            </a:pPr>
            <a:r>
              <a:rPr lang="en-US" sz="700" dirty="0">
                <a:solidFill>
                  <a:srgbClr val="8899AA"/>
                </a:solidFill>
                <a:latin typeface="Source Han Sans SC" pitchFamily="34" charset="0"/>
                <a:ea typeface="Source Han Sans SC" pitchFamily="34" charset="-122"/>
                <a:cs typeface="Source Han Sans SC" pitchFamily="34" charset="-120"/>
              </a:rPr>
              <a:t>68.4%家长表示不知如何与孩子谈论心理问题。（本次调研）</a:t>
            </a:r>
            <a:endParaRPr lang="en-US" sz="700" dirty="0"/>
          </a:p>
        </p:txBody>
      </p:sp>
      <p:sp>
        <p:nvSpPr>
          <p:cNvPr id="23" name="Shape 21"/>
          <p:cNvSpPr/>
          <p:nvPr/>
        </p:nvSpPr>
        <p:spPr>
          <a:xfrm>
            <a:off x="6217920" y="1051560"/>
            <a:ext cx="5394960" cy="4572000"/>
          </a:xfrm>
          <a:prstGeom prst="roundRect">
            <a:avLst>
              <a:gd name="adj" fmla="val 1000"/>
            </a:avLst>
          </a:prstGeom>
          <a:solidFill>
            <a:srgbClr val="FFFFFF"/>
          </a:solidFill>
          <a:ln w="6350">
            <a:solidFill>
              <a:srgbClr val="E5E9F0"/>
            </a:solidFill>
            <a:prstDash val="solid"/>
          </a:ln>
        </p:spPr>
      </p:sp>
      <p:sp>
        <p:nvSpPr>
          <p:cNvPr id="24" name="Shape 22"/>
          <p:cNvSpPr/>
          <p:nvPr/>
        </p:nvSpPr>
        <p:spPr>
          <a:xfrm>
            <a:off x="6217920" y="1051560"/>
            <a:ext cx="5394960" cy="320040"/>
          </a:xfrm>
          <a:prstGeom prst="rect">
            <a:avLst/>
          </a:prstGeom>
          <a:solidFill>
            <a:srgbClr val="3A6EA5"/>
          </a:solidFill>
          <a:ln/>
        </p:spPr>
      </p:sp>
      <p:sp>
        <p:nvSpPr>
          <p:cNvPr id="25" name="Text 23"/>
          <p:cNvSpPr/>
          <p:nvPr/>
        </p:nvSpPr>
        <p:spPr>
          <a:xfrm>
            <a:off x="6217920" y="1051560"/>
            <a:ext cx="5394960" cy="320040"/>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政策要求与理想标准</a:t>
            </a:r>
            <a:endParaRPr lang="en-US" sz="1000" dirty="0"/>
          </a:p>
        </p:txBody>
      </p:sp>
      <p:sp>
        <p:nvSpPr>
          <p:cNvPr id="26" name="Shape 24"/>
          <p:cNvSpPr/>
          <p:nvPr/>
        </p:nvSpPr>
        <p:spPr>
          <a:xfrm>
            <a:off x="6355080" y="1508760"/>
            <a:ext cx="36576" cy="548640"/>
          </a:xfrm>
          <a:prstGeom prst="rect">
            <a:avLst/>
          </a:prstGeom>
          <a:solidFill>
            <a:srgbClr val="3A6EA5"/>
          </a:solidFill>
          <a:ln/>
        </p:spPr>
      </p:sp>
      <p:sp>
        <p:nvSpPr>
          <p:cNvPr id="27" name="Text 25"/>
          <p:cNvSpPr/>
          <p:nvPr/>
        </p:nvSpPr>
        <p:spPr>
          <a:xfrm>
            <a:off x="6537960" y="1508760"/>
            <a:ext cx="4846320" cy="228600"/>
          </a:xfrm>
          <a:prstGeom prst="rect">
            <a:avLst/>
          </a:prstGeom>
          <a:noFill/>
          <a:ln/>
        </p:spPr>
        <p:txBody>
          <a:bodyPr wrap="square" rtlCol="0" anchor="ctr"/>
          <a:lstStyle/>
          <a:p>
            <a:pPr indent="0" marL="0">
              <a:buNone/>
            </a:pPr>
            <a:r>
              <a:rPr lang="en-US" sz="850" b="1" dirty="0">
                <a:solidFill>
                  <a:srgbClr val="1E2A38"/>
                </a:solidFill>
                <a:latin typeface="Source Han Sans SC" pitchFamily="34" charset="0"/>
                <a:ea typeface="Source Han Sans SC" pitchFamily="34" charset="-122"/>
                <a:cs typeface="Source Han Sans SC" pitchFamily="34" charset="-120"/>
              </a:rPr>
              <a:t>师生比不低于1:1000</a:t>
            </a:r>
            <a:endParaRPr lang="en-US" sz="850" dirty="0"/>
          </a:p>
        </p:txBody>
      </p:sp>
      <p:sp>
        <p:nvSpPr>
          <p:cNvPr id="28" name="Text 26"/>
          <p:cNvSpPr/>
          <p:nvPr/>
        </p:nvSpPr>
        <p:spPr>
          <a:xfrm>
            <a:off x="6537960" y="1764792"/>
            <a:ext cx="4846320" cy="292608"/>
          </a:xfrm>
          <a:prstGeom prst="rect">
            <a:avLst/>
          </a:prstGeom>
          <a:noFill/>
          <a:ln/>
        </p:spPr>
        <p:txBody>
          <a:bodyPr wrap="square" rtlCol="0" anchor="ctr"/>
          <a:lstStyle/>
          <a:p>
            <a:pPr indent="0" marL="0">
              <a:buNone/>
            </a:pPr>
            <a:r>
              <a:rPr lang="en-US" sz="700" dirty="0">
                <a:solidFill>
                  <a:srgbClr val="8899AA"/>
                </a:solidFill>
                <a:latin typeface="Source Han Sans SC" pitchFamily="34" charset="0"/>
                <a:ea typeface="Source Han Sans SC" pitchFamily="34" charset="-122"/>
                <a:cs typeface="Source Han Sans SC" pitchFamily="34" charset="-120"/>
              </a:rPr>
              <a:t>教育部行动计划明确要求2025年前全部达标，目前缺口仍大。</a:t>
            </a:r>
            <a:endParaRPr lang="en-US" sz="700" dirty="0"/>
          </a:p>
        </p:txBody>
      </p:sp>
      <p:sp>
        <p:nvSpPr>
          <p:cNvPr id="29" name="Shape 27"/>
          <p:cNvSpPr/>
          <p:nvPr/>
        </p:nvSpPr>
        <p:spPr>
          <a:xfrm>
            <a:off x="6355080" y="2258568"/>
            <a:ext cx="36576" cy="548640"/>
          </a:xfrm>
          <a:prstGeom prst="rect">
            <a:avLst/>
          </a:prstGeom>
          <a:solidFill>
            <a:srgbClr val="3A6EA5"/>
          </a:solidFill>
          <a:ln/>
        </p:spPr>
      </p:sp>
      <p:sp>
        <p:nvSpPr>
          <p:cNvPr id="30" name="Text 28"/>
          <p:cNvSpPr/>
          <p:nvPr/>
        </p:nvSpPr>
        <p:spPr>
          <a:xfrm>
            <a:off x="6537960" y="2258568"/>
            <a:ext cx="4846320" cy="228600"/>
          </a:xfrm>
          <a:prstGeom prst="rect">
            <a:avLst/>
          </a:prstGeom>
          <a:noFill/>
          <a:ln/>
        </p:spPr>
        <p:txBody>
          <a:bodyPr wrap="square" rtlCol="0" anchor="ctr"/>
          <a:lstStyle/>
          <a:p>
            <a:pPr indent="0" marL="0">
              <a:buNone/>
            </a:pPr>
            <a:r>
              <a:rPr lang="en-US" sz="850" b="1" dirty="0">
                <a:solidFill>
                  <a:srgbClr val="1E2A38"/>
                </a:solidFill>
                <a:latin typeface="Source Han Sans SC" pitchFamily="34" charset="0"/>
                <a:ea typeface="Source Han Sans SC" pitchFamily="34" charset="-122"/>
                <a:cs typeface="Source Han Sans SC" pitchFamily="34" charset="-120"/>
              </a:rPr>
              <a:t>咨询室每日开放≥4小时</a:t>
            </a:r>
            <a:endParaRPr lang="en-US" sz="850" dirty="0"/>
          </a:p>
        </p:txBody>
      </p:sp>
      <p:sp>
        <p:nvSpPr>
          <p:cNvPr id="31" name="Text 29"/>
          <p:cNvSpPr/>
          <p:nvPr/>
        </p:nvSpPr>
        <p:spPr>
          <a:xfrm>
            <a:off x="6537960" y="2514600"/>
            <a:ext cx="4846320" cy="292608"/>
          </a:xfrm>
          <a:prstGeom prst="rect">
            <a:avLst/>
          </a:prstGeom>
          <a:noFill/>
          <a:ln/>
        </p:spPr>
        <p:txBody>
          <a:bodyPr wrap="square" rtlCol="0" anchor="ctr"/>
          <a:lstStyle/>
          <a:p>
            <a:pPr indent="0" marL="0">
              <a:buNone/>
            </a:pPr>
            <a:r>
              <a:rPr lang="en-US" sz="700" dirty="0">
                <a:solidFill>
                  <a:srgbClr val="8899AA"/>
                </a:solidFill>
                <a:latin typeface="Source Han Sans SC" pitchFamily="34" charset="0"/>
                <a:ea typeface="Source Han Sans SC" pitchFamily="34" charset="-122"/>
                <a:cs typeface="Source Han Sans SC" pitchFamily="34" charset="-120"/>
              </a:rPr>
              <a:t>含午间和放学后时段；配备专业设备。</a:t>
            </a:r>
            <a:endParaRPr lang="en-US" sz="700" dirty="0"/>
          </a:p>
        </p:txBody>
      </p:sp>
      <p:sp>
        <p:nvSpPr>
          <p:cNvPr id="32" name="Shape 30"/>
          <p:cNvSpPr/>
          <p:nvPr/>
        </p:nvSpPr>
        <p:spPr>
          <a:xfrm>
            <a:off x="6355080" y="3008376"/>
            <a:ext cx="36576" cy="548640"/>
          </a:xfrm>
          <a:prstGeom prst="rect">
            <a:avLst/>
          </a:prstGeom>
          <a:solidFill>
            <a:srgbClr val="3A6EA5"/>
          </a:solidFill>
          <a:ln/>
        </p:spPr>
      </p:sp>
      <p:sp>
        <p:nvSpPr>
          <p:cNvPr id="33" name="Text 31"/>
          <p:cNvSpPr/>
          <p:nvPr/>
        </p:nvSpPr>
        <p:spPr>
          <a:xfrm>
            <a:off x="6537960" y="3008376"/>
            <a:ext cx="4846320" cy="228600"/>
          </a:xfrm>
          <a:prstGeom prst="rect">
            <a:avLst/>
          </a:prstGeom>
          <a:noFill/>
          <a:ln/>
        </p:spPr>
        <p:txBody>
          <a:bodyPr wrap="square" rtlCol="0" anchor="ctr"/>
          <a:lstStyle/>
          <a:p>
            <a:pPr indent="0" marL="0">
              <a:buNone/>
            </a:pPr>
            <a:r>
              <a:rPr lang="en-US" sz="850" b="1" dirty="0">
                <a:solidFill>
                  <a:srgbClr val="1E2A38"/>
                </a:solidFill>
                <a:latin typeface="Source Han Sans SC" pitchFamily="34" charset="0"/>
                <a:ea typeface="Source Han Sans SC" pitchFamily="34" charset="-122"/>
                <a:cs typeface="Source Han Sans SC" pitchFamily="34" charset="-120"/>
              </a:rPr>
              <a:t>心理健康教育纳入必修</a:t>
            </a:r>
            <a:endParaRPr lang="en-US" sz="850" dirty="0"/>
          </a:p>
        </p:txBody>
      </p:sp>
      <p:sp>
        <p:nvSpPr>
          <p:cNvPr id="34" name="Text 32"/>
          <p:cNvSpPr/>
          <p:nvPr/>
        </p:nvSpPr>
        <p:spPr>
          <a:xfrm>
            <a:off x="6537960" y="3264408"/>
            <a:ext cx="4846320" cy="292608"/>
          </a:xfrm>
          <a:prstGeom prst="rect">
            <a:avLst/>
          </a:prstGeom>
          <a:noFill/>
          <a:ln/>
        </p:spPr>
        <p:txBody>
          <a:bodyPr wrap="square" rtlCol="0" anchor="ctr"/>
          <a:lstStyle/>
          <a:p>
            <a:pPr indent="0" marL="0">
              <a:buNone/>
            </a:pPr>
            <a:r>
              <a:rPr lang="en-US" sz="700" dirty="0">
                <a:solidFill>
                  <a:srgbClr val="8899AA"/>
                </a:solidFill>
                <a:latin typeface="Source Han Sans SC" pitchFamily="34" charset="0"/>
                <a:ea typeface="Source Han Sans SC" pitchFamily="34" charset="-122"/>
                <a:cs typeface="Source Han Sans SC" pitchFamily="34" charset="-120"/>
              </a:rPr>
              <a:t>每两周不少于1课时，纳入学校课程质量评估体系。</a:t>
            </a:r>
            <a:endParaRPr lang="en-US" sz="700" dirty="0"/>
          </a:p>
        </p:txBody>
      </p:sp>
      <p:sp>
        <p:nvSpPr>
          <p:cNvPr id="35" name="Shape 33"/>
          <p:cNvSpPr/>
          <p:nvPr/>
        </p:nvSpPr>
        <p:spPr>
          <a:xfrm>
            <a:off x="6355080" y="3758184"/>
            <a:ext cx="36576" cy="548640"/>
          </a:xfrm>
          <a:prstGeom prst="rect">
            <a:avLst/>
          </a:prstGeom>
          <a:solidFill>
            <a:srgbClr val="3A6EA5"/>
          </a:solidFill>
          <a:ln/>
        </p:spPr>
      </p:sp>
      <p:sp>
        <p:nvSpPr>
          <p:cNvPr id="36" name="Text 34"/>
          <p:cNvSpPr/>
          <p:nvPr/>
        </p:nvSpPr>
        <p:spPr>
          <a:xfrm>
            <a:off x="6537960" y="3758184"/>
            <a:ext cx="4846320" cy="228600"/>
          </a:xfrm>
          <a:prstGeom prst="rect">
            <a:avLst/>
          </a:prstGeom>
          <a:noFill/>
          <a:ln/>
        </p:spPr>
        <p:txBody>
          <a:bodyPr wrap="square" rtlCol="0" anchor="ctr"/>
          <a:lstStyle/>
          <a:p>
            <a:pPr indent="0" marL="0">
              <a:buNone/>
            </a:pPr>
            <a:r>
              <a:rPr lang="en-US" sz="850" b="1" dirty="0">
                <a:solidFill>
                  <a:srgbClr val="1E2A38"/>
                </a:solidFill>
                <a:latin typeface="Source Han Sans SC" pitchFamily="34" charset="0"/>
                <a:ea typeface="Source Han Sans SC" pitchFamily="34" charset="-122"/>
                <a:cs typeface="Source Han Sans SC" pitchFamily="34" charset="-120"/>
              </a:rPr>
              <a:t>建立闭环干预机制</a:t>
            </a:r>
            <a:endParaRPr lang="en-US" sz="850" dirty="0"/>
          </a:p>
        </p:txBody>
      </p:sp>
      <p:sp>
        <p:nvSpPr>
          <p:cNvPr id="37" name="Text 35"/>
          <p:cNvSpPr/>
          <p:nvPr/>
        </p:nvSpPr>
        <p:spPr>
          <a:xfrm>
            <a:off x="6537960" y="4014216"/>
            <a:ext cx="4846320" cy="292608"/>
          </a:xfrm>
          <a:prstGeom prst="rect">
            <a:avLst/>
          </a:prstGeom>
          <a:noFill/>
          <a:ln/>
        </p:spPr>
        <p:txBody>
          <a:bodyPr wrap="square" rtlCol="0" anchor="ctr"/>
          <a:lstStyle/>
          <a:p>
            <a:pPr indent="0" marL="0">
              <a:buNone/>
            </a:pPr>
            <a:r>
              <a:rPr lang="en-US" sz="700" dirty="0">
                <a:solidFill>
                  <a:srgbClr val="8899AA"/>
                </a:solidFill>
                <a:latin typeface="Source Han Sans SC" pitchFamily="34" charset="0"/>
                <a:ea typeface="Source Han Sans SC" pitchFamily="34" charset="-122"/>
                <a:cs typeface="Source Han Sans SC" pitchFamily="34" charset="-120"/>
              </a:rPr>
              <a:t>筛查-评估-干预-转介-跟踪全链条覆盖。</a:t>
            </a:r>
            <a:endParaRPr lang="en-US" sz="700" dirty="0"/>
          </a:p>
        </p:txBody>
      </p:sp>
      <p:sp>
        <p:nvSpPr>
          <p:cNvPr id="38" name="Shape 36"/>
          <p:cNvSpPr/>
          <p:nvPr/>
        </p:nvSpPr>
        <p:spPr>
          <a:xfrm>
            <a:off x="6355080" y="4507992"/>
            <a:ext cx="36576" cy="548640"/>
          </a:xfrm>
          <a:prstGeom prst="rect">
            <a:avLst/>
          </a:prstGeom>
          <a:solidFill>
            <a:srgbClr val="3A6EA5"/>
          </a:solidFill>
          <a:ln/>
        </p:spPr>
      </p:sp>
      <p:sp>
        <p:nvSpPr>
          <p:cNvPr id="39" name="Text 37"/>
          <p:cNvSpPr/>
          <p:nvPr/>
        </p:nvSpPr>
        <p:spPr>
          <a:xfrm>
            <a:off x="6537960" y="4507992"/>
            <a:ext cx="4846320" cy="228600"/>
          </a:xfrm>
          <a:prstGeom prst="rect">
            <a:avLst/>
          </a:prstGeom>
          <a:noFill/>
          <a:ln/>
        </p:spPr>
        <p:txBody>
          <a:bodyPr wrap="square" rtlCol="0" anchor="ctr"/>
          <a:lstStyle/>
          <a:p>
            <a:pPr indent="0" marL="0">
              <a:buNone/>
            </a:pPr>
            <a:r>
              <a:rPr lang="en-US" sz="850" b="1" dirty="0">
                <a:solidFill>
                  <a:srgbClr val="1E2A38"/>
                </a:solidFill>
                <a:latin typeface="Source Han Sans SC" pitchFamily="34" charset="0"/>
                <a:ea typeface="Source Han Sans SC" pitchFamily="34" charset="-122"/>
                <a:cs typeface="Source Han Sans SC" pitchFamily="34" charset="-120"/>
              </a:rPr>
              <a:t>家校沟通制度化</a:t>
            </a:r>
            <a:endParaRPr lang="en-US" sz="850" dirty="0"/>
          </a:p>
        </p:txBody>
      </p:sp>
      <p:sp>
        <p:nvSpPr>
          <p:cNvPr id="40" name="Text 38"/>
          <p:cNvSpPr/>
          <p:nvPr/>
        </p:nvSpPr>
        <p:spPr>
          <a:xfrm>
            <a:off x="6537960" y="4764024"/>
            <a:ext cx="4846320" cy="292608"/>
          </a:xfrm>
          <a:prstGeom prst="rect">
            <a:avLst/>
          </a:prstGeom>
          <a:noFill/>
          <a:ln/>
        </p:spPr>
        <p:txBody>
          <a:bodyPr wrap="square" rtlCol="0" anchor="ctr"/>
          <a:lstStyle/>
          <a:p>
            <a:pPr indent="0" marL="0">
              <a:buNone/>
            </a:pPr>
            <a:r>
              <a:rPr lang="en-US" sz="700" dirty="0">
                <a:solidFill>
                  <a:srgbClr val="8899AA"/>
                </a:solidFill>
                <a:latin typeface="Source Han Sans SC" pitchFamily="34" charset="0"/>
                <a:ea typeface="Source Han Sans SC" pitchFamily="34" charset="-122"/>
                <a:cs typeface="Source Han Sans SC" pitchFamily="34" charset="-120"/>
              </a:rPr>
              <a:t>每学期不少于2次心理健康专题家校沟通。</a:t>
            </a:r>
            <a:endParaRPr lang="en-US" sz="700" dirty="0"/>
          </a:p>
        </p:txBody>
      </p:sp>
      <p:sp>
        <p:nvSpPr>
          <p:cNvPr id="41" name="Text 39"/>
          <p:cNvSpPr/>
          <p:nvPr/>
        </p:nvSpPr>
        <p:spPr>
          <a:xfrm>
            <a:off x="4846320" y="2926080"/>
            <a:ext cx="2468880" cy="274320"/>
          </a:xfrm>
          <a:prstGeom prst="rect">
            <a:avLst/>
          </a:prstGeom>
          <a:noFill/>
          <a:ln/>
        </p:spPr>
        <p:txBody>
          <a:bodyPr wrap="square" rtlCol="0" anchor="ctr"/>
          <a:lstStyle/>
          <a:p>
            <a:pPr algn="ctr" indent="0" marL="0">
              <a:buNone/>
            </a:pPr>
            <a:r>
              <a:rPr lang="en-US" sz="1000" b="1" dirty="0">
                <a:solidFill>
                  <a:srgbClr val="8899AA"/>
                </a:solidFill>
                <a:latin typeface="Source Han Sans SC" pitchFamily="34" charset="0"/>
                <a:ea typeface="Source Han Sans SC" pitchFamily="34" charset="-122"/>
                <a:cs typeface="Source Han Sans SC" pitchFamily="34" charset="-120"/>
              </a:rPr>
              <a:t>← 现实 vs 理想 →</a:t>
            </a:r>
            <a:endParaRPr lang="en-US" sz="1000" dirty="0"/>
          </a:p>
        </p:txBody>
      </p:sp>
      <p:sp>
        <p:nvSpPr>
          <p:cNvPr id="42" name="Text 40"/>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11/23</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国内外心理健康教育经验借鉴</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International Comparative Study</a:t>
            </a:r>
            <a:endParaRPr lang="en-US" sz="1000" dirty="0"/>
          </a:p>
        </p:txBody>
      </p:sp>
      <p:sp>
        <p:nvSpPr>
          <p:cNvPr id="5" name="Shape 3"/>
          <p:cNvSpPr/>
          <p:nvPr/>
        </p:nvSpPr>
        <p:spPr>
          <a:xfrm>
            <a:off x="594360" y="1051560"/>
            <a:ext cx="2606040" cy="4572000"/>
          </a:xfrm>
          <a:prstGeom prst="roundRect">
            <a:avLst>
              <a:gd name="adj" fmla="val 1754"/>
            </a:avLst>
          </a:prstGeom>
          <a:solidFill>
            <a:srgbClr val="FFFFFF"/>
          </a:solidFill>
          <a:ln w="6350">
            <a:solidFill>
              <a:srgbClr val="E5E9F0"/>
            </a:solidFill>
            <a:prstDash val="solid"/>
          </a:ln>
        </p:spPr>
      </p:sp>
      <p:sp>
        <p:nvSpPr>
          <p:cNvPr id="6" name="Shape 4"/>
          <p:cNvSpPr/>
          <p:nvPr/>
        </p:nvSpPr>
        <p:spPr>
          <a:xfrm>
            <a:off x="594360" y="1051560"/>
            <a:ext cx="2606040" cy="347472"/>
          </a:xfrm>
          <a:prstGeom prst="rect">
            <a:avLst/>
          </a:prstGeom>
          <a:solidFill>
            <a:srgbClr val="3A6EA5"/>
          </a:solidFill>
          <a:ln/>
        </p:spPr>
      </p:sp>
      <p:sp>
        <p:nvSpPr>
          <p:cNvPr id="7" name="Text 5"/>
          <p:cNvSpPr/>
          <p:nvPr/>
        </p:nvSpPr>
        <p:spPr>
          <a:xfrm>
            <a:off x="594360" y="1051560"/>
            <a:ext cx="2606040" cy="347472"/>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芬兰</a:t>
            </a:r>
            <a:endParaRPr lang="en-US" sz="1000" dirty="0"/>
          </a:p>
        </p:txBody>
      </p:sp>
      <p:sp>
        <p:nvSpPr>
          <p:cNvPr id="8" name="Text 6"/>
          <p:cNvSpPr/>
          <p:nvPr/>
        </p:nvSpPr>
        <p:spPr>
          <a:xfrm>
            <a:off x="704088" y="1508760"/>
            <a:ext cx="2377440" cy="164592"/>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模式</a:t>
            </a:r>
            <a:endParaRPr lang="en-US" sz="650" dirty="0"/>
          </a:p>
        </p:txBody>
      </p:sp>
      <p:sp>
        <p:nvSpPr>
          <p:cNvPr id="9" name="Text 7"/>
          <p:cNvSpPr/>
          <p:nvPr/>
        </p:nvSpPr>
        <p:spPr>
          <a:xfrm>
            <a:off x="704088" y="1645920"/>
            <a:ext cx="2377440" cy="201168"/>
          </a:xfrm>
          <a:prstGeom prst="rect">
            <a:avLst/>
          </a:prstGeom>
          <a:noFill/>
          <a:ln/>
        </p:spPr>
        <p:txBody>
          <a:bodyPr wrap="square" rtlCol="0" anchor="ctr"/>
          <a:lstStyle/>
          <a:p>
            <a:pPr indent="0" marL="0">
              <a:buNone/>
            </a:pPr>
            <a:r>
              <a:rPr lang="en-US" sz="800" b="1" dirty="0">
                <a:solidFill>
                  <a:srgbClr val="1E2A38"/>
                </a:solidFill>
                <a:latin typeface="Source Han Sans SC" pitchFamily="34" charset="0"/>
                <a:ea typeface="Source Han Sans SC" pitchFamily="34" charset="-122"/>
                <a:cs typeface="Source Han Sans SC" pitchFamily="34" charset="-120"/>
              </a:rPr>
              <a:t>校园心理支持常态化</a:t>
            </a:r>
            <a:endParaRPr lang="en-US" sz="800" dirty="0"/>
          </a:p>
        </p:txBody>
      </p:sp>
      <p:sp>
        <p:nvSpPr>
          <p:cNvPr id="10" name="Text 8"/>
          <p:cNvSpPr/>
          <p:nvPr/>
        </p:nvSpPr>
        <p:spPr>
          <a:xfrm>
            <a:off x="704088" y="1920240"/>
            <a:ext cx="2377440" cy="164592"/>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特点</a:t>
            </a:r>
            <a:endParaRPr lang="en-US" sz="650" dirty="0"/>
          </a:p>
        </p:txBody>
      </p:sp>
      <p:sp>
        <p:nvSpPr>
          <p:cNvPr id="11" name="Text 9"/>
          <p:cNvSpPr/>
          <p:nvPr/>
        </p:nvSpPr>
        <p:spPr>
          <a:xfrm>
            <a:off x="704088" y="2084832"/>
            <a:ext cx="2377440" cy="1097280"/>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每校1-2名专职心理教师</a:t>
            </a:r>
            <a:endParaRPr lang="en-US" sz="650" dirty="0"/>
          </a:p>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心理健康纳入基础教育核心课程</a:t>
            </a:r>
            <a:endParaRPr lang="en-US" sz="650" dirty="0"/>
          </a:p>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学校心理学家+学校社工双轨制</a:t>
            </a:r>
            <a:endParaRPr lang="en-US" sz="650" dirty="0"/>
          </a:p>
        </p:txBody>
      </p:sp>
      <p:sp>
        <p:nvSpPr>
          <p:cNvPr id="12" name="Shape 10"/>
          <p:cNvSpPr/>
          <p:nvPr/>
        </p:nvSpPr>
        <p:spPr>
          <a:xfrm>
            <a:off x="685800" y="3246120"/>
            <a:ext cx="2423160" cy="9144"/>
          </a:xfrm>
          <a:prstGeom prst="rect">
            <a:avLst/>
          </a:prstGeom>
          <a:solidFill>
            <a:srgbClr val="E5E9F0"/>
          </a:solidFill>
          <a:ln/>
        </p:spPr>
      </p:sp>
      <p:sp>
        <p:nvSpPr>
          <p:cNvPr id="13" name="Text 11"/>
          <p:cNvSpPr/>
          <p:nvPr/>
        </p:nvSpPr>
        <p:spPr>
          <a:xfrm>
            <a:off x="704088" y="3291840"/>
            <a:ext cx="2377440" cy="164592"/>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师生比</a:t>
            </a:r>
            <a:endParaRPr lang="en-US" sz="650" dirty="0"/>
          </a:p>
        </p:txBody>
      </p:sp>
      <p:sp>
        <p:nvSpPr>
          <p:cNvPr id="14" name="Text 12"/>
          <p:cNvSpPr/>
          <p:nvPr/>
        </p:nvSpPr>
        <p:spPr>
          <a:xfrm>
            <a:off x="704088" y="3456432"/>
            <a:ext cx="2377440" cy="201168"/>
          </a:xfrm>
          <a:prstGeom prst="rect">
            <a:avLst/>
          </a:prstGeom>
          <a:noFill/>
          <a:ln/>
        </p:spPr>
        <p:txBody>
          <a:bodyPr wrap="square" rtlCol="0" anchor="ctr"/>
          <a:lstStyle/>
          <a:p>
            <a:pPr indent="0" marL="0">
              <a:buNone/>
            </a:pPr>
            <a:r>
              <a:rPr lang="en-US" sz="900" b="1" dirty="0">
                <a:solidFill>
                  <a:srgbClr val="3A6EA5"/>
                </a:solidFill>
                <a:latin typeface="Source Han Sans SC" pitchFamily="34" charset="0"/>
                <a:ea typeface="Source Han Sans SC" pitchFamily="34" charset="-122"/>
                <a:cs typeface="Source Han Sans SC" pitchFamily="34" charset="-120"/>
              </a:rPr>
              <a:t>1:400</a:t>
            </a:r>
            <a:endParaRPr lang="en-US" sz="900" dirty="0"/>
          </a:p>
        </p:txBody>
      </p:sp>
      <p:sp>
        <p:nvSpPr>
          <p:cNvPr id="15" name="Shape 13"/>
          <p:cNvSpPr/>
          <p:nvPr/>
        </p:nvSpPr>
        <p:spPr>
          <a:xfrm>
            <a:off x="685800" y="3749040"/>
            <a:ext cx="2423160" cy="9144"/>
          </a:xfrm>
          <a:prstGeom prst="rect">
            <a:avLst/>
          </a:prstGeom>
          <a:solidFill>
            <a:srgbClr val="E5E9F0"/>
          </a:solidFill>
          <a:ln/>
        </p:spPr>
      </p:sp>
      <p:sp>
        <p:nvSpPr>
          <p:cNvPr id="16" name="Text 14"/>
          <p:cNvSpPr/>
          <p:nvPr/>
        </p:nvSpPr>
        <p:spPr>
          <a:xfrm>
            <a:off x="704088" y="3822192"/>
            <a:ext cx="2377440" cy="164592"/>
          </a:xfrm>
          <a:prstGeom prst="rect">
            <a:avLst/>
          </a:prstGeom>
          <a:noFill/>
          <a:ln/>
        </p:spPr>
        <p:txBody>
          <a:bodyPr wrap="square" rtlCol="0" anchor="ctr"/>
          <a:lstStyle/>
          <a:p>
            <a:pPr indent="0" marL="0">
              <a:buNone/>
            </a:pPr>
            <a:r>
              <a:rPr lang="en-US" sz="650" dirty="0">
                <a:solidFill>
                  <a:srgbClr val="D98E04"/>
                </a:solidFill>
                <a:latin typeface="Source Han Sans SC" pitchFamily="34" charset="0"/>
                <a:ea typeface="Source Han Sans SC" pitchFamily="34" charset="-122"/>
                <a:cs typeface="Source Han Sans SC" pitchFamily="34" charset="-120"/>
              </a:rPr>
              <a:t>启示</a:t>
            </a:r>
            <a:endParaRPr lang="en-US" sz="650" dirty="0"/>
          </a:p>
        </p:txBody>
      </p:sp>
      <p:sp>
        <p:nvSpPr>
          <p:cNvPr id="17" name="Shape 15"/>
          <p:cNvSpPr/>
          <p:nvPr/>
        </p:nvSpPr>
        <p:spPr>
          <a:xfrm>
            <a:off x="704088" y="4005072"/>
            <a:ext cx="2377440" cy="777240"/>
          </a:xfrm>
          <a:prstGeom prst="roundRect">
            <a:avLst>
              <a:gd name="adj" fmla="val 4706"/>
            </a:avLst>
          </a:prstGeom>
          <a:solidFill>
            <a:srgbClr val="F7F9FC"/>
          </a:solidFill>
          <a:ln w="3810">
            <a:solidFill>
              <a:srgbClr val="E5E9F0"/>
            </a:solidFill>
            <a:prstDash val="solid"/>
          </a:ln>
        </p:spPr>
      </p:sp>
      <p:sp>
        <p:nvSpPr>
          <p:cNvPr id="18" name="Text 16"/>
          <p:cNvSpPr/>
          <p:nvPr/>
        </p:nvSpPr>
        <p:spPr>
          <a:xfrm>
            <a:off x="795528" y="4023360"/>
            <a:ext cx="2194560" cy="731520"/>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心理支持是教育体系的有机组成而非额外补充</a:t>
            </a:r>
            <a:endParaRPr lang="en-US" sz="650" dirty="0"/>
          </a:p>
        </p:txBody>
      </p:sp>
      <p:sp>
        <p:nvSpPr>
          <p:cNvPr id="19" name="Shape 17"/>
          <p:cNvSpPr/>
          <p:nvPr/>
        </p:nvSpPr>
        <p:spPr>
          <a:xfrm>
            <a:off x="3383280" y="1051560"/>
            <a:ext cx="2606040" cy="4572000"/>
          </a:xfrm>
          <a:prstGeom prst="roundRect">
            <a:avLst>
              <a:gd name="adj" fmla="val 1754"/>
            </a:avLst>
          </a:prstGeom>
          <a:solidFill>
            <a:srgbClr val="FFFFFF"/>
          </a:solidFill>
          <a:ln w="6350">
            <a:solidFill>
              <a:srgbClr val="E5E9F0"/>
            </a:solidFill>
            <a:prstDash val="solid"/>
          </a:ln>
        </p:spPr>
      </p:sp>
      <p:sp>
        <p:nvSpPr>
          <p:cNvPr id="20" name="Shape 18"/>
          <p:cNvSpPr/>
          <p:nvPr/>
        </p:nvSpPr>
        <p:spPr>
          <a:xfrm>
            <a:off x="3383280" y="1051560"/>
            <a:ext cx="2606040" cy="347472"/>
          </a:xfrm>
          <a:prstGeom prst="rect">
            <a:avLst/>
          </a:prstGeom>
          <a:solidFill>
            <a:srgbClr val="3A6EA5"/>
          </a:solidFill>
          <a:ln/>
        </p:spPr>
      </p:sp>
      <p:sp>
        <p:nvSpPr>
          <p:cNvPr id="21" name="Text 19"/>
          <p:cNvSpPr/>
          <p:nvPr/>
        </p:nvSpPr>
        <p:spPr>
          <a:xfrm>
            <a:off x="3383280" y="1051560"/>
            <a:ext cx="2606040" cy="347472"/>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日本</a:t>
            </a:r>
            <a:endParaRPr lang="en-US" sz="1000" dirty="0"/>
          </a:p>
        </p:txBody>
      </p:sp>
      <p:sp>
        <p:nvSpPr>
          <p:cNvPr id="22" name="Text 20"/>
          <p:cNvSpPr/>
          <p:nvPr/>
        </p:nvSpPr>
        <p:spPr>
          <a:xfrm>
            <a:off x="3493008" y="1508760"/>
            <a:ext cx="2377440" cy="164592"/>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模式</a:t>
            </a:r>
            <a:endParaRPr lang="en-US" sz="650" dirty="0"/>
          </a:p>
        </p:txBody>
      </p:sp>
      <p:sp>
        <p:nvSpPr>
          <p:cNvPr id="23" name="Text 21"/>
          <p:cNvSpPr/>
          <p:nvPr/>
        </p:nvSpPr>
        <p:spPr>
          <a:xfrm>
            <a:off x="3493008" y="1645920"/>
            <a:ext cx="2377440" cy="201168"/>
          </a:xfrm>
          <a:prstGeom prst="rect">
            <a:avLst/>
          </a:prstGeom>
          <a:noFill/>
          <a:ln/>
        </p:spPr>
        <p:txBody>
          <a:bodyPr wrap="square" rtlCol="0" anchor="ctr"/>
          <a:lstStyle/>
          <a:p>
            <a:pPr indent="0" marL="0">
              <a:buNone/>
            </a:pPr>
            <a:r>
              <a:rPr lang="en-US" sz="800" b="1" dirty="0">
                <a:solidFill>
                  <a:srgbClr val="1E2A38"/>
                </a:solidFill>
                <a:latin typeface="Source Han Sans SC" pitchFamily="34" charset="0"/>
                <a:ea typeface="Source Han Sans SC" pitchFamily="34" charset="-122"/>
                <a:cs typeface="Source Han Sans SC" pitchFamily="34" charset="-120"/>
              </a:rPr>
              <a:t>校园心理辅导成熟体系</a:t>
            </a:r>
            <a:endParaRPr lang="en-US" sz="800" dirty="0"/>
          </a:p>
        </p:txBody>
      </p:sp>
      <p:sp>
        <p:nvSpPr>
          <p:cNvPr id="24" name="Text 22"/>
          <p:cNvSpPr/>
          <p:nvPr/>
        </p:nvSpPr>
        <p:spPr>
          <a:xfrm>
            <a:off x="3493008" y="1920240"/>
            <a:ext cx="2377440" cy="164592"/>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特点</a:t>
            </a:r>
            <a:endParaRPr lang="en-US" sz="650" dirty="0"/>
          </a:p>
        </p:txBody>
      </p:sp>
      <p:sp>
        <p:nvSpPr>
          <p:cNvPr id="25" name="Text 23"/>
          <p:cNvSpPr/>
          <p:nvPr/>
        </p:nvSpPr>
        <p:spPr>
          <a:xfrm>
            <a:off x="3493008" y="2084832"/>
            <a:ext cx="2377440" cy="1097280"/>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心之教室项目覆盖90%公立中学</a:t>
            </a:r>
            <a:endParaRPr lang="en-US" sz="650" dirty="0"/>
          </a:p>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SC派遣制度</a:t>
            </a:r>
            <a:endParaRPr lang="en-US" sz="650" dirty="0"/>
          </a:p>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定期心理测评与早期预警系统</a:t>
            </a:r>
            <a:endParaRPr lang="en-US" sz="650" dirty="0"/>
          </a:p>
        </p:txBody>
      </p:sp>
      <p:sp>
        <p:nvSpPr>
          <p:cNvPr id="26" name="Shape 24"/>
          <p:cNvSpPr/>
          <p:nvPr/>
        </p:nvSpPr>
        <p:spPr>
          <a:xfrm>
            <a:off x="3474720" y="3246120"/>
            <a:ext cx="2423160" cy="9144"/>
          </a:xfrm>
          <a:prstGeom prst="rect">
            <a:avLst/>
          </a:prstGeom>
          <a:solidFill>
            <a:srgbClr val="E5E9F0"/>
          </a:solidFill>
          <a:ln/>
        </p:spPr>
      </p:sp>
      <p:sp>
        <p:nvSpPr>
          <p:cNvPr id="27" name="Text 25"/>
          <p:cNvSpPr/>
          <p:nvPr/>
        </p:nvSpPr>
        <p:spPr>
          <a:xfrm>
            <a:off x="3493008" y="3291840"/>
            <a:ext cx="2377440" cy="164592"/>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师生比</a:t>
            </a:r>
            <a:endParaRPr lang="en-US" sz="650" dirty="0"/>
          </a:p>
        </p:txBody>
      </p:sp>
      <p:sp>
        <p:nvSpPr>
          <p:cNvPr id="28" name="Text 26"/>
          <p:cNvSpPr/>
          <p:nvPr/>
        </p:nvSpPr>
        <p:spPr>
          <a:xfrm>
            <a:off x="3493008" y="3456432"/>
            <a:ext cx="2377440" cy="201168"/>
          </a:xfrm>
          <a:prstGeom prst="rect">
            <a:avLst/>
          </a:prstGeom>
          <a:noFill/>
          <a:ln/>
        </p:spPr>
        <p:txBody>
          <a:bodyPr wrap="square" rtlCol="0" anchor="ctr"/>
          <a:lstStyle/>
          <a:p>
            <a:pPr indent="0" marL="0">
              <a:buNone/>
            </a:pPr>
            <a:r>
              <a:rPr lang="en-US" sz="900" b="1" dirty="0">
                <a:solidFill>
                  <a:srgbClr val="3A6EA5"/>
                </a:solidFill>
                <a:latin typeface="Source Han Sans SC" pitchFamily="34" charset="0"/>
                <a:ea typeface="Source Han Sans SC" pitchFamily="34" charset="-122"/>
                <a:cs typeface="Source Han Sans SC" pitchFamily="34" charset="-120"/>
              </a:rPr>
              <a:t>1:600</a:t>
            </a:r>
            <a:endParaRPr lang="en-US" sz="900" dirty="0"/>
          </a:p>
        </p:txBody>
      </p:sp>
      <p:sp>
        <p:nvSpPr>
          <p:cNvPr id="29" name="Shape 27"/>
          <p:cNvSpPr/>
          <p:nvPr/>
        </p:nvSpPr>
        <p:spPr>
          <a:xfrm>
            <a:off x="3474720" y="3749040"/>
            <a:ext cx="2423160" cy="9144"/>
          </a:xfrm>
          <a:prstGeom prst="rect">
            <a:avLst/>
          </a:prstGeom>
          <a:solidFill>
            <a:srgbClr val="E5E9F0"/>
          </a:solidFill>
          <a:ln/>
        </p:spPr>
      </p:sp>
      <p:sp>
        <p:nvSpPr>
          <p:cNvPr id="30" name="Text 28"/>
          <p:cNvSpPr/>
          <p:nvPr/>
        </p:nvSpPr>
        <p:spPr>
          <a:xfrm>
            <a:off x="3493008" y="3822192"/>
            <a:ext cx="2377440" cy="164592"/>
          </a:xfrm>
          <a:prstGeom prst="rect">
            <a:avLst/>
          </a:prstGeom>
          <a:noFill/>
          <a:ln/>
        </p:spPr>
        <p:txBody>
          <a:bodyPr wrap="square" rtlCol="0" anchor="ctr"/>
          <a:lstStyle/>
          <a:p>
            <a:pPr indent="0" marL="0">
              <a:buNone/>
            </a:pPr>
            <a:r>
              <a:rPr lang="en-US" sz="650" dirty="0">
                <a:solidFill>
                  <a:srgbClr val="D98E04"/>
                </a:solidFill>
                <a:latin typeface="Source Han Sans SC" pitchFamily="34" charset="0"/>
                <a:ea typeface="Source Han Sans SC" pitchFamily="34" charset="-122"/>
                <a:cs typeface="Source Han Sans SC" pitchFamily="34" charset="-120"/>
              </a:rPr>
              <a:t>启示</a:t>
            </a:r>
            <a:endParaRPr lang="en-US" sz="650" dirty="0"/>
          </a:p>
        </p:txBody>
      </p:sp>
      <p:sp>
        <p:nvSpPr>
          <p:cNvPr id="31" name="Shape 29"/>
          <p:cNvSpPr/>
          <p:nvPr/>
        </p:nvSpPr>
        <p:spPr>
          <a:xfrm>
            <a:off x="3493008" y="4005072"/>
            <a:ext cx="2377440" cy="777240"/>
          </a:xfrm>
          <a:prstGeom prst="roundRect">
            <a:avLst>
              <a:gd name="adj" fmla="val 4706"/>
            </a:avLst>
          </a:prstGeom>
          <a:solidFill>
            <a:srgbClr val="F7F9FC"/>
          </a:solidFill>
          <a:ln w="3810">
            <a:solidFill>
              <a:srgbClr val="E5E9F0"/>
            </a:solidFill>
            <a:prstDash val="solid"/>
          </a:ln>
        </p:spPr>
      </p:sp>
      <p:sp>
        <p:nvSpPr>
          <p:cNvPr id="32" name="Text 30"/>
          <p:cNvSpPr/>
          <p:nvPr/>
        </p:nvSpPr>
        <p:spPr>
          <a:xfrm>
            <a:off x="3584448" y="4023360"/>
            <a:ext cx="2194560" cy="731520"/>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制度化的筛查-辅导-预警机制是有效的前置干预</a:t>
            </a:r>
            <a:endParaRPr lang="en-US" sz="650" dirty="0"/>
          </a:p>
        </p:txBody>
      </p:sp>
      <p:sp>
        <p:nvSpPr>
          <p:cNvPr id="33" name="Shape 31"/>
          <p:cNvSpPr/>
          <p:nvPr/>
        </p:nvSpPr>
        <p:spPr>
          <a:xfrm>
            <a:off x="6172200" y="1051560"/>
            <a:ext cx="2606040" cy="4572000"/>
          </a:xfrm>
          <a:prstGeom prst="roundRect">
            <a:avLst>
              <a:gd name="adj" fmla="val 1754"/>
            </a:avLst>
          </a:prstGeom>
          <a:solidFill>
            <a:srgbClr val="FFFFFF"/>
          </a:solidFill>
          <a:ln w="6350">
            <a:solidFill>
              <a:srgbClr val="E5E9F0"/>
            </a:solidFill>
            <a:prstDash val="solid"/>
          </a:ln>
        </p:spPr>
      </p:sp>
      <p:sp>
        <p:nvSpPr>
          <p:cNvPr id="34" name="Shape 32"/>
          <p:cNvSpPr/>
          <p:nvPr/>
        </p:nvSpPr>
        <p:spPr>
          <a:xfrm>
            <a:off x="6172200" y="1051560"/>
            <a:ext cx="2606040" cy="347472"/>
          </a:xfrm>
          <a:prstGeom prst="rect">
            <a:avLst/>
          </a:prstGeom>
          <a:solidFill>
            <a:srgbClr val="3A6EA5"/>
          </a:solidFill>
          <a:ln/>
        </p:spPr>
      </p:sp>
      <p:sp>
        <p:nvSpPr>
          <p:cNvPr id="35" name="Text 33"/>
          <p:cNvSpPr/>
          <p:nvPr/>
        </p:nvSpPr>
        <p:spPr>
          <a:xfrm>
            <a:off x="6172200" y="1051560"/>
            <a:ext cx="2606040" cy="347472"/>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新加坡</a:t>
            </a:r>
            <a:endParaRPr lang="en-US" sz="1000" dirty="0"/>
          </a:p>
        </p:txBody>
      </p:sp>
      <p:sp>
        <p:nvSpPr>
          <p:cNvPr id="36" name="Text 34"/>
          <p:cNvSpPr/>
          <p:nvPr/>
        </p:nvSpPr>
        <p:spPr>
          <a:xfrm>
            <a:off x="6281928" y="1508760"/>
            <a:ext cx="2377440" cy="164592"/>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模式</a:t>
            </a:r>
            <a:endParaRPr lang="en-US" sz="650" dirty="0"/>
          </a:p>
        </p:txBody>
      </p:sp>
      <p:sp>
        <p:nvSpPr>
          <p:cNvPr id="37" name="Text 35"/>
          <p:cNvSpPr/>
          <p:nvPr/>
        </p:nvSpPr>
        <p:spPr>
          <a:xfrm>
            <a:off x="6281928" y="1645920"/>
            <a:ext cx="2377440" cy="201168"/>
          </a:xfrm>
          <a:prstGeom prst="rect">
            <a:avLst/>
          </a:prstGeom>
          <a:noFill/>
          <a:ln/>
        </p:spPr>
        <p:txBody>
          <a:bodyPr wrap="square" rtlCol="0" anchor="ctr"/>
          <a:lstStyle/>
          <a:p>
            <a:pPr indent="0" marL="0">
              <a:buNone/>
            </a:pPr>
            <a:r>
              <a:rPr lang="en-US" sz="800" b="1" dirty="0">
                <a:solidFill>
                  <a:srgbClr val="1E2A38"/>
                </a:solidFill>
                <a:latin typeface="Source Han Sans SC" pitchFamily="34" charset="0"/>
                <a:ea typeface="Source Han Sans SC" pitchFamily="34" charset="-122"/>
                <a:cs typeface="Source Han Sans SC" pitchFamily="34" charset="-120"/>
              </a:rPr>
              <a:t>预防性心理健康教育</a:t>
            </a:r>
            <a:endParaRPr lang="en-US" sz="800" dirty="0"/>
          </a:p>
        </p:txBody>
      </p:sp>
      <p:sp>
        <p:nvSpPr>
          <p:cNvPr id="38" name="Text 36"/>
          <p:cNvSpPr/>
          <p:nvPr/>
        </p:nvSpPr>
        <p:spPr>
          <a:xfrm>
            <a:off x="6281928" y="1920240"/>
            <a:ext cx="2377440" cy="164592"/>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特点</a:t>
            </a:r>
            <a:endParaRPr lang="en-US" sz="650" dirty="0"/>
          </a:p>
        </p:txBody>
      </p:sp>
      <p:sp>
        <p:nvSpPr>
          <p:cNvPr id="39" name="Text 37"/>
          <p:cNvSpPr/>
          <p:nvPr/>
        </p:nvSpPr>
        <p:spPr>
          <a:xfrm>
            <a:off x="6281928" y="2084832"/>
            <a:ext cx="2377440" cy="1097280"/>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REACH全国框架</a:t>
            </a:r>
            <a:endParaRPr lang="en-US" sz="650" dirty="0"/>
          </a:p>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每校设心理健康协调员</a:t>
            </a:r>
            <a:endParaRPr lang="en-US" sz="650" dirty="0"/>
          </a:p>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教师心理健康素养培训体系完善</a:t>
            </a:r>
            <a:endParaRPr lang="en-US" sz="650" dirty="0"/>
          </a:p>
        </p:txBody>
      </p:sp>
      <p:sp>
        <p:nvSpPr>
          <p:cNvPr id="40" name="Shape 38"/>
          <p:cNvSpPr/>
          <p:nvPr/>
        </p:nvSpPr>
        <p:spPr>
          <a:xfrm>
            <a:off x="6263640" y="3246120"/>
            <a:ext cx="2423160" cy="9144"/>
          </a:xfrm>
          <a:prstGeom prst="rect">
            <a:avLst/>
          </a:prstGeom>
          <a:solidFill>
            <a:srgbClr val="E5E9F0"/>
          </a:solidFill>
          <a:ln/>
        </p:spPr>
      </p:sp>
      <p:sp>
        <p:nvSpPr>
          <p:cNvPr id="41" name="Text 39"/>
          <p:cNvSpPr/>
          <p:nvPr/>
        </p:nvSpPr>
        <p:spPr>
          <a:xfrm>
            <a:off x="6281928" y="3291840"/>
            <a:ext cx="2377440" cy="164592"/>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师生比</a:t>
            </a:r>
            <a:endParaRPr lang="en-US" sz="650" dirty="0"/>
          </a:p>
        </p:txBody>
      </p:sp>
      <p:sp>
        <p:nvSpPr>
          <p:cNvPr id="42" name="Text 40"/>
          <p:cNvSpPr/>
          <p:nvPr/>
        </p:nvSpPr>
        <p:spPr>
          <a:xfrm>
            <a:off x="6281928" y="3456432"/>
            <a:ext cx="2377440" cy="201168"/>
          </a:xfrm>
          <a:prstGeom prst="rect">
            <a:avLst/>
          </a:prstGeom>
          <a:noFill/>
          <a:ln/>
        </p:spPr>
        <p:txBody>
          <a:bodyPr wrap="square" rtlCol="0" anchor="ctr"/>
          <a:lstStyle/>
          <a:p>
            <a:pPr indent="0" marL="0">
              <a:buNone/>
            </a:pPr>
            <a:r>
              <a:rPr lang="en-US" sz="900" b="1" dirty="0">
                <a:solidFill>
                  <a:srgbClr val="3A6EA5"/>
                </a:solidFill>
                <a:latin typeface="Source Han Sans SC" pitchFamily="34" charset="0"/>
                <a:ea typeface="Source Han Sans SC" pitchFamily="34" charset="-122"/>
                <a:cs typeface="Source Han Sans SC" pitchFamily="34" charset="-120"/>
              </a:rPr>
              <a:t>1:800</a:t>
            </a:r>
            <a:endParaRPr lang="en-US" sz="900" dirty="0"/>
          </a:p>
        </p:txBody>
      </p:sp>
      <p:sp>
        <p:nvSpPr>
          <p:cNvPr id="43" name="Shape 41"/>
          <p:cNvSpPr/>
          <p:nvPr/>
        </p:nvSpPr>
        <p:spPr>
          <a:xfrm>
            <a:off x="6263640" y="3749040"/>
            <a:ext cx="2423160" cy="9144"/>
          </a:xfrm>
          <a:prstGeom prst="rect">
            <a:avLst/>
          </a:prstGeom>
          <a:solidFill>
            <a:srgbClr val="E5E9F0"/>
          </a:solidFill>
          <a:ln/>
        </p:spPr>
      </p:sp>
      <p:sp>
        <p:nvSpPr>
          <p:cNvPr id="44" name="Text 42"/>
          <p:cNvSpPr/>
          <p:nvPr/>
        </p:nvSpPr>
        <p:spPr>
          <a:xfrm>
            <a:off x="6281928" y="3822192"/>
            <a:ext cx="2377440" cy="164592"/>
          </a:xfrm>
          <a:prstGeom prst="rect">
            <a:avLst/>
          </a:prstGeom>
          <a:noFill/>
          <a:ln/>
        </p:spPr>
        <p:txBody>
          <a:bodyPr wrap="square" rtlCol="0" anchor="ctr"/>
          <a:lstStyle/>
          <a:p>
            <a:pPr indent="0" marL="0">
              <a:buNone/>
            </a:pPr>
            <a:r>
              <a:rPr lang="en-US" sz="650" dirty="0">
                <a:solidFill>
                  <a:srgbClr val="D98E04"/>
                </a:solidFill>
                <a:latin typeface="Source Han Sans SC" pitchFamily="34" charset="0"/>
                <a:ea typeface="Source Han Sans SC" pitchFamily="34" charset="-122"/>
                <a:cs typeface="Source Han Sans SC" pitchFamily="34" charset="-120"/>
              </a:rPr>
              <a:t>启示</a:t>
            </a:r>
            <a:endParaRPr lang="en-US" sz="650" dirty="0"/>
          </a:p>
        </p:txBody>
      </p:sp>
      <p:sp>
        <p:nvSpPr>
          <p:cNvPr id="45" name="Shape 43"/>
          <p:cNvSpPr/>
          <p:nvPr/>
        </p:nvSpPr>
        <p:spPr>
          <a:xfrm>
            <a:off x="6281928" y="4005072"/>
            <a:ext cx="2377440" cy="777240"/>
          </a:xfrm>
          <a:prstGeom prst="roundRect">
            <a:avLst>
              <a:gd name="adj" fmla="val 4706"/>
            </a:avLst>
          </a:prstGeom>
          <a:solidFill>
            <a:srgbClr val="F7F9FC"/>
          </a:solidFill>
          <a:ln w="3810">
            <a:solidFill>
              <a:srgbClr val="E5E9F0"/>
            </a:solidFill>
            <a:prstDash val="solid"/>
          </a:ln>
        </p:spPr>
      </p:sp>
      <p:sp>
        <p:nvSpPr>
          <p:cNvPr id="46" name="Text 44"/>
          <p:cNvSpPr/>
          <p:nvPr/>
        </p:nvSpPr>
        <p:spPr>
          <a:xfrm>
            <a:off x="6373368" y="4023360"/>
            <a:ext cx="2194560" cy="731520"/>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预防优于干预，教师培训是关键抓手</a:t>
            </a:r>
            <a:endParaRPr lang="en-US" sz="650" dirty="0"/>
          </a:p>
        </p:txBody>
      </p:sp>
      <p:sp>
        <p:nvSpPr>
          <p:cNvPr id="47" name="Shape 45"/>
          <p:cNvSpPr/>
          <p:nvPr/>
        </p:nvSpPr>
        <p:spPr>
          <a:xfrm>
            <a:off x="8961120" y="1051560"/>
            <a:ext cx="2606040" cy="4572000"/>
          </a:xfrm>
          <a:prstGeom prst="roundRect">
            <a:avLst>
              <a:gd name="adj" fmla="val 1754"/>
            </a:avLst>
          </a:prstGeom>
          <a:solidFill>
            <a:srgbClr val="FFFFFF"/>
          </a:solidFill>
          <a:ln w="6350">
            <a:solidFill>
              <a:srgbClr val="E5E9F0"/>
            </a:solidFill>
            <a:prstDash val="solid"/>
          </a:ln>
        </p:spPr>
      </p:sp>
      <p:sp>
        <p:nvSpPr>
          <p:cNvPr id="48" name="Shape 46"/>
          <p:cNvSpPr/>
          <p:nvPr/>
        </p:nvSpPr>
        <p:spPr>
          <a:xfrm>
            <a:off x="8961120" y="1051560"/>
            <a:ext cx="2606040" cy="347472"/>
          </a:xfrm>
          <a:prstGeom prst="rect">
            <a:avLst/>
          </a:prstGeom>
          <a:solidFill>
            <a:srgbClr val="D98E04"/>
          </a:solidFill>
          <a:ln/>
        </p:spPr>
      </p:sp>
      <p:sp>
        <p:nvSpPr>
          <p:cNvPr id="49" name="Text 47"/>
          <p:cNvSpPr/>
          <p:nvPr/>
        </p:nvSpPr>
        <p:spPr>
          <a:xfrm>
            <a:off x="8961120" y="1051560"/>
            <a:ext cx="2606040" cy="347472"/>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中国</a:t>
            </a:r>
            <a:endParaRPr lang="en-US" sz="1000" dirty="0"/>
          </a:p>
        </p:txBody>
      </p:sp>
      <p:sp>
        <p:nvSpPr>
          <p:cNvPr id="50" name="Text 48"/>
          <p:cNvSpPr/>
          <p:nvPr/>
        </p:nvSpPr>
        <p:spPr>
          <a:xfrm>
            <a:off x="9070848" y="1508760"/>
            <a:ext cx="2377440" cy="164592"/>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模式</a:t>
            </a:r>
            <a:endParaRPr lang="en-US" sz="650" dirty="0"/>
          </a:p>
        </p:txBody>
      </p:sp>
      <p:sp>
        <p:nvSpPr>
          <p:cNvPr id="51" name="Text 49"/>
          <p:cNvSpPr/>
          <p:nvPr/>
        </p:nvSpPr>
        <p:spPr>
          <a:xfrm>
            <a:off x="9070848" y="1645920"/>
            <a:ext cx="2377440" cy="201168"/>
          </a:xfrm>
          <a:prstGeom prst="rect">
            <a:avLst/>
          </a:prstGeom>
          <a:noFill/>
          <a:ln/>
        </p:spPr>
        <p:txBody>
          <a:bodyPr wrap="square" rtlCol="0" anchor="ctr"/>
          <a:lstStyle/>
          <a:p>
            <a:pPr indent="0" marL="0">
              <a:buNone/>
            </a:pPr>
            <a:r>
              <a:rPr lang="en-US" sz="800" b="1" dirty="0">
                <a:solidFill>
                  <a:srgbClr val="1E2A38"/>
                </a:solidFill>
                <a:latin typeface="Source Han Sans SC" pitchFamily="34" charset="0"/>
                <a:ea typeface="Source Han Sans SC" pitchFamily="34" charset="-122"/>
                <a:cs typeface="Source Han Sans SC" pitchFamily="34" charset="-120"/>
              </a:rPr>
              <a:t>快速追赶中的制度构建</a:t>
            </a:r>
            <a:endParaRPr lang="en-US" sz="800" dirty="0"/>
          </a:p>
        </p:txBody>
      </p:sp>
      <p:sp>
        <p:nvSpPr>
          <p:cNvPr id="52" name="Text 50"/>
          <p:cNvSpPr/>
          <p:nvPr/>
        </p:nvSpPr>
        <p:spPr>
          <a:xfrm>
            <a:off x="9070848" y="1920240"/>
            <a:ext cx="2377440" cy="164592"/>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特点</a:t>
            </a:r>
            <a:endParaRPr lang="en-US" sz="650" dirty="0"/>
          </a:p>
        </p:txBody>
      </p:sp>
      <p:sp>
        <p:nvSpPr>
          <p:cNvPr id="53" name="Text 51"/>
          <p:cNvSpPr/>
          <p:nvPr/>
        </p:nvSpPr>
        <p:spPr>
          <a:xfrm>
            <a:off x="9070848" y="2084832"/>
            <a:ext cx="2377440" cy="1097280"/>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2023年后政策密集出台</a:t>
            </a:r>
            <a:endParaRPr lang="en-US" sz="650" dirty="0"/>
          </a:p>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师生比缺口仍约2.3万人</a:t>
            </a:r>
            <a:endParaRPr lang="en-US" sz="650" dirty="0"/>
          </a:p>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城乡覆盖率差异显著</a:t>
            </a:r>
            <a:endParaRPr lang="en-US" sz="650" dirty="0"/>
          </a:p>
        </p:txBody>
      </p:sp>
      <p:sp>
        <p:nvSpPr>
          <p:cNvPr id="54" name="Shape 52"/>
          <p:cNvSpPr/>
          <p:nvPr/>
        </p:nvSpPr>
        <p:spPr>
          <a:xfrm>
            <a:off x="9052560" y="3246120"/>
            <a:ext cx="2423160" cy="9144"/>
          </a:xfrm>
          <a:prstGeom prst="rect">
            <a:avLst/>
          </a:prstGeom>
          <a:solidFill>
            <a:srgbClr val="E5E9F0"/>
          </a:solidFill>
          <a:ln/>
        </p:spPr>
      </p:sp>
      <p:sp>
        <p:nvSpPr>
          <p:cNvPr id="55" name="Text 53"/>
          <p:cNvSpPr/>
          <p:nvPr/>
        </p:nvSpPr>
        <p:spPr>
          <a:xfrm>
            <a:off x="9070848" y="3291840"/>
            <a:ext cx="2377440" cy="164592"/>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师生比</a:t>
            </a:r>
            <a:endParaRPr lang="en-US" sz="650" dirty="0"/>
          </a:p>
        </p:txBody>
      </p:sp>
      <p:sp>
        <p:nvSpPr>
          <p:cNvPr id="56" name="Text 54"/>
          <p:cNvSpPr/>
          <p:nvPr/>
        </p:nvSpPr>
        <p:spPr>
          <a:xfrm>
            <a:off x="9070848" y="3456432"/>
            <a:ext cx="2377440" cy="201168"/>
          </a:xfrm>
          <a:prstGeom prst="rect">
            <a:avLst/>
          </a:prstGeom>
          <a:noFill/>
          <a:ln/>
        </p:spPr>
        <p:txBody>
          <a:bodyPr wrap="square" rtlCol="0" anchor="ctr"/>
          <a:lstStyle/>
          <a:p>
            <a:pPr indent="0" marL="0">
              <a:buNone/>
            </a:pPr>
            <a:r>
              <a:rPr lang="en-US" sz="900" b="1" dirty="0">
                <a:solidFill>
                  <a:srgbClr val="3A6EA5"/>
                </a:solidFill>
                <a:latin typeface="Source Han Sans SC" pitchFamily="34" charset="0"/>
                <a:ea typeface="Source Han Sans SC" pitchFamily="34" charset="-122"/>
                <a:cs typeface="Source Han Sans SC" pitchFamily="34" charset="-120"/>
              </a:rPr>
              <a:t>1:1800</a:t>
            </a:r>
            <a:endParaRPr lang="en-US" sz="900" dirty="0"/>
          </a:p>
        </p:txBody>
      </p:sp>
      <p:sp>
        <p:nvSpPr>
          <p:cNvPr id="57" name="Shape 55"/>
          <p:cNvSpPr/>
          <p:nvPr/>
        </p:nvSpPr>
        <p:spPr>
          <a:xfrm>
            <a:off x="9052560" y="3749040"/>
            <a:ext cx="2423160" cy="9144"/>
          </a:xfrm>
          <a:prstGeom prst="rect">
            <a:avLst/>
          </a:prstGeom>
          <a:solidFill>
            <a:srgbClr val="E5E9F0"/>
          </a:solidFill>
          <a:ln/>
        </p:spPr>
      </p:sp>
      <p:sp>
        <p:nvSpPr>
          <p:cNvPr id="58" name="Text 56"/>
          <p:cNvSpPr/>
          <p:nvPr/>
        </p:nvSpPr>
        <p:spPr>
          <a:xfrm>
            <a:off x="9070848" y="3822192"/>
            <a:ext cx="2377440" cy="164592"/>
          </a:xfrm>
          <a:prstGeom prst="rect">
            <a:avLst/>
          </a:prstGeom>
          <a:noFill/>
          <a:ln/>
        </p:spPr>
        <p:txBody>
          <a:bodyPr wrap="square" rtlCol="0" anchor="ctr"/>
          <a:lstStyle/>
          <a:p>
            <a:pPr indent="0" marL="0">
              <a:buNone/>
            </a:pPr>
            <a:r>
              <a:rPr lang="en-US" sz="650" dirty="0">
                <a:solidFill>
                  <a:srgbClr val="D98E04"/>
                </a:solidFill>
                <a:latin typeface="Source Han Sans SC" pitchFamily="34" charset="0"/>
                <a:ea typeface="Source Han Sans SC" pitchFamily="34" charset="-122"/>
                <a:cs typeface="Source Han Sans SC" pitchFamily="34" charset="-120"/>
              </a:rPr>
              <a:t>启示</a:t>
            </a:r>
            <a:endParaRPr lang="en-US" sz="650" dirty="0"/>
          </a:p>
        </p:txBody>
      </p:sp>
      <p:sp>
        <p:nvSpPr>
          <p:cNvPr id="59" name="Shape 57"/>
          <p:cNvSpPr/>
          <p:nvPr/>
        </p:nvSpPr>
        <p:spPr>
          <a:xfrm>
            <a:off x="9070848" y="4005072"/>
            <a:ext cx="2377440" cy="777240"/>
          </a:xfrm>
          <a:prstGeom prst="roundRect">
            <a:avLst>
              <a:gd name="adj" fmla="val 4706"/>
            </a:avLst>
          </a:prstGeom>
          <a:solidFill>
            <a:srgbClr val="F7F9FC"/>
          </a:solidFill>
          <a:ln w="3810">
            <a:solidFill>
              <a:srgbClr val="E5E9F0"/>
            </a:solidFill>
            <a:prstDash val="solid"/>
          </a:ln>
        </p:spPr>
      </p:sp>
      <p:sp>
        <p:nvSpPr>
          <p:cNvPr id="60" name="Text 58"/>
          <p:cNvSpPr/>
          <p:nvPr/>
        </p:nvSpPr>
        <p:spPr>
          <a:xfrm>
            <a:off x="9162288" y="4023360"/>
            <a:ext cx="2194560" cy="731520"/>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需借鉴国际经验，构建多层次支持体系</a:t>
            </a:r>
            <a:endParaRPr lang="en-US" sz="650" dirty="0"/>
          </a:p>
        </p:txBody>
      </p:sp>
      <p:sp>
        <p:nvSpPr>
          <p:cNvPr id="61" name="Text 59"/>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12/23</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问题原因的多层次分析</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Multi-level Root Cause Analysis</a:t>
            </a:r>
            <a:endParaRPr lang="en-US" sz="1000" dirty="0"/>
          </a:p>
        </p:txBody>
      </p:sp>
      <p:sp>
        <p:nvSpPr>
          <p:cNvPr id="5" name="Shape 3"/>
          <p:cNvSpPr/>
          <p:nvPr/>
        </p:nvSpPr>
        <p:spPr>
          <a:xfrm>
            <a:off x="594360" y="1051560"/>
            <a:ext cx="2606040" cy="320040"/>
          </a:xfrm>
          <a:prstGeom prst="roundRect">
            <a:avLst>
              <a:gd name="adj" fmla="val 11429"/>
            </a:avLst>
          </a:prstGeom>
          <a:solidFill>
            <a:srgbClr val="3A6EA5"/>
          </a:solidFill>
          <a:ln/>
        </p:spPr>
      </p:sp>
      <p:sp>
        <p:nvSpPr>
          <p:cNvPr id="6" name="Text 4"/>
          <p:cNvSpPr/>
          <p:nvPr/>
        </p:nvSpPr>
        <p:spPr>
          <a:xfrm>
            <a:off x="594360" y="1051560"/>
            <a:ext cx="2606040" cy="320040"/>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制度层面</a:t>
            </a:r>
            <a:endParaRPr lang="en-US" sz="1000" dirty="0"/>
          </a:p>
        </p:txBody>
      </p:sp>
      <p:sp>
        <p:nvSpPr>
          <p:cNvPr id="7" name="Shape 5"/>
          <p:cNvSpPr/>
          <p:nvPr/>
        </p:nvSpPr>
        <p:spPr>
          <a:xfrm>
            <a:off x="640080" y="1508760"/>
            <a:ext cx="2514600" cy="438912"/>
          </a:xfrm>
          <a:prstGeom prst="roundRect">
            <a:avLst>
              <a:gd name="adj" fmla="val 10417"/>
            </a:avLst>
          </a:prstGeom>
          <a:solidFill>
            <a:srgbClr val="FFFFFF"/>
          </a:solidFill>
          <a:ln w="6350">
            <a:solidFill>
              <a:srgbClr val="E5E9F0"/>
            </a:solidFill>
            <a:prstDash val="solid"/>
          </a:ln>
        </p:spPr>
      </p:sp>
      <p:sp>
        <p:nvSpPr>
          <p:cNvPr id="8" name="Text 6"/>
          <p:cNvSpPr/>
          <p:nvPr/>
        </p:nvSpPr>
        <p:spPr>
          <a:xfrm>
            <a:off x="731520" y="1527048"/>
            <a:ext cx="2331720" cy="402336"/>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1. 高考制度下的单一评价体系形成分数至上的社会预期</a:t>
            </a:r>
            <a:endParaRPr lang="en-US" sz="650" dirty="0"/>
          </a:p>
        </p:txBody>
      </p:sp>
      <p:sp>
        <p:nvSpPr>
          <p:cNvPr id="9" name="Shape 7"/>
          <p:cNvSpPr/>
          <p:nvPr/>
        </p:nvSpPr>
        <p:spPr>
          <a:xfrm>
            <a:off x="640080" y="2057400"/>
            <a:ext cx="2514600" cy="438912"/>
          </a:xfrm>
          <a:prstGeom prst="roundRect">
            <a:avLst>
              <a:gd name="adj" fmla="val 10417"/>
            </a:avLst>
          </a:prstGeom>
          <a:solidFill>
            <a:srgbClr val="FFFFFF"/>
          </a:solidFill>
          <a:ln w="6350">
            <a:solidFill>
              <a:srgbClr val="E5E9F0"/>
            </a:solidFill>
            <a:prstDash val="solid"/>
          </a:ln>
        </p:spPr>
      </p:sp>
      <p:sp>
        <p:nvSpPr>
          <p:cNvPr id="10" name="Text 8"/>
          <p:cNvSpPr/>
          <p:nvPr/>
        </p:nvSpPr>
        <p:spPr>
          <a:xfrm>
            <a:off x="731520" y="2075688"/>
            <a:ext cx="2331720" cy="402336"/>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2. 教育资源分布不均，优质资源竞争倒逼压力前移</a:t>
            </a:r>
            <a:endParaRPr lang="en-US" sz="650" dirty="0"/>
          </a:p>
        </p:txBody>
      </p:sp>
      <p:sp>
        <p:nvSpPr>
          <p:cNvPr id="11" name="Shape 9"/>
          <p:cNvSpPr/>
          <p:nvPr/>
        </p:nvSpPr>
        <p:spPr>
          <a:xfrm>
            <a:off x="640080" y="2606040"/>
            <a:ext cx="2514600" cy="438912"/>
          </a:xfrm>
          <a:prstGeom prst="roundRect">
            <a:avLst>
              <a:gd name="adj" fmla="val 10417"/>
            </a:avLst>
          </a:prstGeom>
          <a:solidFill>
            <a:srgbClr val="FFFFFF"/>
          </a:solidFill>
          <a:ln w="6350">
            <a:solidFill>
              <a:srgbClr val="E5E9F0"/>
            </a:solidFill>
            <a:prstDash val="solid"/>
          </a:ln>
        </p:spPr>
      </p:sp>
      <p:sp>
        <p:nvSpPr>
          <p:cNvPr id="12" name="Text 10"/>
          <p:cNvSpPr/>
          <p:nvPr/>
        </p:nvSpPr>
        <p:spPr>
          <a:xfrm>
            <a:off x="731520" y="2624328"/>
            <a:ext cx="2331720" cy="402336"/>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3. 心理健康教育政策在最后一公里存在衰减效应</a:t>
            </a:r>
            <a:endParaRPr lang="en-US" sz="650" dirty="0"/>
          </a:p>
        </p:txBody>
      </p:sp>
      <p:sp>
        <p:nvSpPr>
          <p:cNvPr id="13" name="Shape 11"/>
          <p:cNvSpPr/>
          <p:nvPr/>
        </p:nvSpPr>
        <p:spPr>
          <a:xfrm>
            <a:off x="3383280" y="1051560"/>
            <a:ext cx="2606040" cy="320040"/>
          </a:xfrm>
          <a:prstGeom prst="roundRect">
            <a:avLst>
              <a:gd name="adj" fmla="val 11429"/>
            </a:avLst>
          </a:prstGeom>
          <a:solidFill>
            <a:srgbClr val="5C9BD4"/>
          </a:solidFill>
          <a:ln/>
        </p:spPr>
      </p:sp>
      <p:sp>
        <p:nvSpPr>
          <p:cNvPr id="14" name="Text 12"/>
          <p:cNvSpPr/>
          <p:nvPr/>
        </p:nvSpPr>
        <p:spPr>
          <a:xfrm>
            <a:off x="3383280" y="1051560"/>
            <a:ext cx="2606040" cy="320040"/>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学校层面</a:t>
            </a:r>
            <a:endParaRPr lang="en-US" sz="1000" dirty="0"/>
          </a:p>
        </p:txBody>
      </p:sp>
      <p:sp>
        <p:nvSpPr>
          <p:cNvPr id="15" name="Shape 13"/>
          <p:cNvSpPr/>
          <p:nvPr/>
        </p:nvSpPr>
        <p:spPr>
          <a:xfrm>
            <a:off x="3429000" y="1508760"/>
            <a:ext cx="2514600" cy="438912"/>
          </a:xfrm>
          <a:prstGeom prst="roundRect">
            <a:avLst>
              <a:gd name="adj" fmla="val 10417"/>
            </a:avLst>
          </a:prstGeom>
          <a:solidFill>
            <a:srgbClr val="FFFFFF"/>
          </a:solidFill>
          <a:ln w="6350">
            <a:solidFill>
              <a:srgbClr val="E5E9F0"/>
            </a:solidFill>
            <a:prstDash val="solid"/>
          </a:ln>
        </p:spPr>
      </p:sp>
      <p:sp>
        <p:nvSpPr>
          <p:cNvPr id="16" name="Text 14"/>
          <p:cNvSpPr/>
          <p:nvPr/>
        </p:nvSpPr>
        <p:spPr>
          <a:xfrm>
            <a:off x="3520440" y="1527048"/>
            <a:ext cx="2331720" cy="402336"/>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1. 心理教师编制不足，部分心理教师被借调从事行政</a:t>
            </a:r>
            <a:endParaRPr lang="en-US" sz="650" dirty="0"/>
          </a:p>
        </p:txBody>
      </p:sp>
      <p:sp>
        <p:nvSpPr>
          <p:cNvPr id="17" name="Shape 15"/>
          <p:cNvSpPr/>
          <p:nvPr/>
        </p:nvSpPr>
        <p:spPr>
          <a:xfrm>
            <a:off x="3429000" y="2057400"/>
            <a:ext cx="2514600" cy="438912"/>
          </a:xfrm>
          <a:prstGeom prst="roundRect">
            <a:avLst>
              <a:gd name="adj" fmla="val 10417"/>
            </a:avLst>
          </a:prstGeom>
          <a:solidFill>
            <a:srgbClr val="FFFFFF"/>
          </a:solidFill>
          <a:ln w="6350">
            <a:solidFill>
              <a:srgbClr val="E5E9F0"/>
            </a:solidFill>
            <a:prstDash val="solid"/>
          </a:ln>
        </p:spPr>
      </p:sp>
      <p:sp>
        <p:nvSpPr>
          <p:cNvPr id="18" name="Text 16"/>
          <p:cNvSpPr/>
          <p:nvPr/>
        </p:nvSpPr>
        <p:spPr>
          <a:xfrm>
            <a:off x="3520440" y="2075688"/>
            <a:ext cx="2331720" cy="402336"/>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2. 心理课程多沦为班会附属内容，缺乏独立评估</a:t>
            </a:r>
            <a:endParaRPr lang="en-US" sz="650" dirty="0"/>
          </a:p>
        </p:txBody>
      </p:sp>
      <p:sp>
        <p:nvSpPr>
          <p:cNvPr id="19" name="Shape 17"/>
          <p:cNvSpPr/>
          <p:nvPr/>
        </p:nvSpPr>
        <p:spPr>
          <a:xfrm>
            <a:off x="3429000" y="2606040"/>
            <a:ext cx="2514600" cy="438912"/>
          </a:xfrm>
          <a:prstGeom prst="roundRect">
            <a:avLst>
              <a:gd name="adj" fmla="val 10417"/>
            </a:avLst>
          </a:prstGeom>
          <a:solidFill>
            <a:srgbClr val="FFFFFF"/>
          </a:solidFill>
          <a:ln w="6350">
            <a:solidFill>
              <a:srgbClr val="E5E9F0"/>
            </a:solidFill>
            <a:prstDash val="solid"/>
          </a:ln>
        </p:spPr>
      </p:sp>
      <p:sp>
        <p:nvSpPr>
          <p:cNvPr id="20" name="Text 18"/>
          <p:cNvSpPr/>
          <p:nvPr/>
        </p:nvSpPr>
        <p:spPr>
          <a:xfrm>
            <a:off x="3520440" y="2624328"/>
            <a:ext cx="2331720" cy="402336"/>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3. 升学率考核下，心理健康被视为软指标</a:t>
            </a:r>
            <a:endParaRPr lang="en-US" sz="650" dirty="0"/>
          </a:p>
        </p:txBody>
      </p:sp>
      <p:sp>
        <p:nvSpPr>
          <p:cNvPr id="21" name="Shape 19"/>
          <p:cNvSpPr/>
          <p:nvPr/>
        </p:nvSpPr>
        <p:spPr>
          <a:xfrm>
            <a:off x="6172200" y="1051560"/>
            <a:ext cx="2606040" cy="320040"/>
          </a:xfrm>
          <a:prstGeom prst="roundRect">
            <a:avLst>
              <a:gd name="adj" fmla="val 11429"/>
            </a:avLst>
          </a:prstGeom>
          <a:solidFill>
            <a:srgbClr val="6DA8E0"/>
          </a:solidFill>
          <a:ln/>
        </p:spPr>
      </p:sp>
      <p:sp>
        <p:nvSpPr>
          <p:cNvPr id="22" name="Text 20"/>
          <p:cNvSpPr/>
          <p:nvPr/>
        </p:nvSpPr>
        <p:spPr>
          <a:xfrm>
            <a:off x="6172200" y="1051560"/>
            <a:ext cx="2606040" cy="320040"/>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家庭层面</a:t>
            </a:r>
            <a:endParaRPr lang="en-US" sz="1000" dirty="0"/>
          </a:p>
        </p:txBody>
      </p:sp>
      <p:sp>
        <p:nvSpPr>
          <p:cNvPr id="23" name="Shape 21"/>
          <p:cNvSpPr/>
          <p:nvPr/>
        </p:nvSpPr>
        <p:spPr>
          <a:xfrm>
            <a:off x="6217920" y="1508760"/>
            <a:ext cx="2514600" cy="438912"/>
          </a:xfrm>
          <a:prstGeom prst="roundRect">
            <a:avLst>
              <a:gd name="adj" fmla="val 10417"/>
            </a:avLst>
          </a:prstGeom>
          <a:solidFill>
            <a:srgbClr val="FFFFFF"/>
          </a:solidFill>
          <a:ln w="6350">
            <a:solidFill>
              <a:srgbClr val="E5E9F0"/>
            </a:solidFill>
            <a:prstDash val="solid"/>
          </a:ln>
        </p:spPr>
      </p:sp>
      <p:sp>
        <p:nvSpPr>
          <p:cNvPr id="24" name="Text 22"/>
          <p:cNvSpPr/>
          <p:nvPr/>
        </p:nvSpPr>
        <p:spPr>
          <a:xfrm>
            <a:off x="6309360" y="1527048"/>
            <a:ext cx="2331720" cy="402336"/>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1. 传统望子成龙观念与现代社会竞争叠加</a:t>
            </a:r>
            <a:endParaRPr lang="en-US" sz="650" dirty="0"/>
          </a:p>
        </p:txBody>
      </p:sp>
      <p:sp>
        <p:nvSpPr>
          <p:cNvPr id="25" name="Shape 23"/>
          <p:cNvSpPr/>
          <p:nvPr/>
        </p:nvSpPr>
        <p:spPr>
          <a:xfrm>
            <a:off x="6217920" y="2057400"/>
            <a:ext cx="2514600" cy="438912"/>
          </a:xfrm>
          <a:prstGeom prst="roundRect">
            <a:avLst>
              <a:gd name="adj" fmla="val 10417"/>
            </a:avLst>
          </a:prstGeom>
          <a:solidFill>
            <a:srgbClr val="FFFFFF"/>
          </a:solidFill>
          <a:ln w="6350">
            <a:solidFill>
              <a:srgbClr val="E5E9F0"/>
            </a:solidFill>
            <a:prstDash val="solid"/>
          </a:ln>
        </p:spPr>
      </p:sp>
      <p:sp>
        <p:nvSpPr>
          <p:cNvPr id="26" name="Text 24"/>
          <p:cNvSpPr/>
          <p:nvPr/>
        </p:nvSpPr>
        <p:spPr>
          <a:xfrm>
            <a:off x="6309360" y="2075688"/>
            <a:ext cx="2331720" cy="402336"/>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2. 68.4%家长不了解基本心理健康知识</a:t>
            </a:r>
            <a:endParaRPr lang="en-US" sz="650" dirty="0"/>
          </a:p>
        </p:txBody>
      </p:sp>
      <p:sp>
        <p:nvSpPr>
          <p:cNvPr id="27" name="Shape 25"/>
          <p:cNvSpPr/>
          <p:nvPr/>
        </p:nvSpPr>
        <p:spPr>
          <a:xfrm>
            <a:off x="6217920" y="2606040"/>
            <a:ext cx="2514600" cy="438912"/>
          </a:xfrm>
          <a:prstGeom prst="roundRect">
            <a:avLst>
              <a:gd name="adj" fmla="val 10417"/>
            </a:avLst>
          </a:prstGeom>
          <a:solidFill>
            <a:srgbClr val="FFFFFF"/>
          </a:solidFill>
          <a:ln w="6350">
            <a:solidFill>
              <a:srgbClr val="E5E9F0"/>
            </a:solidFill>
            <a:prstDash val="solid"/>
          </a:ln>
        </p:spPr>
      </p:sp>
      <p:sp>
        <p:nvSpPr>
          <p:cNvPr id="28" name="Text 26"/>
          <p:cNvSpPr/>
          <p:nvPr/>
        </p:nvSpPr>
        <p:spPr>
          <a:xfrm>
            <a:off x="6309360" y="2624328"/>
            <a:ext cx="2331720" cy="402336"/>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3. 代际沟通障碍，缺乏有效情绪沟通模式</a:t>
            </a:r>
            <a:endParaRPr lang="en-US" sz="650" dirty="0"/>
          </a:p>
        </p:txBody>
      </p:sp>
      <p:sp>
        <p:nvSpPr>
          <p:cNvPr id="29" name="Shape 27"/>
          <p:cNvSpPr/>
          <p:nvPr/>
        </p:nvSpPr>
        <p:spPr>
          <a:xfrm>
            <a:off x="8961120" y="1051560"/>
            <a:ext cx="2606040" cy="320040"/>
          </a:xfrm>
          <a:prstGeom prst="roundRect">
            <a:avLst>
              <a:gd name="adj" fmla="val 11429"/>
            </a:avLst>
          </a:prstGeom>
          <a:solidFill>
            <a:srgbClr val="7BB5E6"/>
          </a:solidFill>
          <a:ln/>
        </p:spPr>
      </p:sp>
      <p:sp>
        <p:nvSpPr>
          <p:cNvPr id="30" name="Text 28"/>
          <p:cNvSpPr/>
          <p:nvPr/>
        </p:nvSpPr>
        <p:spPr>
          <a:xfrm>
            <a:off x="8961120" y="1051560"/>
            <a:ext cx="2606040" cy="320040"/>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学生层面</a:t>
            </a:r>
            <a:endParaRPr lang="en-US" sz="1000" dirty="0"/>
          </a:p>
        </p:txBody>
      </p:sp>
      <p:sp>
        <p:nvSpPr>
          <p:cNvPr id="31" name="Shape 29"/>
          <p:cNvSpPr/>
          <p:nvPr/>
        </p:nvSpPr>
        <p:spPr>
          <a:xfrm>
            <a:off x="9006840" y="1508760"/>
            <a:ext cx="2514600" cy="438912"/>
          </a:xfrm>
          <a:prstGeom prst="roundRect">
            <a:avLst>
              <a:gd name="adj" fmla="val 10417"/>
            </a:avLst>
          </a:prstGeom>
          <a:solidFill>
            <a:srgbClr val="FFFFFF"/>
          </a:solidFill>
          <a:ln w="6350">
            <a:solidFill>
              <a:srgbClr val="E5E9F0"/>
            </a:solidFill>
            <a:prstDash val="solid"/>
          </a:ln>
        </p:spPr>
      </p:sp>
      <p:sp>
        <p:nvSpPr>
          <p:cNvPr id="32" name="Text 30"/>
          <p:cNvSpPr/>
          <p:nvPr/>
        </p:nvSpPr>
        <p:spPr>
          <a:xfrm>
            <a:off x="9098280" y="1527048"/>
            <a:ext cx="2331720" cy="402336"/>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1. 青春期自我认同尚未成熟，情绪调节能力有限</a:t>
            </a:r>
            <a:endParaRPr lang="en-US" sz="650" dirty="0"/>
          </a:p>
        </p:txBody>
      </p:sp>
      <p:sp>
        <p:nvSpPr>
          <p:cNvPr id="33" name="Shape 31"/>
          <p:cNvSpPr/>
          <p:nvPr/>
        </p:nvSpPr>
        <p:spPr>
          <a:xfrm>
            <a:off x="9006840" y="2057400"/>
            <a:ext cx="2514600" cy="438912"/>
          </a:xfrm>
          <a:prstGeom prst="roundRect">
            <a:avLst>
              <a:gd name="adj" fmla="val 10417"/>
            </a:avLst>
          </a:prstGeom>
          <a:solidFill>
            <a:srgbClr val="FFFFFF"/>
          </a:solidFill>
          <a:ln w="6350">
            <a:solidFill>
              <a:srgbClr val="E5E9F0"/>
            </a:solidFill>
            <a:prstDash val="solid"/>
          </a:ln>
        </p:spPr>
      </p:sp>
      <p:sp>
        <p:nvSpPr>
          <p:cNvPr id="34" name="Text 32"/>
          <p:cNvSpPr/>
          <p:nvPr/>
        </p:nvSpPr>
        <p:spPr>
          <a:xfrm>
            <a:off x="9098280" y="2075688"/>
            <a:ext cx="2331720" cy="402336"/>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2. 求助羞耻感普遍，43.5%不愿主动寻求帮助</a:t>
            </a:r>
            <a:endParaRPr lang="en-US" sz="650" dirty="0"/>
          </a:p>
        </p:txBody>
      </p:sp>
      <p:sp>
        <p:nvSpPr>
          <p:cNvPr id="35" name="Shape 33"/>
          <p:cNvSpPr/>
          <p:nvPr/>
        </p:nvSpPr>
        <p:spPr>
          <a:xfrm>
            <a:off x="9006840" y="2606040"/>
            <a:ext cx="2514600" cy="438912"/>
          </a:xfrm>
          <a:prstGeom prst="roundRect">
            <a:avLst>
              <a:gd name="adj" fmla="val 10417"/>
            </a:avLst>
          </a:prstGeom>
          <a:solidFill>
            <a:srgbClr val="FFFFFF"/>
          </a:solidFill>
          <a:ln w="6350">
            <a:solidFill>
              <a:srgbClr val="E5E9F0"/>
            </a:solidFill>
            <a:prstDash val="solid"/>
          </a:ln>
        </p:spPr>
      </p:sp>
      <p:sp>
        <p:nvSpPr>
          <p:cNvPr id="36" name="Text 34"/>
          <p:cNvSpPr/>
          <p:nvPr/>
        </p:nvSpPr>
        <p:spPr>
          <a:xfrm>
            <a:off x="9098280" y="2624328"/>
            <a:ext cx="2331720" cy="402336"/>
          </a:xfrm>
          <a:prstGeom prst="rect">
            <a:avLst/>
          </a:prstGeom>
          <a:noFill/>
          <a:ln/>
        </p:spPr>
        <p:txBody>
          <a:bodyPr wrap="square" rtlCol="0" anchor="ctr"/>
          <a:lstStyle/>
          <a:p>
            <a:pPr indent="0" marL="0">
              <a:lnSpc>
                <a:spcPts val="1000"/>
              </a:lnSpc>
              <a:buNone/>
            </a:pPr>
            <a:r>
              <a:rPr lang="en-US" sz="650" dirty="0">
                <a:solidFill>
                  <a:srgbClr val="1E2A38"/>
                </a:solidFill>
                <a:latin typeface="Source Han Sans SC" pitchFamily="34" charset="0"/>
                <a:ea typeface="Source Han Sans SC" pitchFamily="34" charset="-122"/>
                <a:cs typeface="Source Han Sans SC" pitchFamily="34" charset="-120"/>
              </a:rPr>
              <a:t>3. 数字时代社交比较与信息过载加剧心理负担</a:t>
            </a:r>
            <a:endParaRPr lang="en-US" sz="650" dirty="0"/>
          </a:p>
        </p:txBody>
      </p:sp>
      <p:sp>
        <p:nvSpPr>
          <p:cNvPr id="37" name="Shape 35"/>
          <p:cNvSpPr/>
          <p:nvPr/>
        </p:nvSpPr>
        <p:spPr>
          <a:xfrm>
            <a:off x="594360" y="3291840"/>
            <a:ext cx="11000232" cy="1005840"/>
          </a:xfrm>
          <a:prstGeom prst="roundRect">
            <a:avLst>
              <a:gd name="adj" fmla="val 4545"/>
            </a:avLst>
          </a:prstGeom>
          <a:solidFill>
            <a:srgbClr val="FFFFFF"/>
          </a:solidFill>
          <a:ln w="6350">
            <a:solidFill>
              <a:srgbClr val="E5E9F0"/>
            </a:solidFill>
            <a:prstDash val="solid"/>
          </a:ln>
        </p:spPr>
      </p:sp>
      <p:sp>
        <p:nvSpPr>
          <p:cNvPr id="38" name="Shape 36"/>
          <p:cNvSpPr/>
          <p:nvPr/>
        </p:nvSpPr>
        <p:spPr>
          <a:xfrm>
            <a:off x="594360" y="3291840"/>
            <a:ext cx="45720" cy="1005840"/>
          </a:xfrm>
          <a:prstGeom prst="rect">
            <a:avLst/>
          </a:prstGeom>
          <a:solidFill>
            <a:srgbClr val="3A6EA5"/>
          </a:solidFill>
          <a:ln/>
        </p:spPr>
      </p:sp>
      <p:sp>
        <p:nvSpPr>
          <p:cNvPr id="39" name="Text 37"/>
          <p:cNvSpPr/>
          <p:nvPr/>
        </p:nvSpPr>
        <p:spPr>
          <a:xfrm>
            <a:off x="777240" y="3337560"/>
            <a:ext cx="10634472" cy="320040"/>
          </a:xfrm>
          <a:prstGeom prst="rect">
            <a:avLst/>
          </a:prstGeom>
          <a:noFill/>
          <a:ln/>
        </p:spPr>
        <p:txBody>
          <a:bodyPr wrap="square" rtlCol="0" anchor="ctr"/>
          <a:lstStyle/>
          <a:p>
            <a:pPr algn="ctr" indent="0" marL="0">
              <a:buNone/>
            </a:pPr>
            <a:r>
              <a:rPr lang="en-US" sz="900" b="1" dirty="0">
                <a:solidFill>
                  <a:srgbClr val="3A6EA5"/>
                </a:solidFill>
                <a:latin typeface="Source Han Sans SC" pitchFamily="34" charset="0"/>
                <a:ea typeface="Source Han Sans SC" pitchFamily="34" charset="-122"/>
                <a:cs typeface="Source Han Sans SC" pitchFamily="34" charset="-120"/>
              </a:rPr>
              <a:t>制度层、学校层、家庭层、学生层——四个层面相互传导、彼此强化，形成系统性的压力生产机制。</a:t>
            </a:r>
            <a:endParaRPr lang="en-US" sz="900" dirty="0"/>
          </a:p>
        </p:txBody>
      </p:sp>
      <p:sp>
        <p:nvSpPr>
          <p:cNvPr id="40" name="Text 38"/>
          <p:cNvSpPr/>
          <p:nvPr/>
        </p:nvSpPr>
        <p:spPr>
          <a:xfrm>
            <a:off x="777240" y="3657600"/>
            <a:ext cx="10634472" cy="502920"/>
          </a:xfrm>
          <a:prstGeom prst="rect">
            <a:avLst/>
          </a:prstGeom>
          <a:noFill/>
          <a:ln/>
        </p:spPr>
        <p:txBody>
          <a:bodyPr wrap="square" rtlCol="0" anchor="ctr"/>
          <a:lstStyle/>
          <a:p>
            <a:pPr algn="ctr" indent="0" marL="0">
              <a:lnSpc>
                <a:spcPts val="1300"/>
              </a:lnSpc>
              <a:buNone/>
            </a:pPr>
            <a:r>
              <a:rPr lang="en-US" sz="800" dirty="0">
                <a:solidFill>
                  <a:srgbClr val="8899AA"/>
                </a:solidFill>
                <a:latin typeface="Source Han Sans SC" pitchFamily="34" charset="0"/>
                <a:ea typeface="Source Han Sans SC" pitchFamily="34" charset="-122"/>
                <a:cs typeface="Source Han Sans SC" pitchFamily="34" charset="-120"/>
              </a:rPr>
              <a:t>任何单一层面的修补都难以取得显著成效。解决方案必须是系统性的：既要有微观的服务优化，也要有中观的制度调整，更要有宏观的评价体系改革。</a:t>
            </a:r>
            <a:endParaRPr lang="en-US" sz="800" dirty="0"/>
          </a:p>
        </p:txBody>
      </p:sp>
      <p:sp>
        <p:nvSpPr>
          <p:cNvPr id="41" name="Text 39"/>
          <p:cNvSpPr/>
          <p:nvPr/>
        </p:nvSpPr>
        <p:spPr>
          <a:xfrm>
            <a:off x="914400" y="4480560"/>
            <a:ext cx="1828800" cy="274320"/>
          </a:xfrm>
          <a:prstGeom prst="rect">
            <a:avLst/>
          </a:prstGeom>
          <a:noFill/>
          <a:ln/>
        </p:spPr>
        <p:txBody>
          <a:bodyPr wrap="square" rtlCol="0" anchor="ctr"/>
          <a:lstStyle/>
          <a:p>
            <a:pPr algn="ctr" indent="0" marL="0">
              <a:buNone/>
            </a:pPr>
            <a:r>
              <a:rPr lang="en-US" sz="800" dirty="0">
                <a:solidFill>
                  <a:srgbClr val="8899AA"/>
                </a:solidFill>
              </a:rPr>
              <a:t>↑ 宏观</a:t>
            </a:r>
            <a:endParaRPr lang="en-US" sz="800" dirty="0"/>
          </a:p>
        </p:txBody>
      </p:sp>
      <p:sp>
        <p:nvSpPr>
          <p:cNvPr id="42" name="Text 40"/>
          <p:cNvSpPr/>
          <p:nvPr/>
        </p:nvSpPr>
        <p:spPr>
          <a:xfrm>
            <a:off x="4114800" y="4480560"/>
            <a:ext cx="1828800" cy="274320"/>
          </a:xfrm>
          <a:prstGeom prst="rect">
            <a:avLst/>
          </a:prstGeom>
          <a:noFill/>
          <a:ln/>
        </p:spPr>
        <p:txBody>
          <a:bodyPr wrap="square" rtlCol="0" anchor="ctr"/>
          <a:lstStyle/>
          <a:p>
            <a:pPr algn="ctr" indent="0" marL="0">
              <a:buNone/>
            </a:pPr>
            <a:r>
              <a:rPr lang="en-US" sz="800" dirty="0">
                <a:solidFill>
                  <a:srgbClr val="8899AA"/>
                </a:solidFill>
              </a:rPr>
              <a:t>↑ 中观</a:t>
            </a:r>
            <a:endParaRPr lang="en-US" sz="800" dirty="0"/>
          </a:p>
        </p:txBody>
      </p:sp>
      <p:sp>
        <p:nvSpPr>
          <p:cNvPr id="43" name="Text 41"/>
          <p:cNvSpPr/>
          <p:nvPr/>
        </p:nvSpPr>
        <p:spPr>
          <a:xfrm>
            <a:off x="7772400" y="4480560"/>
            <a:ext cx="1828800" cy="274320"/>
          </a:xfrm>
          <a:prstGeom prst="rect">
            <a:avLst/>
          </a:prstGeom>
          <a:noFill/>
          <a:ln/>
        </p:spPr>
        <p:txBody>
          <a:bodyPr wrap="square" rtlCol="0" anchor="ctr"/>
          <a:lstStyle/>
          <a:p>
            <a:pPr algn="ctr" indent="0" marL="0">
              <a:buNone/>
            </a:pPr>
            <a:r>
              <a:rPr lang="en-US" sz="800" dirty="0">
                <a:solidFill>
                  <a:srgbClr val="8899AA"/>
                </a:solidFill>
              </a:rPr>
              <a:t>↑ 微观</a:t>
            </a:r>
            <a:endParaRPr lang="en-US" sz="800" dirty="0"/>
          </a:p>
        </p:txBody>
      </p:sp>
      <p:sp>
        <p:nvSpPr>
          <p:cNvPr id="44" name="Text 42"/>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13/23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提案建议一：构建校园心理支持资源保障体系</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Proposal 1: Resource Guarantee System</a:t>
            </a:r>
            <a:endParaRPr lang="en-US" sz="1000" dirty="0"/>
          </a:p>
        </p:txBody>
      </p:sp>
      <p:sp>
        <p:nvSpPr>
          <p:cNvPr id="5" name="Shape 3"/>
          <p:cNvSpPr/>
          <p:nvPr/>
        </p:nvSpPr>
        <p:spPr>
          <a:xfrm>
            <a:off x="594360" y="1069848"/>
            <a:ext cx="365760" cy="292608"/>
          </a:xfrm>
          <a:prstGeom prst="roundRect">
            <a:avLst>
              <a:gd name="adj" fmla="val 12500"/>
            </a:avLst>
          </a:prstGeom>
          <a:solidFill>
            <a:srgbClr val="3A6EA5"/>
          </a:solidFill>
          <a:ln/>
        </p:spPr>
      </p:sp>
      <p:sp>
        <p:nvSpPr>
          <p:cNvPr id="6" name="Text 4"/>
          <p:cNvSpPr/>
          <p:nvPr/>
        </p:nvSpPr>
        <p:spPr>
          <a:xfrm>
            <a:off x="594360" y="1069848"/>
            <a:ext cx="365760" cy="292608"/>
          </a:xfrm>
          <a:prstGeom prst="rect">
            <a:avLst/>
          </a:prstGeom>
          <a:noFill/>
          <a:ln/>
        </p:spPr>
        <p:txBody>
          <a:bodyPr wrap="square" rtlCol="0" anchor="ctr"/>
          <a:lstStyle/>
          <a:p>
            <a:pPr algn="ctr" indent="0" marL="0">
              <a:buNone/>
            </a:pPr>
            <a:r>
              <a:rPr lang="en-US" sz="1300" b="1" dirty="0">
                <a:solidFill>
                  <a:srgbClr val="FFFFFF"/>
                </a:solidFill>
                <a:latin typeface="Source Han Sans SC" pitchFamily="34" charset="0"/>
                <a:ea typeface="Source Han Sans SC" pitchFamily="34" charset="-122"/>
                <a:cs typeface="Source Han Sans SC" pitchFamily="34" charset="-120"/>
              </a:rPr>
              <a:t>1</a:t>
            </a:r>
            <a:endParaRPr lang="en-US" sz="1300" dirty="0"/>
          </a:p>
        </p:txBody>
      </p:sp>
      <p:sp>
        <p:nvSpPr>
          <p:cNvPr id="7" name="Text 5"/>
          <p:cNvSpPr/>
          <p:nvPr/>
        </p:nvSpPr>
        <p:spPr>
          <a:xfrm>
            <a:off x="1097280" y="1069848"/>
            <a:ext cx="10332720" cy="292608"/>
          </a:xfrm>
          <a:prstGeom prst="rect">
            <a:avLst/>
          </a:prstGeom>
          <a:noFill/>
          <a:ln/>
        </p:spPr>
        <p:txBody>
          <a:bodyPr wrap="square" rtlCol="0" anchor="ctr"/>
          <a:lstStyle/>
          <a:p>
            <a:pPr indent="0" marL="0">
              <a:buNone/>
            </a:pPr>
            <a:r>
              <a:rPr lang="en-US" sz="1100" b="1" dirty="0">
                <a:solidFill>
                  <a:srgbClr val="1E2A38"/>
                </a:solidFill>
                <a:latin typeface="Source Han Sans SC" pitchFamily="34" charset="0"/>
                <a:ea typeface="Source Han Sans SC" pitchFamily="34" charset="-122"/>
                <a:cs typeface="Source Han Sans SC" pitchFamily="34" charset="-120"/>
              </a:rPr>
              <a:t>按规定配备专职心理健康教师</a:t>
            </a:r>
            <a:endParaRPr lang="en-US" sz="1100" dirty="0"/>
          </a:p>
        </p:txBody>
      </p:sp>
      <p:sp>
        <p:nvSpPr>
          <p:cNvPr id="8" name="Shape 6"/>
          <p:cNvSpPr/>
          <p:nvPr/>
        </p:nvSpPr>
        <p:spPr>
          <a:xfrm>
            <a:off x="594360" y="1417320"/>
            <a:ext cx="11000232" cy="914400"/>
          </a:xfrm>
          <a:prstGeom prst="roundRect">
            <a:avLst>
              <a:gd name="adj" fmla="val 5000"/>
            </a:avLst>
          </a:prstGeom>
          <a:solidFill>
            <a:srgbClr val="FFFFFF"/>
          </a:solidFill>
          <a:ln w="6350">
            <a:solidFill>
              <a:srgbClr val="E5E9F0"/>
            </a:solidFill>
            <a:prstDash val="solid"/>
          </a:ln>
        </p:spPr>
      </p:sp>
      <p:sp>
        <p:nvSpPr>
          <p:cNvPr id="9" name="Text 7"/>
          <p:cNvSpPr/>
          <p:nvPr/>
        </p:nvSpPr>
        <p:spPr>
          <a:xfrm>
            <a:off x="777240" y="1463040"/>
            <a:ext cx="10634472" cy="822960"/>
          </a:xfrm>
          <a:prstGeom prst="rect">
            <a:avLst/>
          </a:prstGeom>
          <a:noFill/>
          <a:ln/>
        </p:spPr>
        <p:txBody>
          <a:bodyPr wrap="square" rtlCol="0" anchor="ctr"/>
          <a:lstStyle/>
          <a:p>
            <a:pPr indent="0" marL="0">
              <a:lnSpc>
                <a:spcPts val="1300"/>
              </a:lnSpc>
              <a:buNone/>
            </a:pPr>
            <a:r>
              <a:rPr lang="en-US" sz="750" dirty="0">
                <a:solidFill>
                  <a:srgbClr val="1E2A38"/>
                </a:solidFill>
                <a:latin typeface="Source Han Sans SC" pitchFamily="34" charset="0"/>
                <a:ea typeface="Source Han Sans SC" pitchFamily="34" charset="-122"/>
                <a:cs typeface="Source Han Sans SC" pitchFamily="34" charset="-120"/>
              </a:rPr>
              <a:t>执行主体：教育行政部门牵头，学校配合。时间：1年内完成。措施：严格执行师生比不低于1:1000标准；设立心理教师专项编制确保专岗专用；年度培训不少于40学时。经费纳入学校公用经费预算。</a:t>
            </a:r>
            <a:endParaRPr lang="en-US" sz="750" dirty="0"/>
          </a:p>
        </p:txBody>
      </p:sp>
      <p:sp>
        <p:nvSpPr>
          <p:cNvPr id="10" name="Shape 8"/>
          <p:cNvSpPr/>
          <p:nvPr/>
        </p:nvSpPr>
        <p:spPr>
          <a:xfrm>
            <a:off x="594360" y="2487168"/>
            <a:ext cx="365760" cy="292608"/>
          </a:xfrm>
          <a:prstGeom prst="roundRect">
            <a:avLst>
              <a:gd name="adj" fmla="val 12500"/>
            </a:avLst>
          </a:prstGeom>
          <a:solidFill>
            <a:srgbClr val="3A6EA5"/>
          </a:solidFill>
          <a:ln/>
        </p:spPr>
      </p:sp>
      <p:sp>
        <p:nvSpPr>
          <p:cNvPr id="11" name="Text 9"/>
          <p:cNvSpPr/>
          <p:nvPr/>
        </p:nvSpPr>
        <p:spPr>
          <a:xfrm>
            <a:off x="594360" y="2487168"/>
            <a:ext cx="365760" cy="292608"/>
          </a:xfrm>
          <a:prstGeom prst="rect">
            <a:avLst/>
          </a:prstGeom>
          <a:noFill/>
          <a:ln/>
        </p:spPr>
        <p:txBody>
          <a:bodyPr wrap="square" rtlCol="0" anchor="ctr"/>
          <a:lstStyle/>
          <a:p>
            <a:pPr algn="ctr" indent="0" marL="0">
              <a:buNone/>
            </a:pPr>
            <a:r>
              <a:rPr lang="en-US" sz="1300" b="1" dirty="0">
                <a:solidFill>
                  <a:srgbClr val="FFFFFF"/>
                </a:solidFill>
                <a:latin typeface="Source Han Sans SC" pitchFamily="34" charset="0"/>
                <a:ea typeface="Source Han Sans SC" pitchFamily="34" charset="-122"/>
                <a:cs typeface="Source Han Sans SC" pitchFamily="34" charset="-120"/>
              </a:rPr>
              <a:t>2</a:t>
            </a:r>
            <a:endParaRPr lang="en-US" sz="1300" dirty="0"/>
          </a:p>
        </p:txBody>
      </p:sp>
      <p:sp>
        <p:nvSpPr>
          <p:cNvPr id="12" name="Text 10"/>
          <p:cNvSpPr/>
          <p:nvPr/>
        </p:nvSpPr>
        <p:spPr>
          <a:xfrm>
            <a:off x="1097280" y="2487168"/>
            <a:ext cx="10332720" cy="292608"/>
          </a:xfrm>
          <a:prstGeom prst="rect">
            <a:avLst/>
          </a:prstGeom>
          <a:noFill/>
          <a:ln/>
        </p:spPr>
        <p:txBody>
          <a:bodyPr wrap="square" rtlCol="0" anchor="ctr"/>
          <a:lstStyle/>
          <a:p>
            <a:pPr indent="0" marL="0">
              <a:buNone/>
            </a:pPr>
            <a:r>
              <a:rPr lang="en-US" sz="1100" b="1" dirty="0">
                <a:solidFill>
                  <a:srgbClr val="1E2A38"/>
                </a:solidFill>
                <a:latin typeface="Source Han Sans SC" pitchFamily="34" charset="0"/>
                <a:ea typeface="Source Han Sans SC" pitchFamily="34" charset="-122"/>
                <a:cs typeface="Source Han Sans SC" pitchFamily="34" charset="-120"/>
              </a:rPr>
              <a:t>优化心理咨询室配置与运行</a:t>
            </a:r>
            <a:endParaRPr lang="en-US" sz="1100" dirty="0"/>
          </a:p>
        </p:txBody>
      </p:sp>
      <p:sp>
        <p:nvSpPr>
          <p:cNvPr id="13" name="Shape 11"/>
          <p:cNvSpPr/>
          <p:nvPr/>
        </p:nvSpPr>
        <p:spPr>
          <a:xfrm>
            <a:off x="594360" y="2834640"/>
            <a:ext cx="11000232" cy="914400"/>
          </a:xfrm>
          <a:prstGeom prst="roundRect">
            <a:avLst>
              <a:gd name="adj" fmla="val 5000"/>
            </a:avLst>
          </a:prstGeom>
          <a:solidFill>
            <a:srgbClr val="FFFFFF"/>
          </a:solidFill>
          <a:ln w="6350">
            <a:solidFill>
              <a:srgbClr val="E5E9F0"/>
            </a:solidFill>
            <a:prstDash val="solid"/>
          </a:ln>
        </p:spPr>
      </p:sp>
      <p:sp>
        <p:nvSpPr>
          <p:cNvPr id="14" name="Text 12"/>
          <p:cNvSpPr/>
          <p:nvPr/>
        </p:nvSpPr>
        <p:spPr>
          <a:xfrm>
            <a:off x="777240" y="2880360"/>
            <a:ext cx="10634472" cy="822960"/>
          </a:xfrm>
          <a:prstGeom prst="rect">
            <a:avLst/>
          </a:prstGeom>
          <a:noFill/>
          <a:ln/>
        </p:spPr>
        <p:txBody>
          <a:bodyPr wrap="square" rtlCol="0" anchor="ctr"/>
          <a:lstStyle/>
          <a:p>
            <a:pPr indent="0" marL="0">
              <a:lnSpc>
                <a:spcPts val="1300"/>
              </a:lnSpc>
              <a:buNone/>
            </a:pPr>
            <a:r>
              <a:rPr lang="en-US" sz="750" dirty="0">
                <a:solidFill>
                  <a:srgbClr val="1E2A38"/>
                </a:solidFill>
                <a:latin typeface="Source Han Sans SC" pitchFamily="34" charset="0"/>
                <a:ea typeface="Source Han Sans SC" pitchFamily="34" charset="-122"/>
                <a:cs typeface="Source Han Sans SC" pitchFamily="34" charset="-120"/>
              </a:rPr>
              <a:t>执行主体：学校建设，教育部门督导。时间：6个月达标。措施：每日开放≥4小时含午间和放学后；建立线上预约+线下咨询双通道；设立紧急援助绿色通道。参照《中小学心理辅导室建设指南》标准。</a:t>
            </a:r>
            <a:endParaRPr lang="en-US" sz="750" dirty="0"/>
          </a:p>
        </p:txBody>
      </p:sp>
      <p:sp>
        <p:nvSpPr>
          <p:cNvPr id="15" name="Shape 13"/>
          <p:cNvSpPr/>
          <p:nvPr/>
        </p:nvSpPr>
        <p:spPr>
          <a:xfrm>
            <a:off x="594360" y="3904488"/>
            <a:ext cx="365760" cy="292608"/>
          </a:xfrm>
          <a:prstGeom prst="roundRect">
            <a:avLst>
              <a:gd name="adj" fmla="val 12500"/>
            </a:avLst>
          </a:prstGeom>
          <a:solidFill>
            <a:srgbClr val="3A6EA5"/>
          </a:solidFill>
          <a:ln/>
        </p:spPr>
      </p:sp>
      <p:sp>
        <p:nvSpPr>
          <p:cNvPr id="16" name="Text 14"/>
          <p:cNvSpPr/>
          <p:nvPr/>
        </p:nvSpPr>
        <p:spPr>
          <a:xfrm>
            <a:off x="594360" y="3904488"/>
            <a:ext cx="365760" cy="292608"/>
          </a:xfrm>
          <a:prstGeom prst="rect">
            <a:avLst/>
          </a:prstGeom>
          <a:noFill/>
          <a:ln/>
        </p:spPr>
        <p:txBody>
          <a:bodyPr wrap="square" rtlCol="0" anchor="ctr"/>
          <a:lstStyle/>
          <a:p>
            <a:pPr algn="ctr" indent="0" marL="0">
              <a:buNone/>
            </a:pPr>
            <a:r>
              <a:rPr lang="en-US" sz="1300" b="1" dirty="0">
                <a:solidFill>
                  <a:srgbClr val="FFFFFF"/>
                </a:solidFill>
                <a:latin typeface="Source Han Sans SC" pitchFamily="34" charset="0"/>
                <a:ea typeface="Source Han Sans SC" pitchFamily="34" charset="-122"/>
                <a:cs typeface="Source Han Sans SC" pitchFamily="34" charset="-120"/>
              </a:rPr>
              <a:t>3</a:t>
            </a:r>
            <a:endParaRPr lang="en-US" sz="1300" dirty="0"/>
          </a:p>
        </p:txBody>
      </p:sp>
      <p:sp>
        <p:nvSpPr>
          <p:cNvPr id="17" name="Text 15"/>
          <p:cNvSpPr/>
          <p:nvPr/>
        </p:nvSpPr>
        <p:spPr>
          <a:xfrm>
            <a:off x="1097280" y="3904488"/>
            <a:ext cx="10332720" cy="292608"/>
          </a:xfrm>
          <a:prstGeom prst="rect">
            <a:avLst/>
          </a:prstGeom>
          <a:noFill/>
          <a:ln/>
        </p:spPr>
        <p:txBody>
          <a:bodyPr wrap="square" rtlCol="0" anchor="ctr"/>
          <a:lstStyle/>
          <a:p>
            <a:pPr indent="0" marL="0">
              <a:buNone/>
            </a:pPr>
            <a:r>
              <a:rPr lang="en-US" sz="1100" b="1" dirty="0">
                <a:solidFill>
                  <a:srgbClr val="1E2A38"/>
                </a:solidFill>
                <a:latin typeface="Source Han Sans SC" pitchFamily="34" charset="0"/>
                <a:ea typeface="Source Han Sans SC" pitchFamily="34" charset="-122"/>
                <a:cs typeface="Source Han Sans SC" pitchFamily="34" charset="-120"/>
              </a:rPr>
              <a:t>建立筛查-干预-跟踪全链条机制</a:t>
            </a:r>
            <a:endParaRPr lang="en-US" sz="1100" dirty="0"/>
          </a:p>
        </p:txBody>
      </p:sp>
      <p:sp>
        <p:nvSpPr>
          <p:cNvPr id="18" name="Shape 16"/>
          <p:cNvSpPr/>
          <p:nvPr/>
        </p:nvSpPr>
        <p:spPr>
          <a:xfrm>
            <a:off x="594360" y="4251960"/>
            <a:ext cx="11000232" cy="914400"/>
          </a:xfrm>
          <a:prstGeom prst="roundRect">
            <a:avLst>
              <a:gd name="adj" fmla="val 5000"/>
            </a:avLst>
          </a:prstGeom>
          <a:solidFill>
            <a:srgbClr val="FFFFFF"/>
          </a:solidFill>
          <a:ln w="6350">
            <a:solidFill>
              <a:srgbClr val="E5E9F0"/>
            </a:solidFill>
            <a:prstDash val="solid"/>
          </a:ln>
        </p:spPr>
      </p:sp>
      <p:sp>
        <p:nvSpPr>
          <p:cNvPr id="19" name="Text 17"/>
          <p:cNvSpPr/>
          <p:nvPr/>
        </p:nvSpPr>
        <p:spPr>
          <a:xfrm>
            <a:off x="777240" y="4297680"/>
            <a:ext cx="10634472" cy="822960"/>
          </a:xfrm>
          <a:prstGeom prst="rect">
            <a:avLst/>
          </a:prstGeom>
          <a:noFill/>
          <a:ln/>
        </p:spPr>
        <p:txBody>
          <a:bodyPr wrap="square" rtlCol="0" anchor="ctr"/>
          <a:lstStyle/>
          <a:p>
            <a:pPr indent="0" marL="0">
              <a:lnSpc>
                <a:spcPts val="1300"/>
              </a:lnSpc>
              <a:buNone/>
            </a:pPr>
            <a:r>
              <a:rPr lang="en-US" sz="750" dirty="0">
                <a:solidFill>
                  <a:srgbClr val="1E2A38"/>
                </a:solidFill>
                <a:latin typeface="Source Han Sans SC" pitchFamily="34" charset="0"/>
                <a:ea typeface="Source Han Sans SC" pitchFamily="34" charset="-122"/>
                <a:cs typeface="Source Han Sans SC" pitchFamily="34" charset="-120"/>
              </a:rPr>
              <a:t>执行主体：学校心理健康中心牵头，班主任协同。时间：每学期初完成筛查。措施：每学期1次标准化心理测评；筛查阳性学生建立个人成长档案，实行一人一策；建立班级-年级-学校-校外四级转介网络。</a:t>
            </a:r>
            <a:endParaRPr lang="en-US" sz="750" dirty="0"/>
          </a:p>
        </p:txBody>
      </p:sp>
      <p:sp>
        <p:nvSpPr>
          <p:cNvPr id="20" name="Text 18"/>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14/23</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提案建议二：推进心理健康教育制度化</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Proposal 2: Curriculum &amp; Peer Support</a:t>
            </a:r>
            <a:endParaRPr lang="en-US" sz="1000" dirty="0"/>
          </a:p>
        </p:txBody>
      </p:sp>
      <p:sp>
        <p:nvSpPr>
          <p:cNvPr id="5" name="Shape 3"/>
          <p:cNvSpPr/>
          <p:nvPr/>
        </p:nvSpPr>
        <p:spPr>
          <a:xfrm>
            <a:off x="594360" y="1051560"/>
            <a:ext cx="5394960" cy="3657600"/>
          </a:xfrm>
          <a:prstGeom prst="roundRect">
            <a:avLst>
              <a:gd name="adj" fmla="val 1250"/>
            </a:avLst>
          </a:prstGeom>
          <a:solidFill>
            <a:srgbClr val="FFFFFF"/>
          </a:solidFill>
          <a:ln w="6350">
            <a:solidFill>
              <a:srgbClr val="E5E9F0"/>
            </a:solidFill>
            <a:prstDash val="solid"/>
          </a:ln>
        </p:spPr>
      </p:sp>
      <p:sp>
        <p:nvSpPr>
          <p:cNvPr id="6" name="Shape 4"/>
          <p:cNvSpPr/>
          <p:nvPr/>
        </p:nvSpPr>
        <p:spPr>
          <a:xfrm>
            <a:off x="594360" y="1051560"/>
            <a:ext cx="5394960" cy="320040"/>
          </a:xfrm>
          <a:prstGeom prst="rect">
            <a:avLst/>
          </a:prstGeom>
          <a:solidFill>
            <a:srgbClr val="3A6EA5"/>
          </a:solidFill>
          <a:ln/>
        </p:spPr>
      </p:sp>
      <p:sp>
        <p:nvSpPr>
          <p:cNvPr id="7" name="Text 5"/>
          <p:cNvSpPr/>
          <p:nvPr/>
        </p:nvSpPr>
        <p:spPr>
          <a:xfrm>
            <a:off x="594360" y="1051560"/>
            <a:ext cx="5394960" cy="320040"/>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心理健康课程体系建设</a:t>
            </a:r>
            <a:endParaRPr lang="en-US" sz="1000" dirty="0"/>
          </a:p>
        </p:txBody>
      </p:sp>
      <p:sp>
        <p:nvSpPr>
          <p:cNvPr id="8" name="Shape 6"/>
          <p:cNvSpPr/>
          <p:nvPr/>
        </p:nvSpPr>
        <p:spPr>
          <a:xfrm>
            <a:off x="777240" y="1581912"/>
            <a:ext cx="73152" cy="73152"/>
          </a:xfrm>
          <a:prstGeom prst="ellipse">
            <a:avLst/>
          </a:prstGeom>
          <a:solidFill>
            <a:srgbClr val="3A6EA5"/>
          </a:solidFill>
          <a:ln/>
        </p:spPr>
      </p:sp>
      <p:sp>
        <p:nvSpPr>
          <p:cNvPr id="9" name="Text 7"/>
          <p:cNvSpPr/>
          <p:nvPr/>
        </p:nvSpPr>
        <p:spPr>
          <a:xfrm>
            <a:off x="960120" y="1508760"/>
            <a:ext cx="4846320" cy="502920"/>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纳入校本必修课程，每两周不少于1课时</a:t>
            </a:r>
            <a:endParaRPr lang="en-US" sz="750" dirty="0"/>
          </a:p>
        </p:txBody>
      </p:sp>
      <p:sp>
        <p:nvSpPr>
          <p:cNvPr id="10" name="Shape 8"/>
          <p:cNvSpPr/>
          <p:nvPr/>
        </p:nvSpPr>
        <p:spPr>
          <a:xfrm>
            <a:off x="777240" y="2221992"/>
            <a:ext cx="73152" cy="73152"/>
          </a:xfrm>
          <a:prstGeom prst="ellipse">
            <a:avLst/>
          </a:prstGeom>
          <a:solidFill>
            <a:srgbClr val="3A6EA5"/>
          </a:solidFill>
          <a:ln/>
        </p:spPr>
      </p:sp>
      <p:sp>
        <p:nvSpPr>
          <p:cNvPr id="11" name="Text 9"/>
          <p:cNvSpPr/>
          <p:nvPr/>
        </p:nvSpPr>
        <p:spPr>
          <a:xfrm>
            <a:off x="960120" y="2148840"/>
            <a:ext cx="4846320" cy="502920"/>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模块设计：情绪管理、压力应对、人际交往、自我认知</a:t>
            </a:r>
            <a:endParaRPr lang="en-US" sz="750" dirty="0"/>
          </a:p>
        </p:txBody>
      </p:sp>
      <p:sp>
        <p:nvSpPr>
          <p:cNvPr id="12" name="Shape 10"/>
          <p:cNvSpPr/>
          <p:nvPr/>
        </p:nvSpPr>
        <p:spPr>
          <a:xfrm>
            <a:off x="777240" y="2862072"/>
            <a:ext cx="73152" cy="73152"/>
          </a:xfrm>
          <a:prstGeom prst="ellipse">
            <a:avLst/>
          </a:prstGeom>
          <a:solidFill>
            <a:srgbClr val="3A6EA5"/>
          </a:solidFill>
          <a:ln/>
        </p:spPr>
      </p:sp>
      <p:sp>
        <p:nvSpPr>
          <p:cNvPr id="13" name="Text 11"/>
          <p:cNvSpPr/>
          <p:nvPr/>
        </p:nvSpPr>
        <p:spPr>
          <a:xfrm>
            <a:off x="960120" y="2788920"/>
            <a:ext cx="4846320" cy="502920"/>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教学方法：情景剧、案例分析、小组讨论，减少纯讲授</a:t>
            </a:r>
            <a:endParaRPr lang="en-US" sz="750" dirty="0"/>
          </a:p>
        </p:txBody>
      </p:sp>
      <p:sp>
        <p:nvSpPr>
          <p:cNvPr id="14" name="Shape 12"/>
          <p:cNvSpPr/>
          <p:nvPr/>
        </p:nvSpPr>
        <p:spPr>
          <a:xfrm>
            <a:off x="777240" y="3502152"/>
            <a:ext cx="73152" cy="73152"/>
          </a:xfrm>
          <a:prstGeom prst="ellipse">
            <a:avLst/>
          </a:prstGeom>
          <a:solidFill>
            <a:srgbClr val="3A6EA5"/>
          </a:solidFill>
          <a:ln/>
        </p:spPr>
      </p:sp>
      <p:sp>
        <p:nvSpPr>
          <p:cNvPr id="15" name="Text 13"/>
          <p:cNvSpPr/>
          <p:nvPr/>
        </p:nvSpPr>
        <p:spPr>
          <a:xfrm>
            <a:off x="960120" y="3429000"/>
            <a:ext cx="4846320" cy="502920"/>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建立课程质量评估机制：学生反馈+教学督导</a:t>
            </a:r>
            <a:endParaRPr lang="en-US" sz="750" dirty="0"/>
          </a:p>
        </p:txBody>
      </p:sp>
      <p:sp>
        <p:nvSpPr>
          <p:cNvPr id="16" name="Shape 14"/>
          <p:cNvSpPr/>
          <p:nvPr/>
        </p:nvSpPr>
        <p:spPr>
          <a:xfrm>
            <a:off x="6217920" y="1051560"/>
            <a:ext cx="5394960" cy="3657600"/>
          </a:xfrm>
          <a:prstGeom prst="roundRect">
            <a:avLst>
              <a:gd name="adj" fmla="val 1250"/>
            </a:avLst>
          </a:prstGeom>
          <a:solidFill>
            <a:srgbClr val="FFFFFF"/>
          </a:solidFill>
          <a:ln w="6350">
            <a:solidFill>
              <a:srgbClr val="E5E9F0"/>
            </a:solidFill>
            <a:prstDash val="solid"/>
          </a:ln>
        </p:spPr>
      </p:sp>
      <p:sp>
        <p:nvSpPr>
          <p:cNvPr id="17" name="Shape 15"/>
          <p:cNvSpPr/>
          <p:nvPr/>
        </p:nvSpPr>
        <p:spPr>
          <a:xfrm>
            <a:off x="6217920" y="1051560"/>
            <a:ext cx="5394960" cy="320040"/>
          </a:xfrm>
          <a:prstGeom prst="rect">
            <a:avLst/>
          </a:prstGeom>
          <a:solidFill>
            <a:srgbClr val="3A6EA5"/>
          </a:solidFill>
          <a:ln/>
        </p:spPr>
      </p:sp>
      <p:sp>
        <p:nvSpPr>
          <p:cNvPr id="18" name="Text 16"/>
          <p:cNvSpPr/>
          <p:nvPr/>
        </p:nvSpPr>
        <p:spPr>
          <a:xfrm>
            <a:off x="6217920" y="1051560"/>
            <a:ext cx="5394960" cy="320040"/>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班级心理委员与朋辈支持</a:t>
            </a:r>
            <a:endParaRPr lang="en-US" sz="1000" dirty="0"/>
          </a:p>
        </p:txBody>
      </p:sp>
      <p:sp>
        <p:nvSpPr>
          <p:cNvPr id="19" name="Shape 17"/>
          <p:cNvSpPr/>
          <p:nvPr/>
        </p:nvSpPr>
        <p:spPr>
          <a:xfrm>
            <a:off x="6400800" y="1581912"/>
            <a:ext cx="73152" cy="73152"/>
          </a:xfrm>
          <a:prstGeom prst="ellipse">
            <a:avLst/>
          </a:prstGeom>
          <a:solidFill>
            <a:srgbClr val="3A6EA5"/>
          </a:solidFill>
          <a:ln/>
        </p:spPr>
      </p:sp>
      <p:sp>
        <p:nvSpPr>
          <p:cNvPr id="20" name="Text 18"/>
          <p:cNvSpPr/>
          <p:nvPr/>
        </p:nvSpPr>
        <p:spPr>
          <a:xfrm>
            <a:off x="6583680" y="1508760"/>
            <a:ext cx="4846320" cy="502920"/>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每班2名心理委员（男女各1），经培训上岗</a:t>
            </a:r>
            <a:endParaRPr lang="en-US" sz="750" dirty="0"/>
          </a:p>
        </p:txBody>
      </p:sp>
      <p:sp>
        <p:nvSpPr>
          <p:cNvPr id="21" name="Shape 19"/>
          <p:cNvSpPr/>
          <p:nvPr/>
        </p:nvSpPr>
        <p:spPr>
          <a:xfrm>
            <a:off x="6400800" y="2221992"/>
            <a:ext cx="73152" cy="73152"/>
          </a:xfrm>
          <a:prstGeom prst="ellipse">
            <a:avLst/>
          </a:prstGeom>
          <a:solidFill>
            <a:srgbClr val="3A6EA5"/>
          </a:solidFill>
          <a:ln/>
        </p:spPr>
      </p:sp>
      <p:sp>
        <p:nvSpPr>
          <p:cNvPr id="22" name="Text 20"/>
          <p:cNvSpPr/>
          <p:nvPr/>
        </p:nvSpPr>
        <p:spPr>
          <a:xfrm>
            <a:off x="6583680" y="2148840"/>
            <a:ext cx="4846320" cy="502920"/>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培训体系：基础20学时+每月1次案例研讨</a:t>
            </a:r>
            <a:endParaRPr lang="en-US" sz="750" dirty="0"/>
          </a:p>
        </p:txBody>
      </p:sp>
      <p:sp>
        <p:nvSpPr>
          <p:cNvPr id="23" name="Shape 21"/>
          <p:cNvSpPr/>
          <p:nvPr/>
        </p:nvSpPr>
        <p:spPr>
          <a:xfrm>
            <a:off x="6400800" y="2862072"/>
            <a:ext cx="73152" cy="73152"/>
          </a:xfrm>
          <a:prstGeom prst="ellipse">
            <a:avLst/>
          </a:prstGeom>
          <a:solidFill>
            <a:srgbClr val="3A6EA5"/>
          </a:solidFill>
          <a:ln/>
        </p:spPr>
      </p:sp>
      <p:sp>
        <p:nvSpPr>
          <p:cNvPr id="24" name="Text 22"/>
          <p:cNvSpPr/>
          <p:nvPr/>
        </p:nvSpPr>
        <p:spPr>
          <a:xfrm>
            <a:off x="6583680" y="2788920"/>
            <a:ext cx="4846320" cy="502920"/>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建立班级-年级-学校三级预警信息网络</a:t>
            </a:r>
            <a:endParaRPr lang="en-US" sz="750" dirty="0"/>
          </a:p>
        </p:txBody>
      </p:sp>
      <p:sp>
        <p:nvSpPr>
          <p:cNvPr id="25" name="Shape 23"/>
          <p:cNvSpPr/>
          <p:nvPr/>
        </p:nvSpPr>
        <p:spPr>
          <a:xfrm>
            <a:off x="6400800" y="3502152"/>
            <a:ext cx="73152" cy="73152"/>
          </a:xfrm>
          <a:prstGeom prst="ellipse">
            <a:avLst/>
          </a:prstGeom>
          <a:solidFill>
            <a:srgbClr val="3A6EA5"/>
          </a:solidFill>
          <a:ln/>
        </p:spPr>
      </p:sp>
      <p:sp>
        <p:nvSpPr>
          <p:cNvPr id="26" name="Text 24"/>
          <p:cNvSpPr/>
          <p:nvPr/>
        </p:nvSpPr>
        <p:spPr>
          <a:xfrm>
            <a:off x="6583680" y="3429000"/>
            <a:ext cx="4846320" cy="502920"/>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设立心灵信箱、树洞邮箱等匿名倾诉渠道</a:t>
            </a:r>
            <a:endParaRPr lang="en-US" sz="750" dirty="0"/>
          </a:p>
        </p:txBody>
      </p:sp>
      <p:sp>
        <p:nvSpPr>
          <p:cNvPr id="27" name="Shape 25"/>
          <p:cNvSpPr/>
          <p:nvPr/>
        </p:nvSpPr>
        <p:spPr>
          <a:xfrm>
            <a:off x="594360" y="4937760"/>
            <a:ext cx="11000232" cy="457200"/>
          </a:xfrm>
          <a:prstGeom prst="roundRect">
            <a:avLst>
              <a:gd name="adj" fmla="val 8000"/>
            </a:avLst>
          </a:prstGeom>
          <a:solidFill>
            <a:srgbClr val="1E2A38"/>
          </a:solidFill>
          <a:ln/>
        </p:spPr>
      </p:sp>
      <p:sp>
        <p:nvSpPr>
          <p:cNvPr id="28" name="Text 26"/>
          <p:cNvSpPr/>
          <p:nvPr/>
        </p:nvSpPr>
        <p:spPr>
          <a:xfrm>
            <a:off x="777240" y="4937760"/>
            <a:ext cx="10634472" cy="457200"/>
          </a:xfrm>
          <a:prstGeom prst="rect">
            <a:avLst/>
          </a:prstGeom>
          <a:noFill/>
          <a:ln/>
        </p:spPr>
        <p:txBody>
          <a:bodyPr wrap="square" rtlCol="0" anchor="ctr"/>
          <a:lstStyle/>
          <a:p>
            <a:pPr algn="ctr" indent="0" marL="0">
              <a:buNone/>
            </a:pPr>
            <a:r>
              <a:rPr lang="en-US" sz="850" dirty="0">
                <a:solidFill>
                  <a:srgbClr val="FFFFFF"/>
                </a:solidFill>
                <a:latin typeface="Source Han Sans SC" pitchFamily="34" charset="0"/>
                <a:ea typeface="Source Han Sans SC" pitchFamily="34" charset="-122"/>
                <a:cs typeface="Source Han Sans SC" pitchFamily="34" charset="-120"/>
              </a:rPr>
              <a:t>逐级推进策略：第一学期试点（2个年级）→ 全面铺开 → 学年末评估优化</a:t>
            </a:r>
            <a:endParaRPr lang="en-US" sz="850" dirty="0"/>
          </a:p>
        </p:txBody>
      </p:sp>
      <p:sp>
        <p:nvSpPr>
          <p:cNvPr id="29" name="Text 27"/>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15/23</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提案建议三：构建家校社协同的心理健康网络</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Proposal 3: Home-School-Community Network</a:t>
            </a:r>
            <a:endParaRPr lang="en-US" sz="1000" dirty="0"/>
          </a:p>
        </p:txBody>
      </p:sp>
      <p:sp>
        <p:nvSpPr>
          <p:cNvPr id="5" name="Shape 3"/>
          <p:cNvSpPr/>
          <p:nvPr/>
        </p:nvSpPr>
        <p:spPr>
          <a:xfrm>
            <a:off x="594360" y="1051560"/>
            <a:ext cx="3520440" cy="3840480"/>
          </a:xfrm>
          <a:prstGeom prst="roundRect">
            <a:avLst>
              <a:gd name="adj" fmla="val 1299"/>
            </a:avLst>
          </a:prstGeom>
          <a:solidFill>
            <a:srgbClr val="FFFFFF"/>
          </a:solidFill>
          <a:ln w="6350">
            <a:solidFill>
              <a:srgbClr val="E5E9F0"/>
            </a:solidFill>
            <a:prstDash val="solid"/>
          </a:ln>
        </p:spPr>
      </p:sp>
      <p:sp>
        <p:nvSpPr>
          <p:cNvPr id="6" name="Shape 4"/>
          <p:cNvSpPr/>
          <p:nvPr/>
        </p:nvSpPr>
        <p:spPr>
          <a:xfrm>
            <a:off x="594360" y="1051560"/>
            <a:ext cx="3520440" cy="347472"/>
          </a:xfrm>
          <a:prstGeom prst="rect">
            <a:avLst/>
          </a:prstGeom>
          <a:solidFill>
            <a:srgbClr val="3A6EA5"/>
          </a:solidFill>
          <a:ln/>
        </p:spPr>
      </p:sp>
      <p:sp>
        <p:nvSpPr>
          <p:cNvPr id="7" name="Text 5"/>
          <p:cNvSpPr/>
          <p:nvPr/>
        </p:nvSpPr>
        <p:spPr>
          <a:xfrm>
            <a:off x="594360" y="1051560"/>
            <a:ext cx="3520440" cy="347472"/>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学校主导</a:t>
            </a:r>
            <a:endParaRPr lang="en-US" sz="1000" dirty="0"/>
          </a:p>
        </p:txBody>
      </p:sp>
      <p:sp>
        <p:nvSpPr>
          <p:cNvPr id="8" name="Shape 6"/>
          <p:cNvSpPr/>
          <p:nvPr/>
        </p:nvSpPr>
        <p:spPr>
          <a:xfrm>
            <a:off x="731520" y="1554480"/>
            <a:ext cx="3246120" cy="530352"/>
          </a:xfrm>
          <a:prstGeom prst="roundRect">
            <a:avLst>
              <a:gd name="adj" fmla="val 6897"/>
            </a:avLst>
          </a:prstGeom>
          <a:solidFill>
            <a:srgbClr val="FFFFFF"/>
          </a:solidFill>
          <a:ln w="3810">
            <a:solidFill>
              <a:srgbClr val="3A6EA5"/>
            </a:solidFill>
            <a:prstDash val="solid"/>
          </a:ln>
        </p:spPr>
      </p:sp>
      <p:sp>
        <p:nvSpPr>
          <p:cNvPr id="9" name="Text 7"/>
          <p:cNvSpPr/>
          <p:nvPr/>
        </p:nvSpPr>
        <p:spPr>
          <a:xfrm>
            <a:off x="822960" y="1581912"/>
            <a:ext cx="3063240" cy="475488"/>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1. 每学期不少于2次家长心理健康讲座</a:t>
            </a:r>
            <a:endParaRPr lang="en-US" sz="750" dirty="0"/>
          </a:p>
        </p:txBody>
      </p:sp>
      <p:sp>
        <p:nvSpPr>
          <p:cNvPr id="10" name="Shape 8"/>
          <p:cNvSpPr/>
          <p:nvPr/>
        </p:nvSpPr>
        <p:spPr>
          <a:xfrm>
            <a:off x="731520" y="2240280"/>
            <a:ext cx="3246120" cy="530352"/>
          </a:xfrm>
          <a:prstGeom prst="roundRect">
            <a:avLst>
              <a:gd name="adj" fmla="val 6897"/>
            </a:avLst>
          </a:prstGeom>
          <a:solidFill>
            <a:srgbClr val="FFFFFF"/>
          </a:solidFill>
          <a:ln w="3810">
            <a:solidFill>
              <a:srgbClr val="3A6EA5"/>
            </a:solidFill>
            <a:prstDash val="solid"/>
          </a:ln>
        </p:spPr>
      </p:sp>
      <p:sp>
        <p:nvSpPr>
          <p:cNvPr id="11" name="Text 9"/>
          <p:cNvSpPr/>
          <p:nvPr/>
        </p:nvSpPr>
        <p:spPr>
          <a:xfrm>
            <a:off x="822960" y="2267712"/>
            <a:ext cx="3063240" cy="475488"/>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2. 建立家校心理联络员制度，每班1名教师</a:t>
            </a:r>
            <a:endParaRPr lang="en-US" sz="750" dirty="0"/>
          </a:p>
        </p:txBody>
      </p:sp>
      <p:sp>
        <p:nvSpPr>
          <p:cNvPr id="12" name="Shape 10"/>
          <p:cNvSpPr/>
          <p:nvPr/>
        </p:nvSpPr>
        <p:spPr>
          <a:xfrm>
            <a:off x="731520" y="2926080"/>
            <a:ext cx="3246120" cy="530352"/>
          </a:xfrm>
          <a:prstGeom prst="roundRect">
            <a:avLst>
              <a:gd name="adj" fmla="val 6897"/>
            </a:avLst>
          </a:prstGeom>
          <a:solidFill>
            <a:srgbClr val="FFFFFF"/>
          </a:solidFill>
          <a:ln w="3810">
            <a:solidFill>
              <a:srgbClr val="3A6EA5"/>
            </a:solidFill>
            <a:prstDash val="solid"/>
          </a:ln>
        </p:spPr>
      </p:sp>
      <p:sp>
        <p:nvSpPr>
          <p:cNvPr id="13" name="Text 11"/>
          <p:cNvSpPr/>
          <p:nvPr/>
        </p:nvSpPr>
        <p:spPr>
          <a:xfrm>
            <a:off x="822960" y="2953512"/>
            <a:ext cx="3063240" cy="475488"/>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3. 开通家长心理咨询专线（每周固定时段）</a:t>
            </a:r>
            <a:endParaRPr lang="en-US" sz="750" dirty="0"/>
          </a:p>
        </p:txBody>
      </p:sp>
      <p:sp>
        <p:nvSpPr>
          <p:cNvPr id="14" name="Shape 12"/>
          <p:cNvSpPr/>
          <p:nvPr/>
        </p:nvSpPr>
        <p:spPr>
          <a:xfrm>
            <a:off x="731520" y="3611880"/>
            <a:ext cx="3246120" cy="530352"/>
          </a:xfrm>
          <a:prstGeom prst="roundRect">
            <a:avLst>
              <a:gd name="adj" fmla="val 6897"/>
            </a:avLst>
          </a:prstGeom>
          <a:solidFill>
            <a:srgbClr val="FFFFFF"/>
          </a:solidFill>
          <a:ln w="3810">
            <a:solidFill>
              <a:srgbClr val="3A6EA5"/>
            </a:solidFill>
            <a:prstDash val="solid"/>
          </a:ln>
        </p:spPr>
      </p:sp>
      <p:sp>
        <p:nvSpPr>
          <p:cNvPr id="15" name="Text 13"/>
          <p:cNvSpPr/>
          <p:nvPr/>
        </p:nvSpPr>
        <p:spPr>
          <a:xfrm>
            <a:off x="822960" y="3639312"/>
            <a:ext cx="3063240" cy="475488"/>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4. 编发《家庭心理健康教育指导手册》</a:t>
            </a:r>
            <a:endParaRPr lang="en-US" sz="750" dirty="0"/>
          </a:p>
        </p:txBody>
      </p:sp>
      <p:sp>
        <p:nvSpPr>
          <p:cNvPr id="16" name="Shape 14"/>
          <p:cNvSpPr/>
          <p:nvPr/>
        </p:nvSpPr>
        <p:spPr>
          <a:xfrm>
            <a:off x="4343400" y="1051560"/>
            <a:ext cx="3520440" cy="3840480"/>
          </a:xfrm>
          <a:prstGeom prst="roundRect">
            <a:avLst>
              <a:gd name="adj" fmla="val 1299"/>
            </a:avLst>
          </a:prstGeom>
          <a:solidFill>
            <a:srgbClr val="FFFFFF"/>
          </a:solidFill>
          <a:ln w="6350">
            <a:solidFill>
              <a:srgbClr val="E5E9F0"/>
            </a:solidFill>
            <a:prstDash val="solid"/>
          </a:ln>
        </p:spPr>
      </p:sp>
      <p:sp>
        <p:nvSpPr>
          <p:cNvPr id="17" name="Shape 15"/>
          <p:cNvSpPr/>
          <p:nvPr/>
        </p:nvSpPr>
        <p:spPr>
          <a:xfrm>
            <a:off x="4343400" y="1051560"/>
            <a:ext cx="3520440" cy="347472"/>
          </a:xfrm>
          <a:prstGeom prst="rect">
            <a:avLst/>
          </a:prstGeom>
          <a:solidFill>
            <a:srgbClr val="5C9BD4"/>
          </a:solidFill>
          <a:ln/>
        </p:spPr>
      </p:sp>
      <p:sp>
        <p:nvSpPr>
          <p:cNvPr id="18" name="Text 16"/>
          <p:cNvSpPr/>
          <p:nvPr/>
        </p:nvSpPr>
        <p:spPr>
          <a:xfrm>
            <a:off x="4343400" y="1051560"/>
            <a:ext cx="3520440" cy="347472"/>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家庭参与</a:t>
            </a:r>
            <a:endParaRPr lang="en-US" sz="1000" dirty="0"/>
          </a:p>
        </p:txBody>
      </p:sp>
      <p:sp>
        <p:nvSpPr>
          <p:cNvPr id="19" name="Shape 17"/>
          <p:cNvSpPr/>
          <p:nvPr/>
        </p:nvSpPr>
        <p:spPr>
          <a:xfrm>
            <a:off x="4480560" y="1554480"/>
            <a:ext cx="3246120" cy="530352"/>
          </a:xfrm>
          <a:prstGeom prst="roundRect">
            <a:avLst>
              <a:gd name="adj" fmla="val 6897"/>
            </a:avLst>
          </a:prstGeom>
          <a:solidFill>
            <a:srgbClr val="FFFFFF"/>
          </a:solidFill>
          <a:ln w="3810">
            <a:solidFill>
              <a:srgbClr val="5C9BD4"/>
            </a:solidFill>
            <a:prstDash val="solid"/>
          </a:ln>
        </p:spPr>
      </p:sp>
      <p:sp>
        <p:nvSpPr>
          <p:cNvPr id="20" name="Text 18"/>
          <p:cNvSpPr/>
          <p:nvPr/>
        </p:nvSpPr>
        <p:spPr>
          <a:xfrm>
            <a:off x="4572000" y="1581912"/>
            <a:ext cx="3063240" cy="475488"/>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1. 家长完成心理培训（每学年不少于4学时）</a:t>
            </a:r>
            <a:endParaRPr lang="en-US" sz="750" dirty="0"/>
          </a:p>
        </p:txBody>
      </p:sp>
      <p:sp>
        <p:nvSpPr>
          <p:cNvPr id="21" name="Shape 19"/>
          <p:cNvSpPr/>
          <p:nvPr/>
        </p:nvSpPr>
        <p:spPr>
          <a:xfrm>
            <a:off x="4480560" y="2240280"/>
            <a:ext cx="3246120" cy="530352"/>
          </a:xfrm>
          <a:prstGeom prst="roundRect">
            <a:avLst>
              <a:gd name="adj" fmla="val 6897"/>
            </a:avLst>
          </a:prstGeom>
          <a:solidFill>
            <a:srgbClr val="FFFFFF"/>
          </a:solidFill>
          <a:ln w="3810">
            <a:solidFill>
              <a:srgbClr val="5C9BD4"/>
            </a:solidFill>
            <a:prstDash val="solid"/>
          </a:ln>
        </p:spPr>
      </p:sp>
      <p:sp>
        <p:nvSpPr>
          <p:cNvPr id="22" name="Text 20"/>
          <p:cNvSpPr/>
          <p:nvPr/>
        </p:nvSpPr>
        <p:spPr>
          <a:xfrm>
            <a:off x="4572000" y="2267712"/>
            <a:ext cx="3063240" cy="475488"/>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2. 建立家庭情绪沟通机制（如每周分享会）</a:t>
            </a:r>
            <a:endParaRPr lang="en-US" sz="750" dirty="0"/>
          </a:p>
        </p:txBody>
      </p:sp>
      <p:sp>
        <p:nvSpPr>
          <p:cNvPr id="23" name="Shape 21"/>
          <p:cNvSpPr/>
          <p:nvPr/>
        </p:nvSpPr>
        <p:spPr>
          <a:xfrm>
            <a:off x="4480560" y="2926080"/>
            <a:ext cx="3246120" cy="530352"/>
          </a:xfrm>
          <a:prstGeom prst="roundRect">
            <a:avLst>
              <a:gd name="adj" fmla="val 6897"/>
            </a:avLst>
          </a:prstGeom>
          <a:solidFill>
            <a:srgbClr val="FFFFFF"/>
          </a:solidFill>
          <a:ln w="3810">
            <a:solidFill>
              <a:srgbClr val="5C9BD4"/>
            </a:solidFill>
            <a:prstDash val="solid"/>
          </a:ln>
        </p:spPr>
      </p:sp>
      <p:sp>
        <p:nvSpPr>
          <p:cNvPr id="24" name="Text 22"/>
          <p:cNvSpPr/>
          <p:nvPr/>
        </p:nvSpPr>
        <p:spPr>
          <a:xfrm>
            <a:off x="4572000" y="2953512"/>
            <a:ext cx="3063240" cy="475488"/>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3. 主动与学校保持沟通，关注子女情绪</a:t>
            </a:r>
            <a:endParaRPr lang="en-US" sz="750" dirty="0"/>
          </a:p>
        </p:txBody>
      </p:sp>
      <p:sp>
        <p:nvSpPr>
          <p:cNvPr id="25" name="Shape 23"/>
          <p:cNvSpPr/>
          <p:nvPr/>
        </p:nvSpPr>
        <p:spPr>
          <a:xfrm>
            <a:off x="4480560" y="3611880"/>
            <a:ext cx="3246120" cy="530352"/>
          </a:xfrm>
          <a:prstGeom prst="roundRect">
            <a:avLst>
              <a:gd name="adj" fmla="val 6897"/>
            </a:avLst>
          </a:prstGeom>
          <a:solidFill>
            <a:srgbClr val="FFFFFF"/>
          </a:solidFill>
          <a:ln w="3810">
            <a:solidFill>
              <a:srgbClr val="5C9BD4"/>
            </a:solidFill>
            <a:prstDash val="solid"/>
          </a:ln>
        </p:spPr>
      </p:sp>
      <p:sp>
        <p:nvSpPr>
          <p:cNvPr id="26" name="Text 24"/>
          <p:cNvSpPr/>
          <p:nvPr/>
        </p:nvSpPr>
        <p:spPr>
          <a:xfrm>
            <a:off x="4572000" y="3639312"/>
            <a:ext cx="3063240" cy="475488"/>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4. 调整教育观念，减少唯成绩论氛围</a:t>
            </a:r>
            <a:endParaRPr lang="en-US" sz="750" dirty="0"/>
          </a:p>
        </p:txBody>
      </p:sp>
      <p:sp>
        <p:nvSpPr>
          <p:cNvPr id="27" name="Shape 25"/>
          <p:cNvSpPr/>
          <p:nvPr/>
        </p:nvSpPr>
        <p:spPr>
          <a:xfrm>
            <a:off x="8092440" y="1051560"/>
            <a:ext cx="3520440" cy="3840480"/>
          </a:xfrm>
          <a:prstGeom prst="roundRect">
            <a:avLst>
              <a:gd name="adj" fmla="val 1299"/>
            </a:avLst>
          </a:prstGeom>
          <a:solidFill>
            <a:srgbClr val="FFFFFF"/>
          </a:solidFill>
          <a:ln w="6350">
            <a:solidFill>
              <a:srgbClr val="E5E9F0"/>
            </a:solidFill>
            <a:prstDash val="solid"/>
          </a:ln>
        </p:spPr>
      </p:sp>
      <p:sp>
        <p:nvSpPr>
          <p:cNvPr id="28" name="Shape 26"/>
          <p:cNvSpPr/>
          <p:nvPr/>
        </p:nvSpPr>
        <p:spPr>
          <a:xfrm>
            <a:off x="8092440" y="1051560"/>
            <a:ext cx="3520440" cy="347472"/>
          </a:xfrm>
          <a:prstGeom prst="rect">
            <a:avLst/>
          </a:prstGeom>
          <a:solidFill>
            <a:srgbClr val="6DA8E0"/>
          </a:solidFill>
          <a:ln/>
        </p:spPr>
      </p:sp>
      <p:sp>
        <p:nvSpPr>
          <p:cNvPr id="29" name="Text 27"/>
          <p:cNvSpPr/>
          <p:nvPr/>
        </p:nvSpPr>
        <p:spPr>
          <a:xfrm>
            <a:off x="8092440" y="1051560"/>
            <a:ext cx="3520440" cy="347472"/>
          </a:xfrm>
          <a:prstGeom prst="rect">
            <a:avLst/>
          </a:prstGeom>
          <a:noFill/>
          <a:ln/>
        </p:spPr>
        <p:txBody>
          <a:bodyPr wrap="square" rtlCol="0" anchor="ctr"/>
          <a:lstStyle/>
          <a:p>
            <a:pPr algn="ctr" indent="0" marL="0">
              <a:buNone/>
            </a:pPr>
            <a:r>
              <a:rPr lang="en-US" sz="1000" b="1" dirty="0">
                <a:solidFill>
                  <a:srgbClr val="FFFFFF"/>
                </a:solidFill>
                <a:latin typeface="Source Han Sans SC" pitchFamily="34" charset="0"/>
                <a:ea typeface="Source Han Sans SC" pitchFamily="34" charset="-122"/>
                <a:cs typeface="Source Han Sans SC" pitchFamily="34" charset="-120"/>
              </a:rPr>
              <a:t>社区支撑</a:t>
            </a:r>
            <a:endParaRPr lang="en-US" sz="1000" dirty="0"/>
          </a:p>
        </p:txBody>
      </p:sp>
      <p:sp>
        <p:nvSpPr>
          <p:cNvPr id="30" name="Shape 28"/>
          <p:cNvSpPr/>
          <p:nvPr/>
        </p:nvSpPr>
        <p:spPr>
          <a:xfrm>
            <a:off x="8229600" y="1554480"/>
            <a:ext cx="3246120" cy="530352"/>
          </a:xfrm>
          <a:prstGeom prst="roundRect">
            <a:avLst>
              <a:gd name="adj" fmla="val 6897"/>
            </a:avLst>
          </a:prstGeom>
          <a:solidFill>
            <a:srgbClr val="FFFFFF"/>
          </a:solidFill>
          <a:ln w="3810">
            <a:solidFill>
              <a:srgbClr val="6DA8E0"/>
            </a:solidFill>
            <a:prstDash val="solid"/>
          </a:ln>
        </p:spPr>
      </p:sp>
      <p:sp>
        <p:nvSpPr>
          <p:cNvPr id="31" name="Text 29"/>
          <p:cNvSpPr/>
          <p:nvPr/>
        </p:nvSpPr>
        <p:spPr>
          <a:xfrm>
            <a:off x="8321040" y="1581912"/>
            <a:ext cx="3063240" cy="475488"/>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1. 对接社区卫生服务中心心理资源</a:t>
            </a:r>
            <a:endParaRPr lang="en-US" sz="750" dirty="0"/>
          </a:p>
        </p:txBody>
      </p:sp>
      <p:sp>
        <p:nvSpPr>
          <p:cNvPr id="32" name="Shape 30"/>
          <p:cNvSpPr/>
          <p:nvPr/>
        </p:nvSpPr>
        <p:spPr>
          <a:xfrm>
            <a:off x="8229600" y="2240280"/>
            <a:ext cx="3246120" cy="530352"/>
          </a:xfrm>
          <a:prstGeom prst="roundRect">
            <a:avLst>
              <a:gd name="adj" fmla="val 6897"/>
            </a:avLst>
          </a:prstGeom>
          <a:solidFill>
            <a:srgbClr val="FFFFFF"/>
          </a:solidFill>
          <a:ln w="3810">
            <a:solidFill>
              <a:srgbClr val="6DA8E0"/>
            </a:solidFill>
            <a:prstDash val="solid"/>
          </a:ln>
        </p:spPr>
      </p:sp>
      <p:sp>
        <p:nvSpPr>
          <p:cNvPr id="33" name="Text 31"/>
          <p:cNvSpPr/>
          <p:nvPr/>
        </p:nvSpPr>
        <p:spPr>
          <a:xfrm>
            <a:off x="8321040" y="2267712"/>
            <a:ext cx="3063240" cy="475488"/>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2. 引入社会组织专业心理服务进校园</a:t>
            </a:r>
            <a:endParaRPr lang="en-US" sz="750" dirty="0"/>
          </a:p>
        </p:txBody>
      </p:sp>
      <p:sp>
        <p:nvSpPr>
          <p:cNvPr id="34" name="Shape 32"/>
          <p:cNvSpPr/>
          <p:nvPr/>
        </p:nvSpPr>
        <p:spPr>
          <a:xfrm>
            <a:off x="8229600" y="2926080"/>
            <a:ext cx="3246120" cy="530352"/>
          </a:xfrm>
          <a:prstGeom prst="roundRect">
            <a:avLst>
              <a:gd name="adj" fmla="val 6897"/>
            </a:avLst>
          </a:prstGeom>
          <a:solidFill>
            <a:srgbClr val="FFFFFF"/>
          </a:solidFill>
          <a:ln w="3810">
            <a:solidFill>
              <a:srgbClr val="6DA8E0"/>
            </a:solidFill>
            <a:prstDash val="solid"/>
          </a:ln>
        </p:spPr>
      </p:sp>
      <p:sp>
        <p:nvSpPr>
          <p:cNvPr id="35" name="Text 33"/>
          <p:cNvSpPr/>
          <p:nvPr/>
        </p:nvSpPr>
        <p:spPr>
          <a:xfrm>
            <a:off x="8321040" y="2953512"/>
            <a:ext cx="3063240" cy="475488"/>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3. 建立区域心理危机转介绿色通道</a:t>
            </a:r>
            <a:endParaRPr lang="en-US" sz="750" dirty="0"/>
          </a:p>
        </p:txBody>
      </p:sp>
      <p:sp>
        <p:nvSpPr>
          <p:cNvPr id="36" name="Shape 34"/>
          <p:cNvSpPr/>
          <p:nvPr/>
        </p:nvSpPr>
        <p:spPr>
          <a:xfrm>
            <a:off x="8229600" y="3611880"/>
            <a:ext cx="3246120" cy="530352"/>
          </a:xfrm>
          <a:prstGeom prst="roundRect">
            <a:avLst>
              <a:gd name="adj" fmla="val 6897"/>
            </a:avLst>
          </a:prstGeom>
          <a:solidFill>
            <a:srgbClr val="FFFFFF"/>
          </a:solidFill>
          <a:ln w="3810">
            <a:solidFill>
              <a:srgbClr val="6DA8E0"/>
            </a:solidFill>
            <a:prstDash val="solid"/>
          </a:ln>
        </p:spPr>
      </p:sp>
      <p:sp>
        <p:nvSpPr>
          <p:cNvPr id="37" name="Text 35"/>
          <p:cNvSpPr/>
          <p:nvPr/>
        </p:nvSpPr>
        <p:spPr>
          <a:xfrm>
            <a:off x="8321040" y="3639312"/>
            <a:ext cx="3063240" cy="475488"/>
          </a:xfrm>
          <a:prstGeom prst="rect">
            <a:avLst/>
          </a:prstGeom>
          <a:noFill/>
          <a:ln/>
        </p:spPr>
        <p:txBody>
          <a:bodyPr wrap="square" rtlCol="0" anchor="ctr"/>
          <a:lstStyle/>
          <a:p>
            <a:pPr indent="0" marL="0">
              <a:lnSpc>
                <a:spcPts val="1100"/>
              </a:lnSpc>
              <a:buNone/>
            </a:pPr>
            <a:r>
              <a:rPr lang="en-US" sz="750" dirty="0">
                <a:solidFill>
                  <a:srgbClr val="1E2A38"/>
                </a:solidFill>
                <a:latin typeface="Source Han Sans SC" pitchFamily="34" charset="0"/>
                <a:ea typeface="Source Han Sans SC" pitchFamily="34" charset="-122"/>
                <a:cs typeface="Source Han Sans SC" pitchFamily="34" charset="-120"/>
              </a:rPr>
              <a:t>4. 搭建社区青少年心理健康活动平台</a:t>
            </a:r>
            <a:endParaRPr lang="en-US" sz="750" dirty="0"/>
          </a:p>
        </p:txBody>
      </p:sp>
      <p:sp>
        <p:nvSpPr>
          <p:cNvPr id="38" name="Shape 36"/>
          <p:cNvSpPr/>
          <p:nvPr/>
        </p:nvSpPr>
        <p:spPr>
          <a:xfrm>
            <a:off x="594360" y="5074920"/>
            <a:ext cx="11000232" cy="502920"/>
          </a:xfrm>
          <a:prstGeom prst="roundRect">
            <a:avLst>
              <a:gd name="adj" fmla="val 7273"/>
            </a:avLst>
          </a:prstGeom>
          <a:solidFill>
            <a:srgbClr val="1E2A38"/>
          </a:solidFill>
          <a:ln/>
        </p:spPr>
      </p:sp>
      <p:sp>
        <p:nvSpPr>
          <p:cNvPr id="39" name="Text 37"/>
          <p:cNvSpPr/>
          <p:nvPr/>
        </p:nvSpPr>
        <p:spPr>
          <a:xfrm>
            <a:off x="777240" y="5074920"/>
            <a:ext cx="10634472" cy="502920"/>
          </a:xfrm>
          <a:prstGeom prst="rect">
            <a:avLst/>
          </a:prstGeom>
          <a:noFill/>
          <a:ln/>
        </p:spPr>
        <p:txBody>
          <a:bodyPr wrap="square" rtlCol="0" anchor="ctr"/>
          <a:lstStyle/>
          <a:p>
            <a:pPr algn="ctr" indent="0" marL="0">
              <a:lnSpc>
                <a:spcPts val="1300"/>
              </a:lnSpc>
              <a:buNone/>
            </a:pPr>
            <a:r>
              <a:rPr lang="en-US" sz="850" dirty="0">
                <a:solidFill>
                  <a:srgbClr val="FFFFFF"/>
                </a:solidFill>
                <a:latin typeface="Source Han Sans SC" pitchFamily="34" charset="0"/>
                <a:ea typeface="Source Han Sans SC" pitchFamily="34" charset="-122"/>
                <a:cs typeface="Source Han Sans SC" pitchFamily="34" charset="-120"/>
              </a:rPr>
              <a:t>学校提供专业支持、家庭负责情感陪伴、社区整合社会资源——三方各司其职、信息互通、行动协同</a:t>
            </a:r>
            <a:endParaRPr lang="en-US" sz="850" dirty="0"/>
          </a:p>
        </p:txBody>
      </p:sp>
      <p:sp>
        <p:nvSpPr>
          <p:cNvPr id="40" name="Text 38"/>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16/23</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提案建议四：建立评估与监督机制</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Proposal 4: Evaluation &amp; Supervision</a:t>
            </a:r>
            <a:endParaRPr lang="en-US" sz="1000" dirty="0"/>
          </a:p>
        </p:txBody>
      </p:sp>
      <p:sp>
        <p:nvSpPr>
          <p:cNvPr id="5" name="Shape 3"/>
          <p:cNvSpPr/>
          <p:nvPr/>
        </p:nvSpPr>
        <p:spPr>
          <a:xfrm>
            <a:off x="594360" y="1051560"/>
            <a:ext cx="11000232" cy="1371600"/>
          </a:xfrm>
          <a:prstGeom prst="roundRect">
            <a:avLst>
              <a:gd name="adj" fmla="val 3333"/>
            </a:avLst>
          </a:prstGeom>
          <a:solidFill>
            <a:srgbClr val="FFFFFF"/>
          </a:solidFill>
          <a:ln w="6350">
            <a:solidFill>
              <a:srgbClr val="E5E9F0"/>
            </a:solidFill>
            <a:prstDash val="solid"/>
          </a:ln>
        </p:spPr>
      </p:sp>
      <p:sp>
        <p:nvSpPr>
          <p:cNvPr id="6" name="Shape 4"/>
          <p:cNvSpPr/>
          <p:nvPr/>
        </p:nvSpPr>
        <p:spPr>
          <a:xfrm>
            <a:off x="594360" y="1051560"/>
            <a:ext cx="45720" cy="1371600"/>
          </a:xfrm>
          <a:prstGeom prst="rect">
            <a:avLst/>
          </a:prstGeom>
          <a:solidFill>
            <a:srgbClr val="3A6EA5"/>
          </a:solidFill>
          <a:ln/>
        </p:spPr>
      </p:sp>
      <p:sp>
        <p:nvSpPr>
          <p:cNvPr id="7" name="Text 5"/>
          <p:cNvSpPr/>
          <p:nvPr/>
        </p:nvSpPr>
        <p:spPr>
          <a:xfrm>
            <a:off x="777240" y="1097280"/>
            <a:ext cx="2743200" cy="256032"/>
          </a:xfrm>
          <a:prstGeom prst="rect">
            <a:avLst/>
          </a:prstGeom>
          <a:noFill/>
          <a:ln/>
        </p:spPr>
        <p:txBody>
          <a:bodyPr wrap="square" rtlCol="0" anchor="ctr"/>
          <a:lstStyle/>
          <a:p>
            <a:pPr indent="0" marL="0">
              <a:buNone/>
            </a:pPr>
            <a:r>
              <a:rPr lang="en-US" sz="1000" b="1" dirty="0">
                <a:solidFill>
                  <a:srgbClr val="1E2A38"/>
                </a:solidFill>
                <a:latin typeface="Source Han Sans SC" pitchFamily="34" charset="0"/>
                <a:ea typeface="Source Han Sans SC" pitchFamily="34" charset="-122"/>
                <a:cs typeface="Source Han Sans SC" pitchFamily="34" charset="-120"/>
              </a:rPr>
              <a:t>评估指标体系</a:t>
            </a:r>
            <a:endParaRPr lang="en-US" sz="1000" dirty="0"/>
          </a:p>
        </p:txBody>
      </p:sp>
      <p:sp>
        <p:nvSpPr>
          <p:cNvPr id="8" name="Shape 6"/>
          <p:cNvSpPr/>
          <p:nvPr/>
        </p:nvSpPr>
        <p:spPr>
          <a:xfrm>
            <a:off x="777240" y="1417320"/>
            <a:ext cx="2057400" cy="822960"/>
          </a:xfrm>
          <a:prstGeom prst="roundRect">
            <a:avLst>
              <a:gd name="adj" fmla="val 4444"/>
            </a:avLst>
          </a:prstGeom>
          <a:solidFill>
            <a:srgbClr val="F7F9FC"/>
          </a:solidFill>
          <a:ln w="3810">
            <a:solidFill>
              <a:srgbClr val="E5E9F0"/>
            </a:solidFill>
            <a:prstDash val="solid"/>
          </a:ln>
        </p:spPr>
      </p:sp>
      <p:sp>
        <p:nvSpPr>
          <p:cNvPr id="9" name="Text 7"/>
          <p:cNvSpPr/>
          <p:nvPr/>
        </p:nvSpPr>
        <p:spPr>
          <a:xfrm>
            <a:off x="868680" y="1444752"/>
            <a:ext cx="1874520" cy="201168"/>
          </a:xfrm>
          <a:prstGeom prst="rect">
            <a:avLst/>
          </a:prstGeom>
          <a:noFill/>
          <a:ln/>
        </p:spPr>
        <p:txBody>
          <a:bodyPr wrap="square" rtlCol="0" anchor="ctr"/>
          <a:lstStyle/>
          <a:p>
            <a:pPr algn="ctr" indent="0" marL="0">
              <a:buNone/>
            </a:pPr>
            <a:r>
              <a:rPr lang="en-US" sz="700" b="1" dirty="0">
                <a:solidFill>
                  <a:srgbClr val="1E2A38"/>
                </a:solidFill>
                <a:latin typeface="Source Han Sans SC" pitchFamily="34" charset="0"/>
                <a:ea typeface="Source Han Sans SC" pitchFamily="34" charset="-122"/>
                <a:cs typeface="Source Han Sans SC" pitchFamily="34" charset="-120"/>
              </a:rPr>
              <a:t>心理课程参与率</a:t>
            </a:r>
            <a:endParaRPr lang="en-US" sz="700" dirty="0"/>
          </a:p>
        </p:txBody>
      </p:sp>
      <p:sp>
        <p:nvSpPr>
          <p:cNvPr id="10" name="Text 8"/>
          <p:cNvSpPr/>
          <p:nvPr/>
        </p:nvSpPr>
        <p:spPr>
          <a:xfrm>
            <a:off x="868680" y="1664208"/>
            <a:ext cx="1874520" cy="457200"/>
          </a:xfrm>
          <a:prstGeom prst="rect">
            <a:avLst/>
          </a:prstGeom>
          <a:noFill/>
          <a:ln/>
        </p:spPr>
        <p:txBody>
          <a:bodyPr wrap="square" rtlCol="0" anchor="ctr"/>
          <a:lstStyle/>
          <a:p>
            <a:pPr algn="ctr" indent="0" marL="0">
              <a:lnSpc>
                <a:spcPts val="1000"/>
              </a:lnSpc>
              <a:buNone/>
            </a:pPr>
            <a:r>
              <a:rPr lang="en-US" sz="650" dirty="0">
                <a:solidFill>
                  <a:srgbClr val="8899AA"/>
                </a:solidFill>
                <a:latin typeface="Source Han Sans SC" pitchFamily="34" charset="0"/>
                <a:ea typeface="Source Han Sans SC" pitchFamily="34" charset="-122"/>
                <a:cs typeface="Source Han Sans SC" pitchFamily="34" charset="-120"/>
              </a:rPr>
              <a:t>不低于95%学生完成必修课时</a:t>
            </a:r>
            <a:endParaRPr lang="en-US" sz="650" dirty="0"/>
          </a:p>
        </p:txBody>
      </p:sp>
      <p:sp>
        <p:nvSpPr>
          <p:cNvPr id="11" name="Shape 9"/>
          <p:cNvSpPr/>
          <p:nvPr/>
        </p:nvSpPr>
        <p:spPr>
          <a:xfrm>
            <a:off x="3017520" y="1417320"/>
            <a:ext cx="2057400" cy="822960"/>
          </a:xfrm>
          <a:prstGeom prst="roundRect">
            <a:avLst>
              <a:gd name="adj" fmla="val 4444"/>
            </a:avLst>
          </a:prstGeom>
          <a:solidFill>
            <a:srgbClr val="F7F9FC"/>
          </a:solidFill>
          <a:ln w="3810">
            <a:solidFill>
              <a:srgbClr val="E5E9F0"/>
            </a:solidFill>
            <a:prstDash val="solid"/>
          </a:ln>
        </p:spPr>
      </p:sp>
      <p:sp>
        <p:nvSpPr>
          <p:cNvPr id="12" name="Text 10"/>
          <p:cNvSpPr/>
          <p:nvPr/>
        </p:nvSpPr>
        <p:spPr>
          <a:xfrm>
            <a:off x="3108960" y="1444752"/>
            <a:ext cx="1874520" cy="201168"/>
          </a:xfrm>
          <a:prstGeom prst="rect">
            <a:avLst/>
          </a:prstGeom>
          <a:noFill/>
          <a:ln/>
        </p:spPr>
        <p:txBody>
          <a:bodyPr wrap="square" rtlCol="0" anchor="ctr"/>
          <a:lstStyle/>
          <a:p>
            <a:pPr algn="ctr" indent="0" marL="0">
              <a:buNone/>
            </a:pPr>
            <a:r>
              <a:rPr lang="en-US" sz="700" b="1" dirty="0">
                <a:solidFill>
                  <a:srgbClr val="1E2A38"/>
                </a:solidFill>
                <a:latin typeface="Source Han Sans SC" pitchFamily="34" charset="0"/>
                <a:ea typeface="Source Han Sans SC" pitchFamily="34" charset="-122"/>
                <a:cs typeface="Source Han Sans SC" pitchFamily="34" charset="-120"/>
              </a:rPr>
              <a:t>咨询室使用覆盖率</a:t>
            </a:r>
            <a:endParaRPr lang="en-US" sz="700" dirty="0"/>
          </a:p>
        </p:txBody>
      </p:sp>
      <p:sp>
        <p:nvSpPr>
          <p:cNvPr id="13" name="Text 11"/>
          <p:cNvSpPr/>
          <p:nvPr/>
        </p:nvSpPr>
        <p:spPr>
          <a:xfrm>
            <a:off x="3108960" y="1664208"/>
            <a:ext cx="1874520" cy="457200"/>
          </a:xfrm>
          <a:prstGeom prst="rect">
            <a:avLst/>
          </a:prstGeom>
          <a:noFill/>
          <a:ln/>
        </p:spPr>
        <p:txBody>
          <a:bodyPr wrap="square" rtlCol="0" anchor="ctr"/>
          <a:lstStyle/>
          <a:p>
            <a:pPr algn="ctr" indent="0" marL="0">
              <a:lnSpc>
                <a:spcPts val="1000"/>
              </a:lnSpc>
              <a:buNone/>
            </a:pPr>
            <a:r>
              <a:rPr lang="en-US" sz="650" dirty="0">
                <a:solidFill>
                  <a:srgbClr val="8899AA"/>
                </a:solidFill>
                <a:latin typeface="Source Han Sans SC" pitchFamily="34" charset="0"/>
                <a:ea typeface="Source Han Sans SC" pitchFamily="34" charset="-122"/>
                <a:cs typeface="Source Han Sans SC" pitchFamily="34" charset="-120"/>
              </a:rPr>
              <a:t>年度使用人次达在校生数的15%以上</a:t>
            </a:r>
            <a:endParaRPr lang="en-US" sz="650" dirty="0"/>
          </a:p>
        </p:txBody>
      </p:sp>
      <p:sp>
        <p:nvSpPr>
          <p:cNvPr id="14" name="Shape 12"/>
          <p:cNvSpPr/>
          <p:nvPr/>
        </p:nvSpPr>
        <p:spPr>
          <a:xfrm>
            <a:off x="5257800" y="1417320"/>
            <a:ext cx="2057400" cy="822960"/>
          </a:xfrm>
          <a:prstGeom prst="roundRect">
            <a:avLst>
              <a:gd name="adj" fmla="val 4444"/>
            </a:avLst>
          </a:prstGeom>
          <a:solidFill>
            <a:srgbClr val="F7F9FC"/>
          </a:solidFill>
          <a:ln w="3810">
            <a:solidFill>
              <a:srgbClr val="E5E9F0"/>
            </a:solidFill>
            <a:prstDash val="solid"/>
          </a:ln>
        </p:spPr>
      </p:sp>
      <p:sp>
        <p:nvSpPr>
          <p:cNvPr id="15" name="Text 13"/>
          <p:cNvSpPr/>
          <p:nvPr/>
        </p:nvSpPr>
        <p:spPr>
          <a:xfrm>
            <a:off x="5349240" y="1444752"/>
            <a:ext cx="1874520" cy="201168"/>
          </a:xfrm>
          <a:prstGeom prst="rect">
            <a:avLst/>
          </a:prstGeom>
          <a:noFill/>
          <a:ln/>
        </p:spPr>
        <p:txBody>
          <a:bodyPr wrap="square" rtlCol="0" anchor="ctr"/>
          <a:lstStyle/>
          <a:p>
            <a:pPr algn="ctr" indent="0" marL="0">
              <a:buNone/>
            </a:pPr>
            <a:r>
              <a:rPr lang="en-US" sz="700" b="1" dirty="0">
                <a:solidFill>
                  <a:srgbClr val="1E2A38"/>
                </a:solidFill>
                <a:latin typeface="Source Han Sans SC" pitchFamily="34" charset="0"/>
                <a:ea typeface="Source Han Sans SC" pitchFamily="34" charset="-122"/>
                <a:cs typeface="Source Han Sans SC" pitchFamily="34" charset="-120"/>
              </a:rPr>
              <a:t>学生心理满意度</a:t>
            </a:r>
            <a:endParaRPr lang="en-US" sz="700" dirty="0"/>
          </a:p>
        </p:txBody>
      </p:sp>
      <p:sp>
        <p:nvSpPr>
          <p:cNvPr id="16" name="Text 14"/>
          <p:cNvSpPr/>
          <p:nvPr/>
        </p:nvSpPr>
        <p:spPr>
          <a:xfrm>
            <a:off x="5349240" y="1664208"/>
            <a:ext cx="1874520" cy="457200"/>
          </a:xfrm>
          <a:prstGeom prst="rect">
            <a:avLst/>
          </a:prstGeom>
          <a:noFill/>
          <a:ln/>
        </p:spPr>
        <p:txBody>
          <a:bodyPr wrap="square" rtlCol="0" anchor="ctr"/>
          <a:lstStyle/>
          <a:p>
            <a:pPr algn="ctr" indent="0" marL="0">
              <a:lnSpc>
                <a:spcPts val="1000"/>
              </a:lnSpc>
              <a:buNone/>
            </a:pPr>
            <a:r>
              <a:rPr lang="en-US" sz="650" dirty="0">
                <a:solidFill>
                  <a:srgbClr val="8899AA"/>
                </a:solidFill>
                <a:latin typeface="Source Han Sans SC" pitchFamily="34" charset="0"/>
                <a:ea typeface="Source Han Sans SC" pitchFamily="34" charset="-122"/>
                <a:cs typeface="Source Han Sans SC" pitchFamily="34" charset="-120"/>
              </a:rPr>
              <a:t>年度匿名调查满意度不低于80%</a:t>
            </a:r>
            <a:endParaRPr lang="en-US" sz="650" dirty="0"/>
          </a:p>
        </p:txBody>
      </p:sp>
      <p:sp>
        <p:nvSpPr>
          <p:cNvPr id="17" name="Shape 15"/>
          <p:cNvSpPr/>
          <p:nvPr/>
        </p:nvSpPr>
        <p:spPr>
          <a:xfrm>
            <a:off x="7498080" y="1417320"/>
            <a:ext cx="2057400" cy="822960"/>
          </a:xfrm>
          <a:prstGeom prst="roundRect">
            <a:avLst>
              <a:gd name="adj" fmla="val 4444"/>
            </a:avLst>
          </a:prstGeom>
          <a:solidFill>
            <a:srgbClr val="F7F9FC"/>
          </a:solidFill>
          <a:ln w="3810">
            <a:solidFill>
              <a:srgbClr val="E5E9F0"/>
            </a:solidFill>
            <a:prstDash val="solid"/>
          </a:ln>
        </p:spPr>
      </p:sp>
      <p:sp>
        <p:nvSpPr>
          <p:cNvPr id="18" name="Text 16"/>
          <p:cNvSpPr/>
          <p:nvPr/>
        </p:nvSpPr>
        <p:spPr>
          <a:xfrm>
            <a:off x="7589520" y="1444752"/>
            <a:ext cx="1874520" cy="201168"/>
          </a:xfrm>
          <a:prstGeom prst="rect">
            <a:avLst/>
          </a:prstGeom>
          <a:noFill/>
          <a:ln/>
        </p:spPr>
        <p:txBody>
          <a:bodyPr wrap="square" rtlCol="0" anchor="ctr"/>
          <a:lstStyle/>
          <a:p>
            <a:pPr algn="ctr" indent="0" marL="0">
              <a:buNone/>
            </a:pPr>
            <a:r>
              <a:rPr lang="en-US" sz="700" b="1" dirty="0">
                <a:solidFill>
                  <a:srgbClr val="1E2A38"/>
                </a:solidFill>
                <a:latin typeface="Source Han Sans SC" pitchFamily="34" charset="0"/>
                <a:ea typeface="Source Han Sans SC" pitchFamily="34" charset="-122"/>
                <a:cs typeface="Source Han Sans SC" pitchFamily="34" charset="-120"/>
              </a:rPr>
              <a:t>睡眠达标率</a:t>
            </a:r>
            <a:endParaRPr lang="en-US" sz="700" dirty="0"/>
          </a:p>
        </p:txBody>
      </p:sp>
      <p:sp>
        <p:nvSpPr>
          <p:cNvPr id="19" name="Text 17"/>
          <p:cNvSpPr/>
          <p:nvPr/>
        </p:nvSpPr>
        <p:spPr>
          <a:xfrm>
            <a:off x="7589520" y="1664208"/>
            <a:ext cx="1874520" cy="457200"/>
          </a:xfrm>
          <a:prstGeom prst="rect">
            <a:avLst/>
          </a:prstGeom>
          <a:noFill/>
          <a:ln/>
        </p:spPr>
        <p:txBody>
          <a:bodyPr wrap="square" rtlCol="0" anchor="ctr"/>
          <a:lstStyle/>
          <a:p>
            <a:pPr algn="ctr" indent="0" marL="0">
              <a:lnSpc>
                <a:spcPts val="1000"/>
              </a:lnSpc>
              <a:buNone/>
            </a:pPr>
            <a:r>
              <a:rPr lang="en-US" sz="650" dirty="0">
                <a:solidFill>
                  <a:srgbClr val="8899AA"/>
                </a:solidFill>
                <a:latin typeface="Source Han Sans SC" pitchFamily="34" charset="0"/>
                <a:ea typeface="Source Han Sans SC" pitchFamily="34" charset="-122"/>
                <a:cs typeface="Source Han Sans SC" pitchFamily="34" charset="-120"/>
              </a:rPr>
              <a:t>逐年提升，3年内达30%以上</a:t>
            </a:r>
            <a:endParaRPr lang="en-US" sz="650" dirty="0"/>
          </a:p>
        </p:txBody>
      </p:sp>
      <p:sp>
        <p:nvSpPr>
          <p:cNvPr id="20" name="Shape 18"/>
          <p:cNvSpPr/>
          <p:nvPr/>
        </p:nvSpPr>
        <p:spPr>
          <a:xfrm>
            <a:off x="9738360" y="1417320"/>
            <a:ext cx="2057400" cy="822960"/>
          </a:xfrm>
          <a:prstGeom prst="roundRect">
            <a:avLst>
              <a:gd name="adj" fmla="val 4444"/>
            </a:avLst>
          </a:prstGeom>
          <a:solidFill>
            <a:srgbClr val="F7F9FC"/>
          </a:solidFill>
          <a:ln w="3810">
            <a:solidFill>
              <a:srgbClr val="E5E9F0"/>
            </a:solidFill>
            <a:prstDash val="solid"/>
          </a:ln>
        </p:spPr>
      </p:sp>
      <p:sp>
        <p:nvSpPr>
          <p:cNvPr id="21" name="Text 19"/>
          <p:cNvSpPr/>
          <p:nvPr/>
        </p:nvSpPr>
        <p:spPr>
          <a:xfrm>
            <a:off x="9829800" y="1444752"/>
            <a:ext cx="1874520" cy="201168"/>
          </a:xfrm>
          <a:prstGeom prst="rect">
            <a:avLst/>
          </a:prstGeom>
          <a:noFill/>
          <a:ln/>
        </p:spPr>
        <p:txBody>
          <a:bodyPr wrap="square" rtlCol="0" anchor="ctr"/>
          <a:lstStyle/>
          <a:p>
            <a:pPr algn="ctr" indent="0" marL="0">
              <a:buNone/>
            </a:pPr>
            <a:r>
              <a:rPr lang="en-US" sz="700" b="1" dirty="0">
                <a:solidFill>
                  <a:srgbClr val="1E2A38"/>
                </a:solidFill>
                <a:latin typeface="Source Han Sans SC" pitchFamily="34" charset="0"/>
                <a:ea typeface="Source Han Sans SC" pitchFamily="34" charset="-122"/>
                <a:cs typeface="Source Han Sans SC" pitchFamily="34" charset="-120"/>
              </a:rPr>
              <a:t>心理危机响应效率</a:t>
            </a:r>
            <a:endParaRPr lang="en-US" sz="700" dirty="0"/>
          </a:p>
        </p:txBody>
      </p:sp>
      <p:sp>
        <p:nvSpPr>
          <p:cNvPr id="22" name="Text 20"/>
          <p:cNvSpPr/>
          <p:nvPr/>
        </p:nvSpPr>
        <p:spPr>
          <a:xfrm>
            <a:off x="9829800" y="1664208"/>
            <a:ext cx="1874520" cy="457200"/>
          </a:xfrm>
          <a:prstGeom prst="rect">
            <a:avLst/>
          </a:prstGeom>
          <a:noFill/>
          <a:ln/>
        </p:spPr>
        <p:txBody>
          <a:bodyPr wrap="square" rtlCol="0" anchor="ctr"/>
          <a:lstStyle/>
          <a:p>
            <a:pPr algn="ctr" indent="0" marL="0">
              <a:lnSpc>
                <a:spcPts val="1000"/>
              </a:lnSpc>
              <a:buNone/>
            </a:pPr>
            <a:r>
              <a:rPr lang="en-US" sz="650" dirty="0">
                <a:solidFill>
                  <a:srgbClr val="8899AA"/>
                </a:solidFill>
                <a:latin typeface="Source Han Sans SC" pitchFamily="34" charset="0"/>
                <a:ea typeface="Source Han Sans SC" pitchFamily="34" charset="-122"/>
                <a:cs typeface="Source Han Sans SC" pitchFamily="34" charset="-120"/>
              </a:rPr>
              <a:t>预警后24小时内启动干预响应</a:t>
            </a:r>
            <a:endParaRPr lang="en-US" sz="650" dirty="0"/>
          </a:p>
        </p:txBody>
      </p:sp>
      <p:sp>
        <p:nvSpPr>
          <p:cNvPr id="23" name="Shape 21"/>
          <p:cNvSpPr/>
          <p:nvPr/>
        </p:nvSpPr>
        <p:spPr>
          <a:xfrm>
            <a:off x="594360" y="2651760"/>
            <a:ext cx="11000232" cy="2011680"/>
          </a:xfrm>
          <a:prstGeom prst="roundRect">
            <a:avLst>
              <a:gd name="adj" fmla="val 2273"/>
            </a:avLst>
          </a:prstGeom>
          <a:solidFill>
            <a:srgbClr val="FFFFFF"/>
          </a:solidFill>
          <a:ln w="6350">
            <a:solidFill>
              <a:srgbClr val="E5E9F0"/>
            </a:solidFill>
            <a:prstDash val="solid"/>
          </a:ln>
        </p:spPr>
      </p:sp>
      <p:sp>
        <p:nvSpPr>
          <p:cNvPr id="24" name="Shape 22"/>
          <p:cNvSpPr/>
          <p:nvPr/>
        </p:nvSpPr>
        <p:spPr>
          <a:xfrm>
            <a:off x="594360" y="2651760"/>
            <a:ext cx="45720" cy="2011680"/>
          </a:xfrm>
          <a:prstGeom prst="rect">
            <a:avLst/>
          </a:prstGeom>
          <a:solidFill>
            <a:srgbClr val="D98E04"/>
          </a:solidFill>
          <a:ln/>
        </p:spPr>
      </p:sp>
      <p:sp>
        <p:nvSpPr>
          <p:cNvPr id="25" name="Text 23"/>
          <p:cNvSpPr/>
          <p:nvPr/>
        </p:nvSpPr>
        <p:spPr>
          <a:xfrm>
            <a:off x="777240" y="2697480"/>
            <a:ext cx="2743200" cy="256032"/>
          </a:xfrm>
          <a:prstGeom prst="rect">
            <a:avLst/>
          </a:prstGeom>
          <a:noFill/>
          <a:ln/>
        </p:spPr>
        <p:txBody>
          <a:bodyPr wrap="square" rtlCol="0" anchor="ctr"/>
          <a:lstStyle/>
          <a:p>
            <a:pPr indent="0" marL="0">
              <a:buNone/>
            </a:pPr>
            <a:r>
              <a:rPr lang="en-US" sz="1000" b="1" dirty="0">
                <a:solidFill>
                  <a:srgbClr val="1E2A38"/>
                </a:solidFill>
                <a:latin typeface="Source Han Sans SC" pitchFamily="34" charset="0"/>
                <a:ea typeface="Source Han Sans SC" pitchFamily="34" charset="-122"/>
                <a:cs typeface="Source Han Sans SC" pitchFamily="34" charset="-120"/>
              </a:rPr>
              <a:t>监督机制设计</a:t>
            </a:r>
            <a:endParaRPr lang="en-US" sz="1000" dirty="0"/>
          </a:p>
        </p:txBody>
      </p:sp>
      <p:sp>
        <p:nvSpPr>
          <p:cNvPr id="26" name="Text 24"/>
          <p:cNvSpPr/>
          <p:nvPr/>
        </p:nvSpPr>
        <p:spPr>
          <a:xfrm>
            <a:off x="777240" y="3063240"/>
            <a:ext cx="1097280" cy="274320"/>
          </a:xfrm>
          <a:prstGeom prst="rect">
            <a:avLst/>
          </a:prstGeom>
          <a:noFill/>
          <a:ln/>
        </p:spPr>
        <p:txBody>
          <a:bodyPr wrap="square" rtlCol="0" anchor="ctr"/>
          <a:lstStyle/>
          <a:p>
            <a:pPr indent="0" marL="0">
              <a:buNone/>
            </a:pPr>
            <a:r>
              <a:rPr lang="en-US" sz="800" b="1" dirty="0">
                <a:solidFill>
                  <a:srgbClr val="D98E04"/>
                </a:solidFill>
                <a:latin typeface="Source Han Sans SC" pitchFamily="34" charset="0"/>
                <a:ea typeface="Source Han Sans SC" pitchFamily="34" charset="-122"/>
                <a:cs typeface="Source Han Sans SC" pitchFamily="34" charset="-120"/>
              </a:rPr>
              <a:t>监督主体</a:t>
            </a:r>
            <a:endParaRPr lang="en-US" sz="800" dirty="0"/>
          </a:p>
        </p:txBody>
      </p:sp>
      <p:sp>
        <p:nvSpPr>
          <p:cNvPr id="27" name="Text 25"/>
          <p:cNvSpPr/>
          <p:nvPr/>
        </p:nvSpPr>
        <p:spPr>
          <a:xfrm>
            <a:off x="1965960" y="3063240"/>
            <a:ext cx="9445752" cy="274320"/>
          </a:xfrm>
          <a:prstGeom prst="rect">
            <a:avLst/>
          </a:prstGeom>
          <a:noFill/>
          <a:ln/>
        </p:spPr>
        <p:txBody>
          <a:bodyPr wrap="square" rtlCol="0" anchor="ctr"/>
          <a:lstStyle/>
          <a:p>
            <a:pPr indent="0" marL="0">
              <a:buNone/>
            </a:pPr>
            <a:r>
              <a:rPr lang="en-US" sz="800" dirty="0">
                <a:solidFill>
                  <a:srgbClr val="1E2A38"/>
                </a:solidFill>
                <a:latin typeface="Source Han Sans SC" pitchFamily="34" charset="0"/>
                <a:ea typeface="Source Han Sans SC" pitchFamily="34" charset="-122"/>
                <a:cs typeface="Source Han Sans SC" pitchFamily="34" charset="-120"/>
              </a:rPr>
              <a:t>学校心理健康教育委员会（校级）+ 教育督导部门（区/县级）+ 学生家长委员会（社会监督）</a:t>
            </a:r>
            <a:endParaRPr lang="en-US" sz="800" dirty="0"/>
          </a:p>
        </p:txBody>
      </p:sp>
      <p:sp>
        <p:nvSpPr>
          <p:cNvPr id="28" name="Text 26"/>
          <p:cNvSpPr/>
          <p:nvPr/>
        </p:nvSpPr>
        <p:spPr>
          <a:xfrm>
            <a:off x="777240" y="3520440"/>
            <a:ext cx="1097280" cy="274320"/>
          </a:xfrm>
          <a:prstGeom prst="rect">
            <a:avLst/>
          </a:prstGeom>
          <a:noFill/>
          <a:ln/>
        </p:spPr>
        <p:txBody>
          <a:bodyPr wrap="square" rtlCol="0" anchor="ctr"/>
          <a:lstStyle/>
          <a:p>
            <a:pPr indent="0" marL="0">
              <a:buNone/>
            </a:pPr>
            <a:r>
              <a:rPr lang="en-US" sz="800" b="1" dirty="0">
                <a:solidFill>
                  <a:srgbClr val="D98E04"/>
                </a:solidFill>
                <a:latin typeface="Source Han Sans SC" pitchFamily="34" charset="0"/>
                <a:ea typeface="Source Han Sans SC" pitchFamily="34" charset="-122"/>
                <a:cs typeface="Source Han Sans SC" pitchFamily="34" charset="-120"/>
              </a:rPr>
              <a:t>评估频次</a:t>
            </a:r>
            <a:endParaRPr lang="en-US" sz="800" dirty="0"/>
          </a:p>
        </p:txBody>
      </p:sp>
      <p:sp>
        <p:nvSpPr>
          <p:cNvPr id="29" name="Text 27"/>
          <p:cNvSpPr/>
          <p:nvPr/>
        </p:nvSpPr>
        <p:spPr>
          <a:xfrm>
            <a:off x="1965960" y="3520440"/>
            <a:ext cx="9445752" cy="274320"/>
          </a:xfrm>
          <a:prstGeom prst="rect">
            <a:avLst/>
          </a:prstGeom>
          <a:noFill/>
          <a:ln/>
        </p:spPr>
        <p:txBody>
          <a:bodyPr wrap="square" rtlCol="0" anchor="ctr"/>
          <a:lstStyle/>
          <a:p>
            <a:pPr indent="0" marL="0">
              <a:buNone/>
            </a:pPr>
            <a:r>
              <a:rPr lang="en-US" sz="800" dirty="0">
                <a:solidFill>
                  <a:srgbClr val="1E2A38"/>
                </a:solidFill>
                <a:latin typeface="Source Han Sans SC" pitchFamily="34" charset="0"/>
                <a:ea typeface="Source Han Sans SC" pitchFamily="34" charset="-122"/>
                <a:cs typeface="Source Han Sans SC" pitchFamily="34" charset="-120"/>
              </a:rPr>
              <a:t>校级自评每学期1次；区级督查每学年1次；学生满意度调查每学期1次</a:t>
            </a:r>
            <a:endParaRPr lang="en-US" sz="800" dirty="0"/>
          </a:p>
        </p:txBody>
      </p:sp>
      <p:sp>
        <p:nvSpPr>
          <p:cNvPr id="30" name="Text 28"/>
          <p:cNvSpPr/>
          <p:nvPr/>
        </p:nvSpPr>
        <p:spPr>
          <a:xfrm>
            <a:off x="777240" y="3977640"/>
            <a:ext cx="1097280" cy="274320"/>
          </a:xfrm>
          <a:prstGeom prst="rect">
            <a:avLst/>
          </a:prstGeom>
          <a:noFill/>
          <a:ln/>
        </p:spPr>
        <p:txBody>
          <a:bodyPr wrap="square" rtlCol="0" anchor="ctr"/>
          <a:lstStyle/>
          <a:p>
            <a:pPr indent="0" marL="0">
              <a:buNone/>
            </a:pPr>
            <a:r>
              <a:rPr lang="en-US" sz="800" b="1" dirty="0">
                <a:solidFill>
                  <a:srgbClr val="D98E04"/>
                </a:solidFill>
                <a:latin typeface="Source Han Sans SC" pitchFamily="34" charset="0"/>
                <a:ea typeface="Source Han Sans SC" pitchFamily="34" charset="-122"/>
                <a:cs typeface="Source Han Sans SC" pitchFamily="34" charset="-120"/>
              </a:rPr>
              <a:t>结果公开</a:t>
            </a:r>
            <a:endParaRPr lang="en-US" sz="800" dirty="0"/>
          </a:p>
        </p:txBody>
      </p:sp>
      <p:sp>
        <p:nvSpPr>
          <p:cNvPr id="31" name="Text 29"/>
          <p:cNvSpPr/>
          <p:nvPr/>
        </p:nvSpPr>
        <p:spPr>
          <a:xfrm>
            <a:off x="1965960" y="3977640"/>
            <a:ext cx="9445752" cy="274320"/>
          </a:xfrm>
          <a:prstGeom prst="rect">
            <a:avLst/>
          </a:prstGeom>
          <a:noFill/>
          <a:ln/>
        </p:spPr>
        <p:txBody>
          <a:bodyPr wrap="square" rtlCol="0" anchor="ctr"/>
          <a:lstStyle/>
          <a:p>
            <a:pPr indent="0" marL="0">
              <a:buNone/>
            </a:pPr>
            <a:r>
              <a:rPr lang="en-US" sz="800" dirty="0">
                <a:solidFill>
                  <a:srgbClr val="1E2A38"/>
                </a:solidFill>
                <a:latin typeface="Source Han Sans SC" pitchFamily="34" charset="0"/>
                <a:ea typeface="Source Han Sans SC" pitchFamily="34" charset="-122"/>
                <a:cs typeface="Source Han Sans SC" pitchFamily="34" charset="-120"/>
              </a:rPr>
              <a:t>评估结果纳入学校年度教育质量报告，向社会公开主要指标完成情况</a:t>
            </a:r>
            <a:endParaRPr lang="en-US" sz="800" dirty="0"/>
          </a:p>
        </p:txBody>
      </p:sp>
      <p:sp>
        <p:nvSpPr>
          <p:cNvPr id="32" name="Shape 30"/>
          <p:cNvSpPr/>
          <p:nvPr/>
        </p:nvSpPr>
        <p:spPr>
          <a:xfrm>
            <a:off x="594360" y="4892040"/>
            <a:ext cx="11000232" cy="777240"/>
          </a:xfrm>
          <a:prstGeom prst="roundRect">
            <a:avLst>
              <a:gd name="adj" fmla="val 5882"/>
            </a:avLst>
          </a:prstGeom>
          <a:solidFill>
            <a:srgbClr val="FFFFFF"/>
          </a:solidFill>
          <a:ln w="6350">
            <a:solidFill>
              <a:srgbClr val="E5E9F0"/>
            </a:solidFill>
            <a:prstDash val="solid"/>
          </a:ln>
        </p:spPr>
      </p:sp>
      <p:sp>
        <p:nvSpPr>
          <p:cNvPr id="33" name="Shape 31"/>
          <p:cNvSpPr/>
          <p:nvPr/>
        </p:nvSpPr>
        <p:spPr>
          <a:xfrm>
            <a:off x="594360" y="4892040"/>
            <a:ext cx="45720" cy="777240"/>
          </a:xfrm>
          <a:prstGeom prst="rect">
            <a:avLst/>
          </a:prstGeom>
          <a:solidFill>
            <a:srgbClr val="3A6EA5"/>
          </a:solidFill>
          <a:ln/>
        </p:spPr>
      </p:sp>
      <p:sp>
        <p:nvSpPr>
          <p:cNvPr id="34" name="Text 32"/>
          <p:cNvSpPr/>
          <p:nvPr/>
        </p:nvSpPr>
        <p:spPr>
          <a:xfrm>
            <a:off x="777240" y="4937760"/>
            <a:ext cx="2743200" cy="228600"/>
          </a:xfrm>
          <a:prstGeom prst="rect">
            <a:avLst/>
          </a:prstGeom>
          <a:noFill/>
          <a:ln/>
        </p:spPr>
        <p:txBody>
          <a:bodyPr wrap="square" rtlCol="0" anchor="ctr"/>
          <a:lstStyle/>
          <a:p>
            <a:pPr indent="0" marL="0">
              <a:buNone/>
            </a:pPr>
            <a:r>
              <a:rPr lang="en-US" sz="900" b="1" dirty="0">
                <a:solidFill>
                  <a:srgbClr val="1E2A38"/>
                </a:solidFill>
                <a:latin typeface="Source Han Sans SC" pitchFamily="34" charset="0"/>
                <a:ea typeface="Source Han Sans SC" pitchFamily="34" charset="-122"/>
                <a:cs typeface="Source Han Sans SC" pitchFamily="34" charset="-120"/>
              </a:rPr>
              <a:t>治理逻辑</a:t>
            </a:r>
            <a:endParaRPr lang="en-US" sz="900" dirty="0"/>
          </a:p>
        </p:txBody>
      </p:sp>
      <p:sp>
        <p:nvSpPr>
          <p:cNvPr id="35" name="Text 33"/>
          <p:cNvSpPr/>
          <p:nvPr/>
        </p:nvSpPr>
        <p:spPr>
          <a:xfrm>
            <a:off x="777240" y="5166360"/>
            <a:ext cx="10634472" cy="365760"/>
          </a:xfrm>
          <a:prstGeom prst="rect">
            <a:avLst/>
          </a:prstGeom>
          <a:noFill/>
          <a:ln/>
        </p:spPr>
        <p:txBody>
          <a:bodyPr wrap="square" rtlCol="0" anchor="ctr"/>
          <a:lstStyle/>
          <a:p>
            <a:pPr indent="0" marL="0">
              <a:lnSpc>
                <a:spcPts val="1300"/>
              </a:lnSpc>
              <a:buNone/>
            </a:pPr>
            <a:r>
              <a:rPr lang="en-US" sz="800" dirty="0">
                <a:solidFill>
                  <a:srgbClr val="1E2A38"/>
                </a:solidFill>
                <a:latin typeface="Source Han Sans SC" pitchFamily="34" charset="0"/>
                <a:ea typeface="Source Han Sans SC" pitchFamily="34" charset="-122"/>
                <a:cs typeface="Source Han Sans SC" pitchFamily="34" charset="-120"/>
              </a:rPr>
              <a:t>只有建立指标可量化、过程可监督、结果可追问的评估监督机制，才能确保心理健康工作从软指标变为硬约束。</a:t>
            </a:r>
            <a:endParaRPr lang="en-US" sz="800" dirty="0"/>
          </a:p>
        </p:txBody>
      </p:sp>
      <p:sp>
        <p:nvSpPr>
          <p:cNvPr id="36" name="Text 34"/>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17/23</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哈尔滨市第三中学心理支持体系试点模型</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Pilot Model: Harbin No.3 High School</a:t>
            </a:r>
            <a:endParaRPr lang="en-US" sz="1000" dirty="0"/>
          </a:p>
        </p:txBody>
      </p:sp>
      <p:sp>
        <p:nvSpPr>
          <p:cNvPr id="5" name="Shape 3"/>
          <p:cNvSpPr/>
          <p:nvPr/>
        </p:nvSpPr>
        <p:spPr>
          <a:xfrm>
            <a:off x="3840480" y="1051560"/>
            <a:ext cx="4389120" cy="411480"/>
          </a:xfrm>
          <a:prstGeom prst="roundRect">
            <a:avLst>
              <a:gd name="adj" fmla="val 11111"/>
            </a:avLst>
          </a:prstGeom>
          <a:solidFill>
            <a:srgbClr val="1E2A38"/>
          </a:solidFill>
          <a:ln/>
        </p:spPr>
      </p:sp>
      <p:sp>
        <p:nvSpPr>
          <p:cNvPr id="6" name="Text 4"/>
          <p:cNvSpPr/>
          <p:nvPr/>
        </p:nvSpPr>
        <p:spPr>
          <a:xfrm>
            <a:off x="3840480" y="1051560"/>
            <a:ext cx="4389120" cy="411480"/>
          </a:xfrm>
          <a:prstGeom prst="rect">
            <a:avLst/>
          </a:prstGeom>
          <a:noFill/>
          <a:ln/>
        </p:spPr>
        <p:txBody>
          <a:bodyPr wrap="square" rtlCol="0" anchor="ctr"/>
          <a:lstStyle/>
          <a:p>
            <a:pPr algn="ctr" indent="0" marL="0">
              <a:buNone/>
            </a:pPr>
            <a:r>
              <a:rPr lang="en-US" sz="900" b="1" dirty="0">
                <a:solidFill>
                  <a:srgbClr val="FFFFFF"/>
                </a:solidFill>
                <a:latin typeface="Source Han Sans SC" pitchFamily="34" charset="0"/>
                <a:ea typeface="Source Han Sans SC" pitchFamily="34" charset="-122"/>
                <a:cs typeface="Source Han Sans SC" pitchFamily="34" charset="-120"/>
              </a:rPr>
              <a:t>心理健康教育委员会（校级统筹）</a:t>
            </a:r>
            <a:endParaRPr lang="en-US" sz="900" dirty="0"/>
          </a:p>
        </p:txBody>
      </p:sp>
      <p:sp>
        <p:nvSpPr>
          <p:cNvPr id="7" name="Shape 5"/>
          <p:cNvSpPr/>
          <p:nvPr/>
        </p:nvSpPr>
        <p:spPr>
          <a:xfrm>
            <a:off x="6035040" y="1463040"/>
            <a:ext cx="18288" cy="274320"/>
          </a:xfrm>
          <a:prstGeom prst="rect">
            <a:avLst/>
          </a:prstGeom>
          <a:solidFill>
            <a:srgbClr val="E5E9F0"/>
          </a:solidFill>
          <a:ln/>
        </p:spPr>
      </p:sp>
      <p:sp>
        <p:nvSpPr>
          <p:cNvPr id="8" name="Shape 6"/>
          <p:cNvSpPr/>
          <p:nvPr/>
        </p:nvSpPr>
        <p:spPr>
          <a:xfrm>
            <a:off x="1828800" y="1737360"/>
            <a:ext cx="8412480" cy="18288"/>
          </a:xfrm>
          <a:prstGeom prst="rect">
            <a:avLst/>
          </a:prstGeom>
          <a:solidFill>
            <a:srgbClr val="E5E9F0"/>
          </a:solidFill>
          <a:ln/>
        </p:spPr>
      </p:sp>
      <p:sp>
        <p:nvSpPr>
          <p:cNvPr id="9" name="Shape 7"/>
          <p:cNvSpPr/>
          <p:nvPr/>
        </p:nvSpPr>
        <p:spPr>
          <a:xfrm>
            <a:off x="3200400" y="1737360"/>
            <a:ext cx="18288" cy="182880"/>
          </a:xfrm>
          <a:prstGeom prst="rect">
            <a:avLst/>
          </a:prstGeom>
          <a:solidFill>
            <a:srgbClr val="E5E9F0"/>
          </a:solidFill>
          <a:ln/>
        </p:spPr>
      </p:sp>
      <p:sp>
        <p:nvSpPr>
          <p:cNvPr id="10" name="Shape 8"/>
          <p:cNvSpPr/>
          <p:nvPr/>
        </p:nvSpPr>
        <p:spPr>
          <a:xfrm>
            <a:off x="6035040" y="1737360"/>
            <a:ext cx="18288" cy="182880"/>
          </a:xfrm>
          <a:prstGeom prst="rect">
            <a:avLst/>
          </a:prstGeom>
          <a:solidFill>
            <a:srgbClr val="E5E9F0"/>
          </a:solidFill>
          <a:ln/>
        </p:spPr>
      </p:sp>
      <p:sp>
        <p:nvSpPr>
          <p:cNvPr id="11" name="Shape 9"/>
          <p:cNvSpPr/>
          <p:nvPr/>
        </p:nvSpPr>
        <p:spPr>
          <a:xfrm>
            <a:off x="8869680" y="1737360"/>
            <a:ext cx="18288" cy="182880"/>
          </a:xfrm>
          <a:prstGeom prst="rect">
            <a:avLst/>
          </a:prstGeom>
          <a:solidFill>
            <a:srgbClr val="E5E9F0"/>
          </a:solidFill>
          <a:ln/>
        </p:spPr>
      </p:sp>
      <p:sp>
        <p:nvSpPr>
          <p:cNvPr id="12" name="Shape 10"/>
          <p:cNvSpPr/>
          <p:nvPr/>
        </p:nvSpPr>
        <p:spPr>
          <a:xfrm>
            <a:off x="1645920" y="2011680"/>
            <a:ext cx="2743200" cy="2560320"/>
          </a:xfrm>
          <a:prstGeom prst="roundRect">
            <a:avLst>
              <a:gd name="adj" fmla="val 1786"/>
            </a:avLst>
          </a:prstGeom>
          <a:solidFill>
            <a:srgbClr val="FFFFFF"/>
          </a:solidFill>
          <a:ln w="6350">
            <a:solidFill>
              <a:srgbClr val="E5E9F0"/>
            </a:solidFill>
            <a:prstDash val="solid"/>
          </a:ln>
        </p:spPr>
      </p:sp>
      <p:sp>
        <p:nvSpPr>
          <p:cNvPr id="13" name="Shape 11"/>
          <p:cNvSpPr/>
          <p:nvPr/>
        </p:nvSpPr>
        <p:spPr>
          <a:xfrm>
            <a:off x="1645920" y="2011680"/>
            <a:ext cx="2743200" cy="320040"/>
          </a:xfrm>
          <a:prstGeom prst="rect">
            <a:avLst/>
          </a:prstGeom>
          <a:solidFill>
            <a:srgbClr val="3A6EA5"/>
          </a:solidFill>
          <a:ln/>
        </p:spPr>
      </p:sp>
      <p:sp>
        <p:nvSpPr>
          <p:cNvPr id="14" name="Text 12"/>
          <p:cNvSpPr/>
          <p:nvPr/>
        </p:nvSpPr>
        <p:spPr>
          <a:xfrm>
            <a:off x="1645920" y="2011680"/>
            <a:ext cx="2743200" cy="320040"/>
          </a:xfrm>
          <a:prstGeom prst="rect">
            <a:avLst/>
          </a:prstGeom>
          <a:noFill/>
          <a:ln/>
        </p:spPr>
        <p:txBody>
          <a:bodyPr wrap="square" rtlCol="0" anchor="ctr"/>
          <a:lstStyle/>
          <a:p>
            <a:pPr algn="ctr" indent="0" marL="0">
              <a:buNone/>
            </a:pPr>
            <a:r>
              <a:rPr lang="en-US" sz="850" b="1" dirty="0">
                <a:solidFill>
                  <a:srgbClr val="FFFFFF"/>
                </a:solidFill>
                <a:latin typeface="Source Han Sans SC" pitchFamily="34" charset="0"/>
                <a:ea typeface="Source Han Sans SC" pitchFamily="34" charset="-122"/>
                <a:cs typeface="Source Han Sans SC" pitchFamily="34" charset="-120"/>
              </a:rPr>
              <a:t>心理支持体系</a:t>
            </a:r>
            <a:endParaRPr lang="en-US" sz="850" dirty="0"/>
          </a:p>
        </p:txBody>
      </p:sp>
      <p:sp>
        <p:nvSpPr>
          <p:cNvPr id="15" name="Shape 13"/>
          <p:cNvSpPr/>
          <p:nvPr/>
        </p:nvSpPr>
        <p:spPr>
          <a:xfrm>
            <a:off x="1755648" y="2423160"/>
            <a:ext cx="2523744" cy="347472"/>
          </a:xfrm>
          <a:prstGeom prst="roundRect">
            <a:avLst>
              <a:gd name="adj" fmla="val 7895"/>
            </a:avLst>
          </a:prstGeom>
          <a:solidFill>
            <a:srgbClr val="F7F9FC"/>
          </a:solidFill>
          <a:ln w="3810">
            <a:solidFill>
              <a:srgbClr val="3A6EA5"/>
            </a:solidFill>
            <a:prstDash val="solid"/>
          </a:ln>
        </p:spPr>
      </p:sp>
      <p:sp>
        <p:nvSpPr>
          <p:cNvPr id="16" name="Text 14"/>
          <p:cNvSpPr/>
          <p:nvPr/>
        </p:nvSpPr>
        <p:spPr>
          <a:xfrm>
            <a:off x="1847088" y="2423160"/>
            <a:ext cx="2340864" cy="347472"/>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专职心理教师不少于2人</a:t>
            </a:r>
            <a:endParaRPr lang="en-US" sz="750" dirty="0"/>
          </a:p>
        </p:txBody>
      </p:sp>
      <p:sp>
        <p:nvSpPr>
          <p:cNvPr id="17" name="Shape 15"/>
          <p:cNvSpPr/>
          <p:nvPr/>
        </p:nvSpPr>
        <p:spPr>
          <a:xfrm>
            <a:off x="1755648" y="2880360"/>
            <a:ext cx="2523744" cy="347472"/>
          </a:xfrm>
          <a:prstGeom prst="roundRect">
            <a:avLst>
              <a:gd name="adj" fmla="val 7895"/>
            </a:avLst>
          </a:prstGeom>
          <a:solidFill>
            <a:srgbClr val="F7F9FC"/>
          </a:solidFill>
          <a:ln w="3810">
            <a:solidFill>
              <a:srgbClr val="3A6EA5"/>
            </a:solidFill>
            <a:prstDash val="solid"/>
          </a:ln>
        </p:spPr>
      </p:sp>
      <p:sp>
        <p:nvSpPr>
          <p:cNvPr id="18" name="Text 16"/>
          <p:cNvSpPr/>
          <p:nvPr/>
        </p:nvSpPr>
        <p:spPr>
          <a:xfrm>
            <a:off x="1847088" y="2880360"/>
            <a:ext cx="2340864" cy="347472"/>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咨询室每日开放不少于4小时</a:t>
            </a:r>
            <a:endParaRPr lang="en-US" sz="750" dirty="0"/>
          </a:p>
        </p:txBody>
      </p:sp>
      <p:sp>
        <p:nvSpPr>
          <p:cNvPr id="19" name="Shape 17"/>
          <p:cNvSpPr/>
          <p:nvPr/>
        </p:nvSpPr>
        <p:spPr>
          <a:xfrm>
            <a:off x="1755648" y="3337560"/>
            <a:ext cx="2523744" cy="347472"/>
          </a:xfrm>
          <a:prstGeom prst="roundRect">
            <a:avLst>
              <a:gd name="adj" fmla="val 7895"/>
            </a:avLst>
          </a:prstGeom>
          <a:solidFill>
            <a:srgbClr val="F7F9FC"/>
          </a:solidFill>
          <a:ln w="3810">
            <a:solidFill>
              <a:srgbClr val="3A6EA5"/>
            </a:solidFill>
            <a:prstDash val="solid"/>
          </a:ln>
        </p:spPr>
      </p:sp>
      <p:sp>
        <p:nvSpPr>
          <p:cNvPr id="20" name="Text 18"/>
          <p:cNvSpPr/>
          <p:nvPr/>
        </p:nvSpPr>
        <p:spPr>
          <a:xfrm>
            <a:off x="1847088" y="3337560"/>
            <a:ext cx="2340864" cy="347472"/>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筛查-干预-跟踪闭环</a:t>
            </a:r>
            <a:endParaRPr lang="en-US" sz="750" dirty="0"/>
          </a:p>
        </p:txBody>
      </p:sp>
      <p:sp>
        <p:nvSpPr>
          <p:cNvPr id="21" name="Shape 19"/>
          <p:cNvSpPr/>
          <p:nvPr/>
        </p:nvSpPr>
        <p:spPr>
          <a:xfrm>
            <a:off x="1755648" y="3794760"/>
            <a:ext cx="2523744" cy="347472"/>
          </a:xfrm>
          <a:prstGeom prst="roundRect">
            <a:avLst>
              <a:gd name="adj" fmla="val 7895"/>
            </a:avLst>
          </a:prstGeom>
          <a:solidFill>
            <a:srgbClr val="F7F9FC"/>
          </a:solidFill>
          <a:ln w="3810">
            <a:solidFill>
              <a:srgbClr val="3A6EA5"/>
            </a:solidFill>
            <a:prstDash val="solid"/>
          </a:ln>
        </p:spPr>
      </p:sp>
      <p:sp>
        <p:nvSpPr>
          <p:cNvPr id="22" name="Text 20"/>
          <p:cNvSpPr/>
          <p:nvPr/>
        </p:nvSpPr>
        <p:spPr>
          <a:xfrm>
            <a:off x="1847088" y="3794760"/>
            <a:ext cx="2340864" cy="347472"/>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学生心理档案全覆盖</a:t>
            </a:r>
            <a:endParaRPr lang="en-US" sz="750" dirty="0"/>
          </a:p>
        </p:txBody>
      </p:sp>
      <p:sp>
        <p:nvSpPr>
          <p:cNvPr id="23" name="Shape 21"/>
          <p:cNvSpPr/>
          <p:nvPr/>
        </p:nvSpPr>
        <p:spPr>
          <a:xfrm>
            <a:off x="4480560" y="2011680"/>
            <a:ext cx="2743200" cy="2560320"/>
          </a:xfrm>
          <a:prstGeom prst="roundRect">
            <a:avLst>
              <a:gd name="adj" fmla="val 1786"/>
            </a:avLst>
          </a:prstGeom>
          <a:solidFill>
            <a:srgbClr val="FFFFFF"/>
          </a:solidFill>
          <a:ln w="6350">
            <a:solidFill>
              <a:srgbClr val="E5E9F0"/>
            </a:solidFill>
            <a:prstDash val="solid"/>
          </a:ln>
        </p:spPr>
      </p:sp>
      <p:sp>
        <p:nvSpPr>
          <p:cNvPr id="24" name="Shape 22"/>
          <p:cNvSpPr/>
          <p:nvPr/>
        </p:nvSpPr>
        <p:spPr>
          <a:xfrm>
            <a:off x="4480560" y="2011680"/>
            <a:ext cx="2743200" cy="320040"/>
          </a:xfrm>
          <a:prstGeom prst="rect">
            <a:avLst/>
          </a:prstGeom>
          <a:solidFill>
            <a:srgbClr val="5C9BD4"/>
          </a:solidFill>
          <a:ln/>
        </p:spPr>
      </p:sp>
      <p:sp>
        <p:nvSpPr>
          <p:cNvPr id="25" name="Text 23"/>
          <p:cNvSpPr/>
          <p:nvPr/>
        </p:nvSpPr>
        <p:spPr>
          <a:xfrm>
            <a:off x="4480560" y="2011680"/>
            <a:ext cx="2743200" cy="320040"/>
          </a:xfrm>
          <a:prstGeom prst="rect">
            <a:avLst/>
          </a:prstGeom>
          <a:noFill/>
          <a:ln/>
        </p:spPr>
        <p:txBody>
          <a:bodyPr wrap="square" rtlCol="0" anchor="ctr"/>
          <a:lstStyle/>
          <a:p>
            <a:pPr algn="ctr" indent="0" marL="0">
              <a:buNone/>
            </a:pPr>
            <a:r>
              <a:rPr lang="en-US" sz="850" b="1" dirty="0">
                <a:solidFill>
                  <a:srgbClr val="FFFFFF"/>
                </a:solidFill>
                <a:latin typeface="Source Han Sans SC" pitchFamily="34" charset="0"/>
                <a:ea typeface="Source Han Sans SC" pitchFamily="34" charset="-122"/>
                <a:cs typeface="Source Han Sans SC" pitchFamily="34" charset="-120"/>
              </a:rPr>
              <a:t>心理教育体系</a:t>
            </a:r>
            <a:endParaRPr lang="en-US" sz="850" dirty="0"/>
          </a:p>
        </p:txBody>
      </p:sp>
      <p:sp>
        <p:nvSpPr>
          <p:cNvPr id="26" name="Shape 24"/>
          <p:cNvSpPr/>
          <p:nvPr/>
        </p:nvSpPr>
        <p:spPr>
          <a:xfrm>
            <a:off x="4590288" y="2423160"/>
            <a:ext cx="2523744" cy="347472"/>
          </a:xfrm>
          <a:prstGeom prst="roundRect">
            <a:avLst>
              <a:gd name="adj" fmla="val 7895"/>
            </a:avLst>
          </a:prstGeom>
          <a:solidFill>
            <a:srgbClr val="F7F9FC"/>
          </a:solidFill>
          <a:ln w="3810">
            <a:solidFill>
              <a:srgbClr val="5C9BD4"/>
            </a:solidFill>
            <a:prstDash val="solid"/>
          </a:ln>
        </p:spPr>
      </p:sp>
      <p:sp>
        <p:nvSpPr>
          <p:cNvPr id="27" name="Text 25"/>
          <p:cNvSpPr/>
          <p:nvPr/>
        </p:nvSpPr>
        <p:spPr>
          <a:xfrm>
            <a:off x="4681728" y="2423160"/>
            <a:ext cx="2340864" cy="347472"/>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心理必修课程（14课时/学期）</a:t>
            </a:r>
            <a:endParaRPr lang="en-US" sz="750" dirty="0"/>
          </a:p>
        </p:txBody>
      </p:sp>
      <p:sp>
        <p:nvSpPr>
          <p:cNvPr id="28" name="Shape 26"/>
          <p:cNvSpPr/>
          <p:nvPr/>
        </p:nvSpPr>
        <p:spPr>
          <a:xfrm>
            <a:off x="4590288" y="2880360"/>
            <a:ext cx="2523744" cy="347472"/>
          </a:xfrm>
          <a:prstGeom prst="roundRect">
            <a:avLst>
              <a:gd name="adj" fmla="val 7895"/>
            </a:avLst>
          </a:prstGeom>
          <a:solidFill>
            <a:srgbClr val="F7F9FC"/>
          </a:solidFill>
          <a:ln w="3810">
            <a:solidFill>
              <a:srgbClr val="5C9BD4"/>
            </a:solidFill>
            <a:prstDash val="solid"/>
          </a:ln>
        </p:spPr>
      </p:sp>
      <p:sp>
        <p:nvSpPr>
          <p:cNvPr id="29" name="Text 27"/>
          <p:cNvSpPr/>
          <p:nvPr/>
        </p:nvSpPr>
        <p:spPr>
          <a:xfrm>
            <a:off x="4681728" y="2880360"/>
            <a:ext cx="2340864" cy="347472"/>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班级心理委员制度</a:t>
            </a:r>
            <a:endParaRPr lang="en-US" sz="750" dirty="0"/>
          </a:p>
        </p:txBody>
      </p:sp>
      <p:sp>
        <p:nvSpPr>
          <p:cNvPr id="30" name="Shape 28"/>
          <p:cNvSpPr/>
          <p:nvPr/>
        </p:nvSpPr>
        <p:spPr>
          <a:xfrm>
            <a:off x="4590288" y="3337560"/>
            <a:ext cx="2523744" cy="347472"/>
          </a:xfrm>
          <a:prstGeom prst="roundRect">
            <a:avLst>
              <a:gd name="adj" fmla="val 7895"/>
            </a:avLst>
          </a:prstGeom>
          <a:solidFill>
            <a:srgbClr val="F7F9FC"/>
          </a:solidFill>
          <a:ln w="3810">
            <a:solidFill>
              <a:srgbClr val="5C9BD4"/>
            </a:solidFill>
            <a:prstDash val="solid"/>
          </a:ln>
        </p:spPr>
      </p:sp>
      <p:sp>
        <p:nvSpPr>
          <p:cNvPr id="31" name="Text 29"/>
          <p:cNvSpPr/>
          <p:nvPr/>
        </p:nvSpPr>
        <p:spPr>
          <a:xfrm>
            <a:off x="4681728" y="3337560"/>
            <a:ext cx="2340864" cy="347472"/>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心理社团与主题活动</a:t>
            </a:r>
            <a:endParaRPr lang="en-US" sz="750" dirty="0"/>
          </a:p>
        </p:txBody>
      </p:sp>
      <p:sp>
        <p:nvSpPr>
          <p:cNvPr id="32" name="Shape 30"/>
          <p:cNvSpPr/>
          <p:nvPr/>
        </p:nvSpPr>
        <p:spPr>
          <a:xfrm>
            <a:off x="4590288" y="3794760"/>
            <a:ext cx="2523744" cy="347472"/>
          </a:xfrm>
          <a:prstGeom prst="roundRect">
            <a:avLst>
              <a:gd name="adj" fmla="val 7895"/>
            </a:avLst>
          </a:prstGeom>
          <a:solidFill>
            <a:srgbClr val="F7F9FC"/>
          </a:solidFill>
          <a:ln w="3810">
            <a:solidFill>
              <a:srgbClr val="5C9BD4"/>
            </a:solidFill>
            <a:prstDash val="solid"/>
          </a:ln>
        </p:spPr>
      </p:sp>
      <p:sp>
        <p:nvSpPr>
          <p:cNvPr id="33" name="Text 31"/>
          <p:cNvSpPr/>
          <p:nvPr/>
        </p:nvSpPr>
        <p:spPr>
          <a:xfrm>
            <a:off x="4681728" y="3794760"/>
            <a:ext cx="2340864" cy="347472"/>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朋辈互助热线</a:t>
            </a:r>
            <a:endParaRPr lang="en-US" sz="750" dirty="0"/>
          </a:p>
        </p:txBody>
      </p:sp>
      <p:sp>
        <p:nvSpPr>
          <p:cNvPr id="34" name="Shape 32"/>
          <p:cNvSpPr/>
          <p:nvPr/>
        </p:nvSpPr>
        <p:spPr>
          <a:xfrm>
            <a:off x="7315200" y="2011680"/>
            <a:ext cx="2743200" cy="2560320"/>
          </a:xfrm>
          <a:prstGeom prst="roundRect">
            <a:avLst>
              <a:gd name="adj" fmla="val 1786"/>
            </a:avLst>
          </a:prstGeom>
          <a:solidFill>
            <a:srgbClr val="FFFFFF"/>
          </a:solidFill>
          <a:ln w="6350">
            <a:solidFill>
              <a:srgbClr val="E5E9F0"/>
            </a:solidFill>
            <a:prstDash val="solid"/>
          </a:ln>
        </p:spPr>
      </p:sp>
      <p:sp>
        <p:nvSpPr>
          <p:cNvPr id="35" name="Shape 33"/>
          <p:cNvSpPr/>
          <p:nvPr/>
        </p:nvSpPr>
        <p:spPr>
          <a:xfrm>
            <a:off x="7315200" y="2011680"/>
            <a:ext cx="2743200" cy="320040"/>
          </a:xfrm>
          <a:prstGeom prst="rect">
            <a:avLst/>
          </a:prstGeom>
          <a:solidFill>
            <a:srgbClr val="6DA8E0"/>
          </a:solidFill>
          <a:ln/>
        </p:spPr>
      </p:sp>
      <p:sp>
        <p:nvSpPr>
          <p:cNvPr id="36" name="Text 34"/>
          <p:cNvSpPr/>
          <p:nvPr/>
        </p:nvSpPr>
        <p:spPr>
          <a:xfrm>
            <a:off x="7315200" y="2011680"/>
            <a:ext cx="2743200" cy="320040"/>
          </a:xfrm>
          <a:prstGeom prst="rect">
            <a:avLst/>
          </a:prstGeom>
          <a:noFill/>
          <a:ln/>
        </p:spPr>
        <p:txBody>
          <a:bodyPr wrap="square" rtlCol="0" anchor="ctr"/>
          <a:lstStyle/>
          <a:p>
            <a:pPr algn="ctr" indent="0" marL="0">
              <a:buNone/>
            </a:pPr>
            <a:r>
              <a:rPr lang="en-US" sz="850" b="1" dirty="0">
                <a:solidFill>
                  <a:srgbClr val="FFFFFF"/>
                </a:solidFill>
                <a:latin typeface="Source Han Sans SC" pitchFamily="34" charset="0"/>
                <a:ea typeface="Source Han Sans SC" pitchFamily="34" charset="-122"/>
                <a:cs typeface="Source Han Sans SC" pitchFamily="34" charset="-120"/>
              </a:rPr>
              <a:t>协同保障体系</a:t>
            </a:r>
            <a:endParaRPr lang="en-US" sz="850" dirty="0"/>
          </a:p>
        </p:txBody>
      </p:sp>
      <p:sp>
        <p:nvSpPr>
          <p:cNvPr id="37" name="Shape 35"/>
          <p:cNvSpPr/>
          <p:nvPr/>
        </p:nvSpPr>
        <p:spPr>
          <a:xfrm>
            <a:off x="7424928" y="2423160"/>
            <a:ext cx="2523744" cy="347472"/>
          </a:xfrm>
          <a:prstGeom prst="roundRect">
            <a:avLst>
              <a:gd name="adj" fmla="val 7895"/>
            </a:avLst>
          </a:prstGeom>
          <a:solidFill>
            <a:srgbClr val="F7F9FC"/>
          </a:solidFill>
          <a:ln w="3810">
            <a:solidFill>
              <a:srgbClr val="6DA8E0"/>
            </a:solidFill>
            <a:prstDash val="solid"/>
          </a:ln>
        </p:spPr>
      </p:sp>
      <p:sp>
        <p:nvSpPr>
          <p:cNvPr id="38" name="Text 36"/>
          <p:cNvSpPr/>
          <p:nvPr/>
        </p:nvSpPr>
        <p:spPr>
          <a:xfrm>
            <a:off x="7516368" y="2423160"/>
            <a:ext cx="2340864" cy="347472"/>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家校联络员制度</a:t>
            </a:r>
            <a:endParaRPr lang="en-US" sz="750" dirty="0"/>
          </a:p>
        </p:txBody>
      </p:sp>
      <p:sp>
        <p:nvSpPr>
          <p:cNvPr id="39" name="Shape 37"/>
          <p:cNvSpPr/>
          <p:nvPr/>
        </p:nvSpPr>
        <p:spPr>
          <a:xfrm>
            <a:off x="7424928" y="2880360"/>
            <a:ext cx="2523744" cy="347472"/>
          </a:xfrm>
          <a:prstGeom prst="roundRect">
            <a:avLst>
              <a:gd name="adj" fmla="val 7895"/>
            </a:avLst>
          </a:prstGeom>
          <a:solidFill>
            <a:srgbClr val="F7F9FC"/>
          </a:solidFill>
          <a:ln w="3810">
            <a:solidFill>
              <a:srgbClr val="6DA8E0"/>
            </a:solidFill>
            <a:prstDash val="solid"/>
          </a:ln>
        </p:spPr>
      </p:sp>
      <p:sp>
        <p:nvSpPr>
          <p:cNvPr id="40" name="Text 38"/>
          <p:cNvSpPr/>
          <p:nvPr/>
        </p:nvSpPr>
        <p:spPr>
          <a:xfrm>
            <a:off x="7516368" y="2880360"/>
            <a:ext cx="2340864" cy="347472"/>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家长心理培训课程</a:t>
            </a:r>
            <a:endParaRPr lang="en-US" sz="750" dirty="0"/>
          </a:p>
        </p:txBody>
      </p:sp>
      <p:sp>
        <p:nvSpPr>
          <p:cNvPr id="41" name="Shape 39"/>
          <p:cNvSpPr/>
          <p:nvPr/>
        </p:nvSpPr>
        <p:spPr>
          <a:xfrm>
            <a:off x="7424928" y="3337560"/>
            <a:ext cx="2523744" cy="347472"/>
          </a:xfrm>
          <a:prstGeom prst="roundRect">
            <a:avLst>
              <a:gd name="adj" fmla="val 7895"/>
            </a:avLst>
          </a:prstGeom>
          <a:solidFill>
            <a:srgbClr val="F7F9FC"/>
          </a:solidFill>
          <a:ln w="3810">
            <a:solidFill>
              <a:srgbClr val="6DA8E0"/>
            </a:solidFill>
            <a:prstDash val="solid"/>
          </a:ln>
        </p:spPr>
      </p:sp>
      <p:sp>
        <p:nvSpPr>
          <p:cNvPr id="42" name="Text 40"/>
          <p:cNvSpPr/>
          <p:nvPr/>
        </p:nvSpPr>
        <p:spPr>
          <a:xfrm>
            <a:off x="7516368" y="3337560"/>
            <a:ext cx="2340864" cy="347472"/>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社区心理资源对接</a:t>
            </a:r>
            <a:endParaRPr lang="en-US" sz="750" dirty="0"/>
          </a:p>
        </p:txBody>
      </p:sp>
      <p:sp>
        <p:nvSpPr>
          <p:cNvPr id="43" name="Shape 41"/>
          <p:cNvSpPr/>
          <p:nvPr/>
        </p:nvSpPr>
        <p:spPr>
          <a:xfrm>
            <a:off x="7424928" y="3794760"/>
            <a:ext cx="2523744" cy="347472"/>
          </a:xfrm>
          <a:prstGeom prst="roundRect">
            <a:avLst>
              <a:gd name="adj" fmla="val 7895"/>
            </a:avLst>
          </a:prstGeom>
          <a:solidFill>
            <a:srgbClr val="F7F9FC"/>
          </a:solidFill>
          <a:ln w="3810">
            <a:solidFill>
              <a:srgbClr val="6DA8E0"/>
            </a:solidFill>
            <a:prstDash val="solid"/>
          </a:ln>
        </p:spPr>
      </p:sp>
      <p:sp>
        <p:nvSpPr>
          <p:cNvPr id="44" name="Text 42"/>
          <p:cNvSpPr/>
          <p:nvPr/>
        </p:nvSpPr>
        <p:spPr>
          <a:xfrm>
            <a:off x="7516368" y="3794760"/>
            <a:ext cx="2340864" cy="347472"/>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危机转介绿色通道</a:t>
            </a:r>
            <a:endParaRPr lang="en-US" sz="750" dirty="0"/>
          </a:p>
        </p:txBody>
      </p:sp>
      <p:sp>
        <p:nvSpPr>
          <p:cNvPr id="45" name="Shape 43"/>
          <p:cNvSpPr/>
          <p:nvPr/>
        </p:nvSpPr>
        <p:spPr>
          <a:xfrm>
            <a:off x="594360" y="4846320"/>
            <a:ext cx="11000232" cy="640080"/>
          </a:xfrm>
          <a:prstGeom prst="roundRect">
            <a:avLst>
              <a:gd name="adj" fmla="val 5714"/>
            </a:avLst>
          </a:prstGeom>
          <a:solidFill>
            <a:srgbClr val="1E2A38"/>
          </a:solidFill>
          <a:ln/>
        </p:spPr>
      </p:sp>
      <p:sp>
        <p:nvSpPr>
          <p:cNvPr id="46" name="Text 44"/>
          <p:cNvSpPr/>
          <p:nvPr/>
        </p:nvSpPr>
        <p:spPr>
          <a:xfrm>
            <a:off x="777240" y="4873752"/>
            <a:ext cx="2743200" cy="228600"/>
          </a:xfrm>
          <a:prstGeom prst="rect">
            <a:avLst/>
          </a:prstGeom>
          <a:noFill/>
          <a:ln/>
        </p:spPr>
        <p:txBody>
          <a:bodyPr wrap="square" rtlCol="0" anchor="ctr"/>
          <a:lstStyle/>
          <a:p>
            <a:pPr indent="0" marL="0">
              <a:buNone/>
            </a:pPr>
            <a:r>
              <a:rPr lang="en-US" sz="900" b="1" dirty="0">
                <a:solidFill>
                  <a:srgbClr val="D98E04"/>
                </a:solidFill>
                <a:latin typeface="Source Han Sans SC" pitchFamily="34" charset="0"/>
                <a:ea typeface="Source Han Sans SC" pitchFamily="34" charset="-122"/>
                <a:cs typeface="Source Han Sans SC" pitchFamily="34" charset="-120"/>
              </a:rPr>
              <a:t>运行保障机制</a:t>
            </a:r>
            <a:endParaRPr lang="en-US" sz="900" dirty="0"/>
          </a:p>
        </p:txBody>
      </p:sp>
      <p:sp>
        <p:nvSpPr>
          <p:cNvPr id="47" name="Text 45"/>
          <p:cNvSpPr/>
          <p:nvPr/>
        </p:nvSpPr>
        <p:spPr>
          <a:xfrm>
            <a:off x="777240" y="5102352"/>
            <a:ext cx="10634472" cy="320040"/>
          </a:xfrm>
          <a:prstGeom prst="rect">
            <a:avLst/>
          </a:prstGeom>
          <a:noFill/>
          <a:ln/>
        </p:spPr>
        <p:txBody>
          <a:bodyPr wrap="square" rtlCol="0" anchor="ctr"/>
          <a:lstStyle/>
          <a:p>
            <a:pPr algn="ctr" indent="0" marL="0">
              <a:lnSpc>
                <a:spcPts val="1200"/>
              </a:lnSpc>
              <a:buNone/>
            </a:pPr>
            <a:r>
              <a:rPr lang="en-US" sz="800" dirty="0">
                <a:solidFill>
                  <a:srgbClr val="FFFFFF"/>
                </a:solidFill>
                <a:latin typeface="Source Han Sans SC" pitchFamily="34" charset="0"/>
                <a:ea typeface="Source Han Sans SC" pitchFamily="34" charset="-122"/>
                <a:cs typeface="Source Han Sans SC" pitchFamily="34" charset="-120"/>
              </a:rPr>
              <a:t>经费保障（公用经费不低于3%）| 教师培训（每学期不少于2次）| 信息管理（数据严格保密）| 年度评估（指标驱动持续改进）</a:t>
            </a:r>
            <a:endParaRPr lang="en-US" sz="800" dirty="0"/>
          </a:p>
        </p:txBody>
      </p:sp>
      <p:sp>
        <p:nvSpPr>
          <p:cNvPr id="48" name="Text 46"/>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18/23</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实施路线图与配套机制</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Implementation Roadmap</a:t>
            </a:r>
            <a:endParaRPr lang="en-US" sz="1000" dirty="0"/>
          </a:p>
        </p:txBody>
      </p:sp>
      <p:sp>
        <p:nvSpPr>
          <p:cNvPr id="5" name="Shape 3"/>
          <p:cNvSpPr/>
          <p:nvPr/>
        </p:nvSpPr>
        <p:spPr>
          <a:xfrm>
            <a:off x="594360" y="1097280"/>
            <a:ext cx="1280160" cy="274320"/>
          </a:xfrm>
          <a:prstGeom prst="roundRect">
            <a:avLst>
              <a:gd name="adj" fmla="val 13333"/>
            </a:avLst>
          </a:prstGeom>
          <a:solidFill>
            <a:srgbClr val="3A6EA5"/>
          </a:solidFill>
          <a:ln/>
        </p:spPr>
      </p:sp>
      <p:sp>
        <p:nvSpPr>
          <p:cNvPr id="6" name="Text 4"/>
          <p:cNvSpPr/>
          <p:nvPr/>
        </p:nvSpPr>
        <p:spPr>
          <a:xfrm>
            <a:off x="594360" y="1097280"/>
            <a:ext cx="1280160" cy="274320"/>
          </a:xfrm>
          <a:prstGeom prst="rect">
            <a:avLst/>
          </a:prstGeom>
          <a:noFill/>
          <a:ln/>
        </p:spPr>
        <p:txBody>
          <a:bodyPr wrap="square" rtlCol="0" anchor="ctr"/>
          <a:lstStyle/>
          <a:p>
            <a:pPr algn="ctr" indent="0" marL="0">
              <a:buNone/>
            </a:pPr>
            <a:r>
              <a:rPr lang="en-US" sz="850" b="1" dirty="0">
                <a:solidFill>
                  <a:srgbClr val="FFFFFF"/>
                </a:solidFill>
                <a:latin typeface="Source Han Sans SC" pitchFamily="34" charset="0"/>
                <a:ea typeface="Source Han Sans SC" pitchFamily="34" charset="-122"/>
                <a:cs typeface="Source Han Sans SC" pitchFamily="34" charset="-120"/>
              </a:rPr>
              <a:t>第一阶段</a:t>
            </a:r>
            <a:endParaRPr lang="en-US" sz="850" dirty="0"/>
          </a:p>
        </p:txBody>
      </p:sp>
      <p:sp>
        <p:nvSpPr>
          <p:cNvPr id="7" name="Text 5"/>
          <p:cNvSpPr/>
          <p:nvPr/>
        </p:nvSpPr>
        <p:spPr>
          <a:xfrm>
            <a:off x="2011680" y="1097280"/>
            <a:ext cx="1554480" cy="274320"/>
          </a:xfrm>
          <a:prstGeom prst="rect">
            <a:avLst/>
          </a:prstGeom>
          <a:noFill/>
          <a:ln/>
        </p:spPr>
        <p:txBody>
          <a:bodyPr wrap="square" rtlCol="0" anchor="ctr"/>
          <a:lstStyle/>
          <a:p>
            <a:pPr indent="0" marL="0">
              <a:buNone/>
            </a:pPr>
            <a:r>
              <a:rPr lang="en-US" sz="800" dirty="0">
                <a:solidFill>
                  <a:srgbClr val="8899AA"/>
                </a:solidFill>
                <a:latin typeface="Source Han Sans SC" pitchFamily="34" charset="0"/>
                <a:ea typeface="Source Han Sans SC" pitchFamily="34" charset="-122"/>
                <a:cs typeface="Source Han Sans SC" pitchFamily="34" charset="-120"/>
              </a:rPr>
              <a:t>2026.09-2027.01</a:t>
            </a:r>
            <a:endParaRPr lang="en-US" sz="800" dirty="0"/>
          </a:p>
        </p:txBody>
      </p:sp>
      <p:sp>
        <p:nvSpPr>
          <p:cNvPr id="8" name="Shape 6"/>
          <p:cNvSpPr/>
          <p:nvPr/>
        </p:nvSpPr>
        <p:spPr>
          <a:xfrm>
            <a:off x="594360" y="1444752"/>
            <a:ext cx="11000232" cy="640080"/>
          </a:xfrm>
          <a:prstGeom prst="roundRect">
            <a:avLst>
              <a:gd name="adj" fmla="val 7143"/>
            </a:avLst>
          </a:prstGeom>
          <a:solidFill>
            <a:srgbClr val="FFFFFF"/>
          </a:solidFill>
          <a:ln w="6350">
            <a:solidFill>
              <a:srgbClr val="E5E9F0"/>
            </a:solidFill>
            <a:prstDash val="solid"/>
          </a:ln>
        </p:spPr>
      </p:sp>
      <p:sp>
        <p:nvSpPr>
          <p:cNvPr id="9" name="Text 7"/>
          <p:cNvSpPr/>
          <p:nvPr/>
        </p:nvSpPr>
        <p:spPr>
          <a:xfrm>
            <a:off x="777240" y="1481328"/>
            <a:ext cx="10634472" cy="566928"/>
          </a:xfrm>
          <a:prstGeom prst="rect">
            <a:avLst/>
          </a:prstGeom>
          <a:noFill/>
          <a:ln/>
        </p:spPr>
        <p:txBody>
          <a:bodyPr wrap="square" rtlCol="0" anchor="ctr"/>
          <a:lstStyle/>
          <a:p>
            <a:pPr indent="0" marL="0">
              <a:lnSpc>
                <a:spcPts val="1200"/>
              </a:lnSpc>
              <a:buNone/>
            </a:pPr>
            <a:r>
              <a:rPr lang="en-US" sz="800" dirty="0">
                <a:solidFill>
                  <a:srgbClr val="1E2A38"/>
                </a:solidFill>
                <a:latin typeface="Source Han Sans SC" pitchFamily="34" charset="0"/>
                <a:ea typeface="Source Han Sans SC" pitchFamily="34" charset="-122"/>
                <a:cs typeface="Source Han Sans SC" pitchFamily="34" charset="-120"/>
              </a:rPr>
              <a:t>心理教师招聘与培训、心理咨询室标准化改造、心理委员选拔培训启动、家校联络员制度试点</a:t>
            </a:r>
            <a:endParaRPr lang="en-US" sz="800" dirty="0"/>
          </a:p>
        </p:txBody>
      </p:sp>
      <p:sp>
        <p:nvSpPr>
          <p:cNvPr id="10" name="Shape 8"/>
          <p:cNvSpPr/>
          <p:nvPr/>
        </p:nvSpPr>
        <p:spPr>
          <a:xfrm>
            <a:off x="594360" y="2240280"/>
            <a:ext cx="1280160" cy="274320"/>
          </a:xfrm>
          <a:prstGeom prst="roundRect">
            <a:avLst>
              <a:gd name="adj" fmla="val 13333"/>
            </a:avLst>
          </a:prstGeom>
          <a:solidFill>
            <a:srgbClr val="5C9BD4"/>
          </a:solidFill>
          <a:ln/>
        </p:spPr>
      </p:sp>
      <p:sp>
        <p:nvSpPr>
          <p:cNvPr id="11" name="Text 9"/>
          <p:cNvSpPr/>
          <p:nvPr/>
        </p:nvSpPr>
        <p:spPr>
          <a:xfrm>
            <a:off x="594360" y="2240280"/>
            <a:ext cx="1280160" cy="274320"/>
          </a:xfrm>
          <a:prstGeom prst="rect">
            <a:avLst/>
          </a:prstGeom>
          <a:noFill/>
          <a:ln/>
        </p:spPr>
        <p:txBody>
          <a:bodyPr wrap="square" rtlCol="0" anchor="ctr"/>
          <a:lstStyle/>
          <a:p>
            <a:pPr algn="ctr" indent="0" marL="0">
              <a:buNone/>
            </a:pPr>
            <a:r>
              <a:rPr lang="en-US" sz="850" b="1" dirty="0">
                <a:solidFill>
                  <a:srgbClr val="FFFFFF"/>
                </a:solidFill>
                <a:latin typeface="Source Han Sans SC" pitchFamily="34" charset="0"/>
                <a:ea typeface="Source Han Sans SC" pitchFamily="34" charset="-122"/>
                <a:cs typeface="Source Han Sans SC" pitchFamily="34" charset="-120"/>
              </a:rPr>
              <a:t>第二阶段</a:t>
            </a:r>
            <a:endParaRPr lang="en-US" sz="850" dirty="0"/>
          </a:p>
        </p:txBody>
      </p:sp>
      <p:sp>
        <p:nvSpPr>
          <p:cNvPr id="12" name="Text 10"/>
          <p:cNvSpPr/>
          <p:nvPr/>
        </p:nvSpPr>
        <p:spPr>
          <a:xfrm>
            <a:off x="2011680" y="2240280"/>
            <a:ext cx="1554480" cy="274320"/>
          </a:xfrm>
          <a:prstGeom prst="rect">
            <a:avLst/>
          </a:prstGeom>
          <a:noFill/>
          <a:ln/>
        </p:spPr>
        <p:txBody>
          <a:bodyPr wrap="square" rtlCol="0" anchor="ctr"/>
          <a:lstStyle/>
          <a:p>
            <a:pPr indent="0" marL="0">
              <a:buNone/>
            </a:pPr>
            <a:r>
              <a:rPr lang="en-US" sz="800" dirty="0">
                <a:solidFill>
                  <a:srgbClr val="8899AA"/>
                </a:solidFill>
                <a:latin typeface="Source Han Sans SC" pitchFamily="34" charset="0"/>
                <a:ea typeface="Source Han Sans SC" pitchFamily="34" charset="-122"/>
                <a:cs typeface="Source Han Sans SC" pitchFamily="34" charset="-120"/>
              </a:rPr>
              <a:t>2027.02-2027.06</a:t>
            </a:r>
            <a:endParaRPr lang="en-US" sz="800" dirty="0"/>
          </a:p>
        </p:txBody>
      </p:sp>
      <p:sp>
        <p:nvSpPr>
          <p:cNvPr id="13" name="Shape 11"/>
          <p:cNvSpPr/>
          <p:nvPr/>
        </p:nvSpPr>
        <p:spPr>
          <a:xfrm>
            <a:off x="594360" y="2587752"/>
            <a:ext cx="11000232" cy="640080"/>
          </a:xfrm>
          <a:prstGeom prst="roundRect">
            <a:avLst>
              <a:gd name="adj" fmla="val 7143"/>
            </a:avLst>
          </a:prstGeom>
          <a:solidFill>
            <a:srgbClr val="FFFFFF"/>
          </a:solidFill>
          <a:ln w="6350">
            <a:solidFill>
              <a:srgbClr val="E5E9F0"/>
            </a:solidFill>
            <a:prstDash val="solid"/>
          </a:ln>
        </p:spPr>
      </p:sp>
      <p:sp>
        <p:nvSpPr>
          <p:cNvPr id="14" name="Text 12"/>
          <p:cNvSpPr/>
          <p:nvPr/>
        </p:nvSpPr>
        <p:spPr>
          <a:xfrm>
            <a:off x="777240" y="2624328"/>
            <a:ext cx="10634472" cy="566928"/>
          </a:xfrm>
          <a:prstGeom prst="rect">
            <a:avLst/>
          </a:prstGeom>
          <a:noFill/>
          <a:ln/>
        </p:spPr>
        <p:txBody>
          <a:bodyPr wrap="square" rtlCol="0" anchor="ctr"/>
          <a:lstStyle/>
          <a:p>
            <a:pPr indent="0" marL="0">
              <a:lnSpc>
                <a:spcPts val="1200"/>
              </a:lnSpc>
              <a:buNone/>
            </a:pPr>
            <a:r>
              <a:rPr lang="en-US" sz="800" dirty="0">
                <a:solidFill>
                  <a:srgbClr val="1E2A38"/>
                </a:solidFill>
                <a:latin typeface="Source Han Sans SC" pitchFamily="34" charset="0"/>
                <a:ea typeface="Source Han Sans SC" pitchFamily="34" charset="-122"/>
                <a:cs typeface="Source Han Sans SC" pitchFamily="34" charset="-120"/>
              </a:rPr>
              <a:t>心理必修课程全面开设、心理测评与档案全覆盖、心理委员制度全校推广、首次家长培训完成</a:t>
            </a:r>
            <a:endParaRPr lang="en-US" sz="800" dirty="0"/>
          </a:p>
        </p:txBody>
      </p:sp>
      <p:sp>
        <p:nvSpPr>
          <p:cNvPr id="15" name="Shape 13"/>
          <p:cNvSpPr/>
          <p:nvPr/>
        </p:nvSpPr>
        <p:spPr>
          <a:xfrm>
            <a:off x="594360" y="3383280"/>
            <a:ext cx="1280160" cy="274320"/>
          </a:xfrm>
          <a:prstGeom prst="roundRect">
            <a:avLst>
              <a:gd name="adj" fmla="val 13333"/>
            </a:avLst>
          </a:prstGeom>
          <a:solidFill>
            <a:srgbClr val="6DA8E0"/>
          </a:solidFill>
          <a:ln/>
        </p:spPr>
      </p:sp>
      <p:sp>
        <p:nvSpPr>
          <p:cNvPr id="16" name="Text 14"/>
          <p:cNvSpPr/>
          <p:nvPr/>
        </p:nvSpPr>
        <p:spPr>
          <a:xfrm>
            <a:off x="594360" y="3383280"/>
            <a:ext cx="1280160" cy="274320"/>
          </a:xfrm>
          <a:prstGeom prst="rect">
            <a:avLst/>
          </a:prstGeom>
          <a:noFill/>
          <a:ln/>
        </p:spPr>
        <p:txBody>
          <a:bodyPr wrap="square" rtlCol="0" anchor="ctr"/>
          <a:lstStyle/>
          <a:p>
            <a:pPr algn="ctr" indent="0" marL="0">
              <a:buNone/>
            </a:pPr>
            <a:r>
              <a:rPr lang="en-US" sz="850" b="1" dirty="0">
                <a:solidFill>
                  <a:srgbClr val="FFFFFF"/>
                </a:solidFill>
                <a:latin typeface="Source Han Sans SC" pitchFamily="34" charset="0"/>
                <a:ea typeface="Source Han Sans SC" pitchFamily="34" charset="-122"/>
                <a:cs typeface="Source Han Sans SC" pitchFamily="34" charset="-120"/>
              </a:rPr>
              <a:t>第三阶段</a:t>
            </a:r>
            <a:endParaRPr lang="en-US" sz="850" dirty="0"/>
          </a:p>
        </p:txBody>
      </p:sp>
      <p:sp>
        <p:nvSpPr>
          <p:cNvPr id="17" name="Text 15"/>
          <p:cNvSpPr/>
          <p:nvPr/>
        </p:nvSpPr>
        <p:spPr>
          <a:xfrm>
            <a:off x="2011680" y="3383280"/>
            <a:ext cx="1554480" cy="274320"/>
          </a:xfrm>
          <a:prstGeom prst="rect">
            <a:avLst/>
          </a:prstGeom>
          <a:noFill/>
          <a:ln/>
        </p:spPr>
        <p:txBody>
          <a:bodyPr wrap="square" rtlCol="0" anchor="ctr"/>
          <a:lstStyle/>
          <a:p>
            <a:pPr indent="0" marL="0">
              <a:buNone/>
            </a:pPr>
            <a:r>
              <a:rPr lang="en-US" sz="800" dirty="0">
                <a:solidFill>
                  <a:srgbClr val="8899AA"/>
                </a:solidFill>
                <a:latin typeface="Source Han Sans SC" pitchFamily="34" charset="0"/>
                <a:ea typeface="Source Han Sans SC" pitchFamily="34" charset="-122"/>
                <a:cs typeface="Source Han Sans SC" pitchFamily="34" charset="-120"/>
              </a:rPr>
              <a:t>2027.09-2028.01</a:t>
            </a:r>
            <a:endParaRPr lang="en-US" sz="800" dirty="0"/>
          </a:p>
        </p:txBody>
      </p:sp>
      <p:sp>
        <p:nvSpPr>
          <p:cNvPr id="18" name="Shape 16"/>
          <p:cNvSpPr/>
          <p:nvPr/>
        </p:nvSpPr>
        <p:spPr>
          <a:xfrm>
            <a:off x="594360" y="3730752"/>
            <a:ext cx="11000232" cy="640080"/>
          </a:xfrm>
          <a:prstGeom prst="roundRect">
            <a:avLst>
              <a:gd name="adj" fmla="val 7143"/>
            </a:avLst>
          </a:prstGeom>
          <a:solidFill>
            <a:srgbClr val="FFFFFF"/>
          </a:solidFill>
          <a:ln w="6350">
            <a:solidFill>
              <a:srgbClr val="E5E9F0"/>
            </a:solidFill>
            <a:prstDash val="solid"/>
          </a:ln>
        </p:spPr>
      </p:sp>
      <p:sp>
        <p:nvSpPr>
          <p:cNvPr id="19" name="Text 17"/>
          <p:cNvSpPr/>
          <p:nvPr/>
        </p:nvSpPr>
        <p:spPr>
          <a:xfrm>
            <a:off x="777240" y="3767328"/>
            <a:ext cx="10634472" cy="566928"/>
          </a:xfrm>
          <a:prstGeom prst="rect">
            <a:avLst/>
          </a:prstGeom>
          <a:noFill/>
          <a:ln/>
        </p:spPr>
        <p:txBody>
          <a:bodyPr wrap="square" rtlCol="0" anchor="ctr"/>
          <a:lstStyle/>
          <a:p>
            <a:pPr indent="0" marL="0">
              <a:lnSpc>
                <a:spcPts val="1200"/>
              </a:lnSpc>
              <a:buNone/>
            </a:pPr>
            <a:r>
              <a:rPr lang="en-US" sz="800" dirty="0">
                <a:solidFill>
                  <a:srgbClr val="1E2A38"/>
                </a:solidFill>
                <a:latin typeface="Source Han Sans SC" pitchFamily="34" charset="0"/>
                <a:ea typeface="Source Han Sans SC" pitchFamily="34" charset="-122"/>
                <a:cs typeface="Source Han Sans SC" pitchFamily="34" charset="-120"/>
              </a:rPr>
              <a:t>运行评估与优化、优秀案例收集推广、校际经验交流、课程迭代升级</a:t>
            </a:r>
            <a:endParaRPr lang="en-US" sz="800" dirty="0"/>
          </a:p>
        </p:txBody>
      </p:sp>
      <p:sp>
        <p:nvSpPr>
          <p:cNvPr id="20" name="Shape 18"/>
          <p:cNvSpPr/>
          <p:nvPr/>
        </p:nvSpPr>
        <p:spPr>
          <a:xfrm>
            <a:off x="594360" y="4526280"/>
            <a:ext cx="1280160" cy="274320"/>
          </a:xfrm>
          <a:prstGeom prst="roundRect">
            <a:avLst>
              <a:gd name="adj" fmla="val 13333"/>
            </a:avLst>
          </a:prstGeom>
          <a:solidFill>
            <a:srgbClr val="7BB5E6"/>
          </a:solidFill>
          <a:ln/>
        </p:spPr>
      </p:sp>
      <p:sp>
        <p:nvSpPr>
          <p:cNvPr id="21" name="Text 19"/>
          <p:cNvSpPr/>
          <p:nvPr/>
        </p:nvSpPr>
        <p:spPr>
          <a:xfrm>
            <a:off x="594360" y="4526280"/>
            <a:ext cx="1280160" cy="274320"/>
          </a:xfrm>
          <a:prstGeom prst="rect">
            <a:avLst/>
          </a:prstGeom>
          <a:noFill/>
          <a:ln/>
        </p:spPr>
        <p:txBody>
          <a:bodyPr wrap="square" rtlCol="0" anchor="ctr"/>
          <a:lstStyle/>
          <a:p>
            <a:pPr algn="ctr" indent="0" marL="0">
              <a:buNone/>
            </a:pPr>
            <a:r>
              <a:rPr lang="en-US" sz="850" b="1" dirty="0">
                <a:solidFill>
                  <a:srgbClr val="FFFFFF"/>
                </a:solidFill>
                <a:latin typeface="Source Han Sans SC" pitchFamily="34" charset="0"/>
                <a:ea typeface="Source Han Sans SC" pitchFamily="34" charset="-122"/>
                <a:cs typeface="Source Han Sans SC" pitchFamily="34" charset="-120"/>
              </a:rPr>
              <a:t>长期机制</a:t>
            </a:r>
            <a:endParaRPr lang="en-US" sz="850" dirty="0"/>
          </a:p>
        </p:txBody>
      </p:sp>
      <p:sp>
        <p:nvSpPr>
          <p:cNvPr id="22" name="Text 20"/>
          <p:cNvSpPr/>
          <p:nvPr/>
        </p:nvSpPr>
        <p:spPr>
          <a:xfrm>
            <a:off x="2011680" y="4526280"/>
            <a:ext cx="1554480" cy="274320"/>
          </a:xfrm>
          <a:prstGeom prst="rect">
            <a:avLst/>
          </a:prstGeom>
          <a:noFill/>
          <a:ln/>
        </p:spPr>
        <p:txBody>
          <a:bodyPr wrap="square" rtlCol="0" anchor="ctr"/>
          <a:lstStyle/>
          <a:p>
            <a:pPr indent="0" marL="0">
              <a:buNone/>
            </a:pPr>
            <a:r>
              <a:rPr lang="en-US" sz="800" dirty="0">
                <a:solidFill>
                  <a:srgbClr val="8899AA"/>
                </a:solidFill>
                <a:latin typeface="Source Han Sans SC" pitchFamily="34" charset="0"/>
                <a:ea typeface="Source Han Sans SC" pitchFamily="34" charset="-122"/>
                <a:cs typeface="Source Han Sans SC" pitchFamily="34" charset="-120"/>
              </a:rPr>
              <a:t>持续推进</a:t>
            </a:r>
            <a:endParaRPr lang="en-US" sz="800" dirty="0"/>
          </a:p>
        </p:txBody>
      </p:sp>
      <p:sp>
        <p:nvSpPr>
          <p:cNvPr id="23" name="Shape 21"/>
          <p:cNvSpPr/>
          <p:nvPr/>
        </p:nvSpPr>
        <p:spPr>
          <a:xfrm>
            <a:off x="594360" y="4873752"/>
            <a:ext cx="11000232" cy="640080"/>
          </a:xfrm>
          <a:prstGeom prst="roundRect">
            <a:avLst>
              <a:gd name="adj" fmla="val 7143"/>
            </a:avLst>
          </a:prstGeom>
          <a:solidFill>
            <a:srgbClr val="FFFFFF"/>
          </a:solidFill>
          <a:ln w="6350">
            <a:solidFill>
              <a:srgbClr val="E5E9F0"/>
            </a:solidFill>
            <a:prstDash val="solid"/>
          </a:ln>
        </p:spPr>
      </p:sp>
      <p:sp>
        <p:nvSpPr>
          <p:cNvPr id="24" name="Text 22"/>
          <p:cNvSpPr/>
          <p:nvPr/>
        </p:nvSpPr>
        <p:spPr>
          <a:xfrm>
            <a:off x="777240" y="4910328"/>
            <a:ext cx="10634472" cy="566928"/>
          </a:xfrm>
          <a:prstGeom prst="rect">
            <a:avLst/>
          </a:prstGeom>
          <a:noFill/>
          <a:ln/>
        </p:spPr>
        <p:txBody>
          <a:bodyPr wrap="square" rtlCol="0" anchor="ctr"/>
          <a:lstStyle/>
          <a:p>
            <a:pPr indent="0" marL="0">
              <a:lnSpc>
                <a:spcPts val="1200"/>
              </a:lnSpc>
              <a:buNone/>
            </a:pPr>
            <a:r>
              <a:rPr lang="en-US" sz="800" dirty="0">
                <a:solidFill>
                  <a:srgbClr val="1E2A38"/>
                </a:solidFill>
                <a:latin typeface="Source Han Sans SC" pitchFamily="34" charset="0"/>
                <a:ea typeface="Source Han Sans SC" pitchFamily="34" charset="-122"/>
                <a:cs typeface="Source Han Sans SC" pitchFamily="34" charset="-120"/>
              </a:rPr>
              <a:t>年度评估常态化、资源持续投入、区域心理中心联动、形成可推广校本模式</a:t>
            </a:r>
            <a:endParaRPr lang="en-US" sz="800" dirty="0"/>
          </a:p>
        </p:txBody>
      </p:sp>
      <p:sp>
        <p:nvSpPr>
          <p:cNvPr id="25" name="Shape 23"/>
          <p:cNvSpPr/>
          <p:nvPr/>
        </p:nvSpPr>
        <p:spPr>
          <a:xfrm>
            <a:off x="594360" y="5806440"/>
            <a:ext cx="11000232" cy="457200"/>
          </a:xfrm>
          <a:prstGeom prst="roundRect">
            <a:avLst>
              <a:gd name="adj" fmla="val 8000"/>
            </a:avLst>
          </a:prstGeom>
          <a:solidFill>
            <a:srgbClr val="F7F9FC"/>
          </a:solidFill>
          <a:ln w="3810">
            <a:solidFill>
              <a:srgbClr val="E5E9F0"/>
            </a:solidFill>
            <a:prstDash val="solid"/>
          </a:ln>
        </p:spPr>
      </p:sp>
      <p:sp>
        <p:nvSpPr>
          <p:cNvPr id="26" name="Text 24"/>
          <p:cNvSpPr/>
          <p:nvPr/>
        </p:nvSpPr>
        <p:spPr>
          <a:xfrm>
            <a:off x="777240" y="5806440"/>
            <a:ext cx="10634472" cy="457200"/>
          </a:xfrm>
          <a:prstGeom prst="rect">
            <a:avLst/>
          </a:prstGeom>
          <a:noFill/>
          <a:ln/>
        </p:spPr>
        <p:txBody>
          <a:bodyPr wrap="square" rtlCol="0" anchor="ctr"/>
          <a:lstStyle/>
          <a:p>
            <a:pPr indent="0" marL="0">
              <a:buNone/>
            </a:pPr>
            <a:r>
              <a:rPr lang="en-US" sz="800" b="1" dirty="0">
                <a:solidFill>
                  <a:srgbClr val="1E2A38"/>
                </a:solidFill>
                <a:latin typeface="Source Han Sans SC" pitchFamily="34" charset="0"/>
                <a:ea typeface="Source Han Sans SC" pitchFamily="34" charset="-122"/>
                <a:cs typeface="Source Han Sans SC" pitchFamily="34" charset="-120"/>
              </a:rPr>
              <a:t>经费保障建议：将心理健康工作经费纳入学校年度预算（建议占比不低于学校公用经费的3%），多渠道申请专项资金。</a:t>
            </a:r>
            <a:endParaRPr lang="en-US" sz="800" dirty="0"/>
          </a:p>
        </p:txBody>
      </p:sp>
      <p:sp>
        <p:nvSpPr>
          <p:cNvPr id="27" name="Text 25"/>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19/23</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预期效果与社会价值</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Expected Outcomes &amp; Social Value</a:t>
            </a:r>
            <a:endParaRPr lang="en-US" sz="1000" dirty="0"/>
          </a:p>
        </p:txBody>
      </p:sp>
      <p:sp>
        <p:nvSpPr>
          <p:cNvPr id="5" name="Shape 3"/>
          <p:cNvSpPr/>
          <p:nvPr/>
        </p:nvSpPr>
        <p:spPr>
          <a:xfrm>
            <a:off x="594360" y="1051560"/>
            <a:ext cx="3520440" cy="3017520"/>
          </a:xfrm>
          <a:prstGeom prst="roundRect">
            <a:avLst>
              <a:gd name="adj" fmla="val 1515"/>
            </a:avLst>
          </a:prstGeom>
          <a:solidFill>
            <a:srgbClr val="FFFFFF"/>
          </a:solidFill>
          <a:ln w="6350">
            <a:solidFill>
              <a:srgbClr val="E5E9F0"/>
            </a:solidFill>
            <a:prstDash val="solid"/>
          </a:ln>
        </p:spPr>
      </p:sp>
      <p:sp>
        <p:nvSpPr>
          <p:cNvPr id="6" name="Shape 4"/>
          <p:cNvSpPr/>
          <p:nvPr/>
        </p:nvSpPr>
        <p:spPr>
          <a:xfrm>
            <a:off x="594360" y="1051560"/>
            <a:ext cx="3520440" cy="36576"/>
          </a:xfrm>
          <a:prstGeom prst="rect">
            <a:avLst/>
          </a:prstGeom>
          <a:solidFill>
            <a:srgbClr val="3A6EA5"/>
          </a:solidFill>
          <a:ln/>
        </p:spPr>
      </p:sp>
      <p:sp>
        <p:nvSpPr>
          <p:cNvPr id="7" name="Text 5"/>
          <p:cNvSpPr/>
          <p:nvPr/>
        </p:nvSpPr>
        <p:spPr>
          <a:xfrm>
            <a:off x="594360" y="1188720"/>
            <a:ext cx="3520440" cy="274320"/>
          </a:xfrm>
          <a:prstGeom prst="rect">
            <a:avLst/>
          </a:prstGeom>
          <a:noFill/>
          <a:ln/>
        </p:spPr>
        <p:txBody>
          <a:bodyPr wrap="square" rtlCol="0" anchor="ctr"/>
          <a:lstStyle/>
          <a:p>
            <a:pPr algn="ctr" indent="0" marL="0">
              <a:buNone/>
            </a:pPr>
            <a:r>
              <a:rPr lang="en-US" sz="1000" b="1" dirty="0">
                <a:solidFill>
                  <a:srgbClr val="1E2A38"/>
                </a:solidFill>
                <a:latin typeface="Source Han Sans SC" pitchFamily="34" charset="0"/>
                <a:ea typeface="Source Han Sans SC" pitchFamily="34" charset="-122"/>
                <a:cs typeface="Source Han Sans SC" pitchFamily="34" charset="-120"/>
              </a:rPr>
              <a:t>直接效果（1-2年）</a:t>
            </a:r>
            <a:endParaRPr lang="en-US" sz="1000" dirty="0"/>
          </a:p>
        </p:txBody>
      </p:sp>
      <p:sp>
        <p:nvSpPr>
          <p:cNvPr id="8" name="Shape 6"/>
          <p:cNvSpPr/>
          <p:nvPr/>
        </p:nvSpPr>
        <p:spPr>
          <a:xfrm>
            <a:off x="731520" y="1554480"/>
            <a:ext cx="3246120" cy="365760"/>
          </a:xfrm>
          <a:prstGeom prst="roundRect">
            <a:avLst>
              <a:gd name="adj" fmla="val 10000"/>
            </a:avLst>
          </a:prstGeom>
          <a:solidFill>
            <a:srgbClr val="F7F9FC"/>
          </a:solidFill>
          <a:ln w="3810">
            <a:solidFill>
              <a:srgbClr val="E5E9F0"/>
            </a:solidFill>
            <a:prstDash val="solid"/>
          </a:ln>
        </p:spPr>
      </p:sp>
      <p:sp>
        <p:nvSpPr>
          <p:cNvPr id="9" name="Text 7"/>
          <p:cNvSpPr/>
          <p:nvPr/>
        </p:nvSpPr>
        <p:spPr>
          <a:xfrm>
            <a:off x="822960" y="1554480"/>
            <a:ext cx="3063240" cy="365760"/>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咨询室使用率提升至60%以上</a:t>
            </a:r>
            <a:endParaRPr lang="en-US" sz="750" dirty="0"/>
          </a:p>
        </p:txBody>
      </p:sp>
      <p:sp>
        <p:nvSpPr>
          <p:cNvPr id="10" name="Shape 8"/>
          <p:cNvSpPr/>
          <p:nvPr/>
        </p:nvSpPr>
        <p:spPr>
          <a:xfrm>
            <a:off x="731520" y="2057400"/>
            <a:ext cx="3246120" cy="365760"/>
          </a:xfrm>
          <a:prstGeom prst="roundRect">
            <a:avLst>
              <a:gd name="adj" fmla="val 10000"/>
            </a:avLst>
          </a:prstGeom>
          <a:solidFill>
            <a:srgbClr val="F7F9FC"/>
          </a:solidFill>
          <a:ln w="3810">
            <a:solidFill>
              <a:srgbClr val="E5E9F0"/>
            </a:solidFill>
            <a:prstDash val="solid"/>
          </a:ln>
        </p:spPr>
      </p:sp>
      <p:sp>
        <p:nvSpPr>
          <p:cNvPr id="11" name="Text 9"/>
          <p:cNvSpPr/>
          <p:nvPr/>
        </p:nvSpPr>
        <p:spPr>
          <a:xfrm>
            <a:off x="822960" y="2057400"/>
            <a:ext cx="3063240" cy="365760"/>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心理课程学生满意度不低于80%</a:t>
            </a:r>
            <a:endParaRPr lang="en-US" sz="750" dirty="0"/>
          </a:p>
        </p:txBody>
      </p:sp>
      <p:sp>
        <p:nvSpPr>
          <p:cNvPr id="12" name="Shape 10"/>
          <p:cNvSpPr/>
          <p:nvPr/>
        </p:nvSpPr>
        <p:spPr>
          <a:xfrm>
            <a:off x="731520" y="2560320"/>
            <a:ext cx="3246120" cy="365760"/>
          </a:xfrm>
          <a:prstGeom prst="roundRect">
            <a:avLst>
              <a:gd name="adj" fmla="val 10000"/>
            </a:avLst>
          </a:prstGeom>
          <a:solidFill>
            <a:srgbClr val="F7F9FC"/>
          </a:solidFill>
          <a:ln w="3810">
            <a:solidFill>
              <a:srgbClr val="E5E9F0"/>
            </a:solidFill>
            <a:prstDash val="solid"/>
          </a:ln>
        </p:spPr>
      </p:sp>
      <p:sp>
        <p:nvSpPr>
          <p:cNvPr id="13" name="Text 11"/>
          <p:cNvSpPr/>
          <p:nvPr/>
        </p:nvSpPr>
        <p:spPr>
          <a:xfrm>
            <a:off x="822960" y="2560320"/>
            <a:ext cx="3063240" cy="365760"/>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心理危机预警响应率100%</a:t>
            </a:r>
            <a:endParaRPr lang="en-US" sz="750" dirty="0"/>
          </a:p>
        </p:txBody>
      </p:sp>
      <p:sp>
        <p:nvSpPr>
          <p:cNvPr id="14" name="Shape 12"/>
          <p:cNvSpPr/>
          <p:nvPr/>
        </p:nvSpPr>
        <p:spPr>
          <a:xfrm>
            <a:off x="731520" y="3063240"/>
            <a:ext cx="3246120" cy="365760"/>
          </a:xfrm>
          <a:prstGeom prst="roundRect">
            <a:avLst>
              <a:gd name="adj" fmla="val 10000"/>
            </a:avLst>
          </a:prstGeom>
          <a:solidFill>
            <a:srgbClr val="F7F9FC"/>
          </a:solidFill>
          <a:ln w="3810">
            <a:solidFill>
              <a:srgbClr val="E5E9F0"/>
            </a:solidFill>
            <a:prstDash val="solid"/>
          </a:ln>
        </p:spPr>
      </p:sp>
      <p:sp>
        <p:nvSpPr>
          <p:cNvPr id="15" name="Text 13"/>
          <p:cNvSpPr/>
          <p:nvPr/>
        </p:nvSpPr>
        <p:spPr>
          <a:xfrm>
            <a:off x="822960" y="3063240"/>
            <a:ext cx="3063240" cy="365760"/>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心理委员制度全校覆盖</a:t>
            </a:r>
            <a:endParaRPr lang="en-US" sz="750" dirty="0"/>
          </a:p>
        </p:txBody>
      </p:sp>
      <p:sp>
        <p:nvSpPr>
          <p:cNvPr id="16" name="Shape 14"/>
          <p:cNvSpPr/>
          <p:nvPr/>
        </p:nvSpPr>
        <p:spPr>
          <a:xfrm>
            <a:off x="4343400" y="1051560"/>
            <a:ext cx="3520440" cy="3017520"/>
          </a:xfrm>
          <a:prstGeom prst="roundRect">
            <a:avLst>
              <a:gd name="adj" fmla="val 1515"/>
            </a:avLst>
          </a:prstGeom>
          <a:solidFill>
            <a:srgbClr val="FFFFFF"/>
          </a:solidFill>
          <a:ln w="6350">
            <a:solidFill>
              <a:srgbClr val="E5E9F0"/>
            </a:solidFill>
            <a:prstDash val="solid"/>
          </a:ln>
        </p:spPr>
      </p:sp>
      <p:sp>
        <p:nvSpPr>
          <p:cNvPr id="17" name="Shape 15"/>
          <p:cNvSpPr/>
          <p:nvPr/>
        </p:nvSpPr>
        <p:spPr>
          <a:xfrm>
            <a:off x="4343400" y="1051560"/>
            <a:ext cx="3520440" cy="36576"/>
          </a:xfrm>
          <a:prstGeom prst="rect">
            <a:avLst/>
          </a:prstGeom>
          <a:solidFill>
            <a:srgbClr val="5C9BD4"/>
          </a:solidFill>
          <a:ln/>
        </p:spPr>
      </p:sp>
      <p:sp>
        <p:nvSpPr>
          <p:cNvPr id="18" name="Text 16"/>
          <p:cNvSpPr/>
          <p:nvPr/>
        </p:nvSpPr>
        <p:spPr>
          <a:xfrm>
            <a:off x="4343400" y="1188720"/>
            <a:ext cx="3520440" cy="274320"/>
          </a:xfrm>
          <a:prstGeom prst="rect">
            <a:avLst/>
          </a:prstGeom>
          <a:noFill/>
          <a:ln/>
        </p:spPr>
        <p:txBody>
          <a:bodyPr wrap="square" rtlCol="0" anchor="ctr"/>
          <a:lstStyle/>
          <a:p>
            <a:pPr algn="ctr" indent="0" marL="0">
              <a:buNone/>
            </a:pPr>
            <a:r>
              <a:rPr lang="en-US" sz="1000" b="1" dirty="0">
                <a:solidFill>
                  <a:srgbClr val="1E2A38"/>
                </a:solidFill>
                <a:latin typeface="Source Han Sans SC" pitchFamily="34" charset="0"/>
                <a:ea typeface="Source Han Sans SC" pitchFamily="34" charset="-122"/>
                <a:cs typeface="Source Han Sans SC" pitchFamily="34" charset="-120"/>
              </a:rPr>
              <a:t>中期效果（2-3年）</a:t>
            </a:r>
            <a:endParaRPr lang="en-US" sz="1000" dirty="0"/>
          </a:p>
        </p:txBody>
      </p:sp>
      <p:sp>
        <p:nvSpPr>
          <p:cNvPr id="19" name="Shape 17"/>
          <p:cNvSpPr/>
          <p:nvPr/>
        </p:nvSpPr>
        <p:spPr>
          <a:xfrm>
            <a:off x="4480560" y="1554480"/>
            <a:ext cx="3246120" cy="365760"/>
          </a:xfrm>
          <a:prstGeom prst="roundRect">
            <a:avLst>
              <a:gd name="adj" fmla="val 10000"/>
            </a:avLst>
          </a:prstGeom>
          <a:solidFill>
            <a:srgbClr val="F7F9FC"/>
          </a:solidFill>
          <a:ln w="3810">
            <a:solidFill>
              <a:srgbClr val="E5E9F0"/>
            </a:solidFill>
            <a:prstDash val="solid"/>
          </a:ln>
        </p:spPr>
      </p:sp>
      <p:sp>
        <p:nvSpPr>
          <p:cNvPr id="20" name="Text 18"/>
          <p:cNvSpPr/>
          <p:nvPr/>
        </p:nvSpPr>
        <p:spPr>
          <a:xfrm>
            <a:off x="4572000" y="1554480"/>
            <a:ext cx="3063240" cy="365760"/>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主动求助意愿提升25个百分点</a:t>
            </a:r>
            <a:endParaRPr lang="en-US" sz="750" dirty="0"/>
          </a:p>
        </p:txBody>
      </p:sp>
      <p:sp>
        <p:nvSpPr>
          <p:cNvPr id="21" name="Shape 19"/>
          <p:cNvSpPr/>
          <p:nvPr/>
        </p:nvSpPr>
        <p:spPr>
          <a:xfrm>
            <a:off x="4480560" y="2057400"/>
            <a:ext cx="3246120" cy="365760"/>
          </a:xfrm>
          <a:prstGeom prst="roundRect">
            <a:avLst>
              <a:gd name="adj" fmla="val 10000"/>
            </a:avLst>
          </a:prstGeom>
          <a:solidFill>
            <a:srgbClr val="F7F9FC"/>
          </a:solidFill>
          <a:ln w="3810">
            <a:solidFill>
              <a:srgbClr val="E5E9F0"/>
            </a:solidFill>
            <a:prstDash val="solid"/>
          </a:ln>
        </p:spPr>
      </p:sp>
      <p:sp>
        <p:nvSpPr>
          <p:cNvPr id="22" name="Text 20"/>
          <p:cNvSpPr/>
          <p:nvPr/>
        </p:nvSpPr>
        <p:spPr>
          <a:xfrm>
            <a:off x="4572000" y="2057400"/>
            <a:ext cx="3063240" cy="365760"/>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心理素养达标率不低于75%</a:t>
            </a:r>
            <a:endParaRPr lang="en-US" sz="750" dirty="0"/>
          </a:p>
        </p:txBody>
      </p:sp>
      <p:sp>
        <p:nvSpPr>
          <p:cNvPr id="23" name="Shape 21"/>
          <p:cNvSpPr/>
          <p:nvPr/>
        </p:nvSpPr>
        <p:spPr>
          <a:xfrm>
            <a:off x="4480560" y="2560320"/>
            <a:ext cx="3246120" cy="365760"/>
          </a:xfrm>
          <a:prstGeom prst="roundRect">
            <a:avLst>
              <a:gd name="adj" fmla="val 10000"/>
            </a:avLst>
          </a:prstGeom>
          <a:solidFill>
            <a:srgbClr val="F7F9FC"/>
          </a:solidFill>
          <a:ln w="3810">
            <a:solidFill>
              <a:srgbClr val="E5E9F0"/>
            </a:solidFill>
            <a:prstDash val="solid"/>
          </a:ln>
        </p:spPr>
      </p:sp>
      <p:sp>
        <p:nvSpPr>
          <p:cNvPr id="24" name="Text 22"/>
          <p:cNvSpPr/>
          <p:nvPr/>
        </p:nvSpPr>
        <p:spPr>
          <a:xfrm>
            <a:off x="4572000" y="2560320"/>
            <a:ext cx="3063240" cy="365760"/>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家校协同机制常态化</a:t>
            </a:r>
            <a:endParaRPr lang="en-US" sz="750" dirty="0"/>
          </a:p>
        </p:txBody>
      </p:sp>
      <p:sp>
        <p:nvSpPr>
          <p:cNvPr id="25" name="Shape 23"/>
          <p:cNvSpPr/>
          <p:nvPr/>
        </p:nvSpPr>
        <p:spPr>
          <a:xfrm>
            <a:off x="4480560" y="3063240"/>
            <a:ext cx="3246120" cy="365760"/>
          </a:xfrm>
          <a:prstGeom prst="roundRect">
            <a:avLst>
              <a:gd name="adj" fmla="val 10000"/>
            </a:avLst>
          </a:prstGeom>
          <a:solidFill>
            <a:srgbClr val="F7F9FC"/>
          </a:solidFill>
          <a:ln w="3810">
            <a:solidFill>
              <a:srgbClr val="E5E9F0"/>
            </a:solidFill>
            <a:prstDash val="solid"/>
          </a:ln>
        </p:spPr>
      </p:sp>
      <p:sp>
        <p:nvSpPr>
          <p:cNvPr id="26" name="Text 24"/>
          <p:cNvSpPr/>
          <p:nvPr/>
        </p:nvSpPr>
        <p:spPr>
          <a:xfrm>
            <a:off x="4572000" y="3063240"/>
            <a:ext cx="3063240" cy="365760"/>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形成可评估的指标体系</a:t>
            </a:r>
            <a:endParaRPr lang="en-US" sz="750" dirty="0"/>
          </a:p>
        </p:txBody>
      </p:sp>
      <p:sp>
        <p:nvSpPr>
          <p:cNvPr id="27" name="Shape 25"/>
          <p:cNvSpPr/>
          <p:nvPr/>
        </p:nvSpPr>
        <p:spPr>
          <a:xfrm>
            <a:off x="8092440" y="1051560"/>
            <a:ext cx="3520440" cy="3017520"/>
          </a:xfrm>
          <a:prstGeom prst="roundRect">
            <a:avLst>
              <a:gd name="adj" fmla="val 1515"/>
            </a:avLst>
          </a:prstGeom>
          <a:solidFill>
            <a:srgbClr val="FFFFFF"/>
          </a:solidFill>
          <a:ln w="6350">
            <a:solidFill>
              <a:srgbClr val="E5E9F0"/>
            </a:solidFill>
            <a:prstDash val="solid"/>
          </a:ln>
        </p:spPr>
      </p:sp>
      <p:sp>
        <p:nvSpPr>
          <p:cNvPr id="28" name="Shape 26"/>
          <p:cNvSpPr/>
          <p:nvPr/>
        </p:nvSpPr>
        <p:spPr>
          <a:xfrm>
            <a:off x="8092440" y="1051560"/>
            <a:ext cx="3520440" cy="36576"/>
          </a:xfrm>
          <a:prstGeom prst="rect">
            <a:avLst/>
          </a:prstGeom>
          <a:solidFill>
            <a:srgbClr val="1E2A38"/>
          </a:solidFill>
          <a:ln/>
        </p:spPr>
      </p:sp>
      <p:sp>
        <p:nvSpPr>
          <p:cNvPr id="29" name="Text 27"/>
          <p:cNvSpPr/>
          <p:nvPr/>
        </p:nvSpPr>
        <p:spPr>
          <a:xfrm>
            <a:off x="8092440" y="1188720"/>
            <a:ext cx="3520440" cy="274320"/>
          </a:xfrm>
          <a:prstGeom prst="rect">
            <a:avLst/>
          </a:prstGeom>
          <a:noFill/>
          <a:ln/>
        </p:spPr>
        <p:txBody>
          <a:bodyPr wrap="square" rtlCol="0" anchor="ctr"/>
          <a:lstStyle/>
          <a:p>
            <a:pPr algn="ctr" indent="0" marL="0">
              <a:buNone/>
            </a:pPr>
            <a:r>
              <a:rPr lang="en-US" sz="1000" b="1" dirty="0">
                <a:solidFill>
                  <a:srgbClr val="1E2A38"/>
                </a:solidFill>
                <a:latin typeface="Source Han Sans SC" pitchFamily="34" charset="0"/>
                <a:ea typeface="Source Han Sans SC" pitchFamily="34" charset="-122"/>
                <a:cs typeface="Source Han Sans SC" pitchFamily="34" charset="-120"/>
              </a:rPr>
              <a:t>长期价值（3年以上）</a:t>
            </a:r>
            <a:endParaRPr lang="en-US" sz="1000" dirty="0"/>
          </a:p>
        </p:txBody>
      </p:sp>
      <p:sp>
        <p:nvSpPr>
          <p:cNvPr id="30" name="Shape 28"/>
          <p:cNvSpPr/>
          <p:nvPr/>
        </p:nvSpPr>
        <p:spPr>
          <a:xfrm>
            <a:off x="8229600" y="1554480"/>
            <a:ext cx="3246120" cy="365760"/>
          </a:xfrm>
          <a:prstGeom prst="roundRect">
            <a:avLst>
              <a:gd name="adj" fmla="val 10000"/>
            </a:avLst>
          </a:prstGeom>
          <a:solidFill>
            <a:srgbClr val="F7F9FC"/>
          </a:solidFill>
          <a:ln w="3810">
            <a:solidFill>
              <a:srgbClr val="E5E9F0"/>
            </a:solidFill>
            <a:prstDash val="solid"/>
          </a:ln>
        </p:spPr>
      </p:sp>
      <p:sp>
        <p:nvSpPr>
          <p:cNvPr id="31" name="Text 29"/>
          <p:cNvSpPr/>
          <p:nvPr/>
        </p:nvSpPr>
        <p:spPr>
          <a:xfrm>
            <a:off x="8321040" y="1554480"/>
            <a:ext cx="3063240" cy="365760"/>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形成可推广的校园心理校本模式</a:t>
            </a:r>
            <a:endParaRPr lang="en-US" sz="750" dirty="0"/>
          </a:p>
        </p:txBody>
      </p:sp>
      <p:sp>
        <p:nvSpPr>
          <p:cNvPr id="32" name="Shape 30"/>
          <p:cNvSpPr/>
          <p:nvPr/>
        </p:nvSpPr>
        <p:spPr>
          <a:xfrm>
            <a:off x="8229600" y="2057400"/>
            <a:ext cx="3246120" cy="365760"/>
          </a:xfrm>
          <a:prstGeom prst="roundRect">
            <a:avLst>
              <a:gd name="adj" fmla="val 10000"/>
            </a:avLst>
          </a:prstGeom>
          <a:solidFill>
            <a:srgbClr val="F7F9FC"/>
          </a:solidFill>
          <a:ln w="3810">
            <a:solidFill>
              <a:srgbClr val="E5E9F0"/>
            </a:solidFill>
            <a:prstDash val="solid"/>
          </a:ln>
        </p:spPr>
      </p:sp>
      <p:sp>
        <p:nvSpPr>
          <p:cNvPr id="33" name="Text 31"/>
          <p:cNvSpPr/>
          <p:nvPr/>
        </p:nvSpPr>
        <p:spPr>
          <a:xfrm>
            <a:off x="8321040" y="2057400"/>
            <a:ext cx="3063240" cy="365760"/>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为区域政策提供实践参考</a:t>
            </a:r>
            <a:endParaRPr lang="en-US" sz="750" dirty="0"/>
          </a:p>
        </p:txBody>
      </p:sp>
      <p:sp>
        <p:nvSpPr>
          <p:cNvPr id="34" name="Shape 32"/>
          <p:cNvSpPr/>
          <p:nvPr/>
        </p:nvSpPr>
        <p:spPr>
          <a:xfrm>
            <a:off x="8229600" y="2560320"/>
            <a:ext cx="3246120" cy="365760"/>
          </a:xfrm>
          <a:prstGeom prst="roundRect">
            <a:avLst>
              <a:gd name="adj" fmla="val 10000"/>
            </a:avLst>
          </a:prstGeom>
          <a:solidFill>
            <a:srgbClr val="F7F9FC"/>
          </a:solidFill>
          <a:ln w="3810">
            <a:solidFill>
              <a:srgbClr val="E5E9F0"/>
            </a:solidFill>
            <a:prstDash val="solid"/>
          </a:ln>
        </p:spPr>
      </p:sp>
      <p:sp>
        <p:nvSpPr>
          <p:cNvPr id="35" name="Text 33"/>
          <p:cNvSpPr/>
          <p:nvPr/>
        </p:nvSpPr>
        <p:spPr>
          <a:xfrm>
            <a:off x="8321040" y="2560320"/>
            <a:ext cx="3063240" cy="365760"/>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学生心理弹性显著提升</a:t>
            </a:r>
            <a:endParaRPr lang="en-US" sz="750" dirty="0"/>
          </a:p>
        </p:txBody>
      </p:sp>
      <p:sp>
        <p:nvSpPr>
          <p:cNvPr id="36" name="Shape 34"/>
          <p:cNvSpPr/>
          <p:nvPr/>
        </p:nvSpPr>
        <p:spPr>
          <a:xfrm>
            <a:off x="8229600" y="3063240"/>
            <a:ext cx="3246120" cy="365760"/>
          </a:xfrm>
          <a:prstGeom prst="roundRect">
            <a:avLst>
              <a:gd name="adj" fmla="val 10000"/>
            </a:avLst>
          </a:prstGeom>
          <a:solidFill>
            <a:srgbClr val="F7F9FC"/>
          </a:solidFill>
          <a:ln w="3810">
            <a:solidFill>
              <a:srgbClr val="E5E9F0"/>
            </a:solidFill>
            <a:prstDash val="solid"/>
          </a:ln>
        </p:spPr>
      </p:sp>
      <p:sp>
        <p:nvSpPr>
          <p:cNvPr id="37" name="Text 35"/>
          <p:cNvSpPr/>
          <p:nvPr/>
        </p:nvSpPr>
        <p:spPr>
          <a:xfrm>
            <a:off x="8321040" y="3063240"/>
            <a:ext cx="3063240" cy="365760"/>
          </a:xfrm>
          <a:prstGeom prst="rect">
            <a:avLst/>
          </a:prstGeom>
          <a:noFill/>
          <a:ln/>
        </p:spPr>
        <p:txBody>
          <a:bodyPr wrap="square" rtlCol="0" anchor="ctr"/>
          <a:lstStyle/>
          <a:p>
            <a:pPr indent="0" marL="0">
              <a:buNone/>
            </a:pPr>
            <a:r>
              <a:rPr lang="en-US" sz="750" dirty="0">
                <a:solidFill>
                  <a:srgbClr val="1E2A38"/>
                </a:solidFill>
                <a:latin typeface="Source Han Sans SC" pitchFamily="34" charset="0"/>
                <a:ea typeface="Source Han Sans SC" pitchFamily="34" charset="-122"/>
                <a:cs typeface="Source Han Sans SC" pitchFamily="34" charset="-120"/>
              </a:rPr>
              <a:t>助力教育评价体系积极变革</a:t>
            </a:r>
            <a:endParaRPr lang="en-US" sz="750" dirty="0"/>
          </a:p>
        </p:txBody>
      </p:sp>
      <p:sp>
        <p:nvSpPr>
          <p:cNvPr id="38" name="Shape 36"/>
          <p:cNvSpPr/>
          <p:nvPr/>
        </p:nvSpPr>
        <p:spPr>
          <a:xfrm>
            <a:off x="594360" y="4297680"/>
            <a:ext cx="11000232" cy="1097280"/>
          </a:xfrm>
          <a:prstGeom prst="roundRect">
            <a:avLst>
              <a:gd name="adj" fmla="val 4167"/>
            </a:avLst>
          </a:prstGeom>
          <a:solidFill>
            <a:srgbClr val="1E2A38"/>
          </a:solidFill>
          <a:ln/>
        </p:spPr>
      </p:sp>
      <p:sp>
        <p:nvSpPr>
          <p:cNvPr id="39" name="Text 37"/>
          <p:cNvSpPr/>
          <p:nvPr/>
        </p:nvSpPr>
        <p:spPr>
          <a:xfrm>
            <a:off x="777240" y="4343400"/>
            <a:ext cx="4572000" cy="228600"/>
          </a:xfrm>
          <a:prstGeom prst="rect">
            <a:avLst/>
          </a:prstGeom>
          <a:noFill/>
          <a:ln/>
        </p:spPr>
        <p:txBody>
          <a:bodyPr wrap="square" rtlCol="0" anchor="ctr"/>
          <a:lstStyle/>
          <a:p>
            <a:pPr indent="0" marL="0">
              <a:buNone/>
            </a:pPr>
            <a:r>
              <a:rPr lang="en-US" sz="950" b="1" dirty="0">
                <a:solidFill>
                  <a:srgbClr val="D98E04"/>
                </a:solidFill>
                <a:latin typeface="Source Han Sans SC" pitchFamily="34" charset="0"/>
                <a:ea typeface="Source Han Sans SC" pitchFamily="34" charset="-122"/>
                <a:cs typeface="Source Han Sans SC" pitchFamily="34" charset="-120"/>
              </a:rPr>
              <a:t>社会价值</a:t>
            </a:r>
            <a:endParaRPr lang="en-US" sz="950" dirty="0"/>
          </a:p>
        </p:txBody>
      </p:sp>
      <p:sp>
        <p:nvSpPr>
          <p:cNvPr id="40" name="Text 38"/>
          <p:cNvSpPr/>
          <p:nvPr/>
        </p:nvSpPr>
        <p:spPr>
          <a:xfrm>
            <a:off x="777240" y="4617720"/>
            <a:ext cx="10634472" cy="640080"/>
          </a:xfrm>
          <a:prstGeom prst="rect">
            <a:avLst/>
          </a:prstGeom>
          <a:noFill/>
          <a:ln/>
        </p:spPr>
        <p:txBody>
          <a:bodyPr wrap="square" rtlCol="0" anchor="ctr"/>
          <a:lstStyle/>
          <a:p>
            <a:pPr indent="0" marL="0">
              <a:lnSpc>
                <a:spcPts val="1300"/>
              </a:lnSpc>
              <a:buNone/>
            </a:pPr>
            <a:r>
              <a:rPr lang="en-US" sz="800" dirty="0">
                <a:solidFill>
                  <a:srgbClr val="FFFFFF"/>
                </a:solidFill>
                <a:latin typeface="Source Han Sans SC" pitchFamily="34" charset="0"/>
                <a:ea typeface="Source Han Sans SC" pitchFamily="34" charset="-122"/>
                <a:cs typeface="Source Han Sans SC" pitchFamily="34" charset="-120"/>
              </a:rPr>
              <a:t>本提案立足本地调研，对标国际经验，从资源配置、课程建设、协同网络、监督评估四个维度提出系统化建议，为完善高中生心理健康支持体系提供可操作、可评估、可推广的实践方案。</a:t>
            </a:r>
            <a:endParaRPr lang="en-US" sz="800" dirty="0"/>
          </a:p>
        </p:txBody>
      </p:sp>
      <p:sp>
        <p:nvSpPr>
          <p:cNvPr id="41" name="Text 39"/>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20/23</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数据来源与参考文献</a:t>
            </a:r>
            <a:endParaRPr lang="en-US" sz="2400" dirty="0"/>
          </a:p>
        </p:txBody>
      </p:sp>
      <p:sp>
        <p:nvSpPr>
          <p:cNvPr id="4" name="Text 2"/>
          <p:cNvSpPr/>
          <p:nvPr/>
        </p:nvSpPr>
        <p:spPr>
          <a:xfrm>
            <a:off x="594360" y="658368"/>
            <a:ext cx="11000232" cy="201168"/>
          </a:xfrm>
          <a:prstGeom prst="rect">
            <a:avLst/>
          </a:prstGeom>
          <a:noFill/>
          <a:ln/>
        </p:spPr>
        <p:txBody>
          <a:bodyPr wrap="square" rtlCol="0" anchor="ctr"/>
          <a:lstStyle/>
          <a:p>
            <a:pPr indent="0" marL="0">
              <a:buNone/>
            </a:pPr>
            <a:r>
              <a:rPr lang="en-US" sz="1000" dirty="0">
                <a:solidFill>
                  <a:srgbClr val="8899AA"/>
                </a:solidFill>
                <a:latin typeface="Source Han Sans SC" pitchFamily="34" charset="0"/>
                <a:ea typeface="Source Han Sans SC" pitchFamily="34" charset="-122"/>
                <a:cs typeface="Source Han Sans SC" pitchFamily="34" charset="-120"/>
              </a:rPr>
              <a:t>Data Sources &amp; References</a:t>
            </a:r>
            <a:endParaRPr lang="en-US" sz="1000" dirty="0"/>
          </a:p>
        </p:txBody>
      </p:sp>
      <p:sp>
        <p:nvSpPr>
          <p:cNvPr id="5" name="Text 3"/>
          <p:cNvSpPr/>
          <p:nvPr/>
        </p:nvSpPr>
        <p:spPr>
          <a:xfrm>
            <a:off x="594360" y="1051560"/>
            <a:ext cx="411480" cy="329184"/>
          </a:xfrm>
          <a:prstGeom prst="rect">
            <a:avLst/>
          </a:prstGeom>
          <a:noFill/>
          <a:ln/>
        </p:spPr>
        <p:txBody>
          <a:bodyPr wrap="square" rtlCol="0" anchor="ctr"/>
          <a:lstStyle/>
          <a:p>
            <a:pPr indent="0" marL="0">
              <a:buNone/>
            </a:pPr>
            <a:r>
              <a:rPr lang="en-US" sz="650" b="1" dirty="0">
                <a:solidFill>
                  <a:srgbClr val="3A6EA5"/>
                </a:solidFill>
                <a:latin typeface="Source Han Sans SC" pitchFamily="34" charset="0"/>
                <a:ea typeface="Source Han Sans SC" pitchFamily="34" charset="-122"/>
                <a:cs typeface="Source Han Sans SC" pitchFamily="34" charset="-120"/>
              </a:rPr>
              <a:t>[1]</a:t>
            </a:r>
            <a:endParaRPr lang="en-US" sz="650" dirty="0"/>
          </a:p>
        </p:txBody>
      </p:sp>
      <p:sp>
        <p:nvSpPr>
          <p:cNvPr id="6" name="Text 4"/>
          <p:cNvSpPr/>
          <p:nvPr/>
        </p:nvSpPr>
        <p:spPr>
          <a:xfrm>
            <a:off x="1005840" y="1051560"/>
            <a:ext cx="5120640" cy="329184"/>
          </a:xfrm>
          <a:prstGeom prst="rect">
            <a:avLst/>
          </a:prstGeom>
          <a:noFill/>
          <a:ln/>
        </p:spPr>
        <p:txBody>
          <a:bodyPr wrap="square" rtlCol="0" anchor="ctr"/>
          <a:lstStyle/>
          <a:p>
            <a:pPr indent="0" marL="0">
              <a:lnSpc>
                <a:spcPts val="900"/>
              </a:lnSpc>
              <a:buNone/>
            </a:pPr>
            <a:r>
              <a:rPr lang="en-US" sz="650" dirty="0">
                <a:solidFill>
                  <a:srgbClr val="1E2A38"/>
                </a:solidFill>
                <a:latin typeface="Source Han Sans SC" pitchFamily="34" charset="0"/>
                <a:ea typeface="Source Han Sans SC" pitchFamily="34" charset="-122"/>
                <a:cs typeface="Source Han Sans SC" pitchFamily="34" charset="-120"/>
              </a:rPr>
              <a:t>教育部等十七部门：《全面加强和改进新时代学生心理健康工作专项行动计划（2023-2025年）》（教体艺〔2023〕1号）</a:t>
            </a:r>
            <a:endParaRPr lang="en-US" sz="650" dirty="0"/>
          </a:p>
        </p:txBody>
      </p:sp>
      <p:sp>
        <p:nvSpPr>
          <p:cNvPr id="7" name="Text 5"/>
          <p:cNvSpPr/>
          <p:nvPr/>
        </p:nvSpPr>
        <p:spPr>
          <a:xfrm>
            <a:off x="594360" y="1444752"/>
            <a:ext cx="411480" cy="329184"/>
          </a:xfrm>
          <a:prstGeom prst="rect">
            <a:avLst/>
          </a:prstGeom>
          <a:noFill/>
          <a:ln/>
        </p:spPr>
        <p:txBody>
          <a:bodyPr wrap="square" rtlCol="0" anchor="ctr"/>
          <a:lstStyle/>
          <a:p>
            <a:pPr indent="0" marL="0">
              <a:buNone/>
            </a:pPr>
            <a:r>
              <a:rPr lang="en-US" sz="650" b="1" dirty="0">
                <a:solidFill>
                  <a:srgbClr val="3A6EA5"/>
                </a:solidFill>
                <a:latin typeface="Source Han Sans SC" pitchFamily="34" charset="0"/>
                <a:ea typeface="Source Han Sans SC" pitchFamily="34" charset="-122"/>
                <a:cs typeface="Source Han Sans SC" pitchFamily="34" charset="-120"/>
              </a:rPr>
              <a:t>[2]</a:t>
            </a:r>
            <a:endParaRPr lang="en-US" sz="650" dirty="0"/>
          </a:p>
        </p:txBody>
      </p:sp>
      <p:sp>
        <p:nvSpPr>
          <p:cNvPr id="8" name="Text 6"/>
          <p:cNvSpPr/>
          <p:nvPr/>
        </p:nvSpPr>
        <p:spPr>
          <a:xfrm>
            <a:off x="1005840" y="1444752"/>
            <a:ext cx="5120640" cy="329184"/>
          </a:xfrm>
          <a:prstGeom prst="rect">
            <a:avLst/>
          </a:prstGeom>
          <a:noFill/>
          <a:ln/>
        </p:spPr>
        <p:txBody>
          <a:bodyPr wrap="square" rtlCol="0" anchor="ctr"/>
          <a:lstStyle/>
          <a:p>
            <a:pPr indent="0" marL="0">
              <a:lnSpc>
                <a:spcPts val="900"/>
              </a:lnSpc>
              <a:buNone/>
            </a:pPr>
            <a:r>
              <a:rPr lang="en-US" sz="650" dirty="0">
                <a:solidFill>
                  <a:srgbClr val="1E2A38"/>
                </a:solidFill>
                <a:latin typeface="Source Han Sans SC" pitchFamily="34" charset="0"/>
                <a:ea typeface="Source Han Sans SC" pitchFamily="34" charset="-122"/>
                <a:cs typeface="Source Han Sans SC" pitchFamily="34" charset="-120"/>
              </a:rPr>
              <a:t>中科院心理研究所：《中国国民心理健康发展报告（2023）》，社会科学文献出版社</a:t>
            </a:r>
            <a:endParaRPr lang="en-US" sz="650" dirty="0"/>
          </a:p>
        </p:txBody>
      </p:sp>
      <p:sp>
        <p:nvSpPr>
          <p:cNvPr id="9" name="Text 7"/>
          <p:cNvSpPr/>
          <p:nvPr/>
        </p:nvSpPr>
        <p:spPr>
          <a:xfrm>
            <a:off x="594360" y="1837944"/>
            <a:ext cx="411480" cy="329184"/>
          </a:xfrm>
          <a:prstGeom prst="rect">
            <a:avLst/>
          </a:prstGeom>
          <a:noFill/>
          <a:ln/>
        </p:spPr>
        <p:txBody>
          <a:bodyPr wrap="square" rtlCol="0" anchor="ctr"/>
          <a:lstStyle/>
          <a:p>
            <a:pPr indent="0" marL="0">
              <a:buNone/>
            </a:pPr>
            <a:r>
              <a:rPr lang="en-US" sz="650" b="1" dirty="0">
                <a:solidFill>
                  <a:srgbClr val="3A6EA5"/>
                </a:solidFill>
                <a:latin typeface="Source Han Sans SC" pitchFamily="34" charset="0"/>
                <a:ea typeface="Source Han Sans SC" pitchFamily="34" charset="-122"/>
                <a:cs typeface="Source Han Sans SC" pitchFamily="34" charset="-120"/>
              </a:rPr>
              <a:t>[3]</a:t>
            </a:r>
            <a:endParaRPr lang="en-US" sz="650" dirty="0"/>
          </a:p>
        </p:txBody>
      </p:sp>
      <p:sp>
        <p:nvSpPr>
          <p:cNvPr id="10" name="Text 8"/>
          <p:cNvSpPr/>
          <p:nvPr/>
        </p:nvSpPr>
        <p:spPr>
          <a:xfrm>
            <a:off x="1005840" y="1837944"/>
            <a:ext cx="5120640" cy="329184"/>
          </a:xfrm>
          <a:prstGeom prst="rect">
            <a:avLst/>
          </a:prstGeom>
          <a:noFill/>
          <a:ln/>
        </p:spPr>
        <p:txBody>
          <a:bodyPr wrap="square" rtlCol="0" anchor="ctr"/>
          <a:lstStyle/>
          <a:p>
            <a:pPr indent="0" marL="0">
              <a:lnSpc>
                <a:spcPts val="900"/>
              </a:lnSpc>
              <a:buNone/>
            </a:pPr>
            <a:r>
              <a:rPr lang="en-US" sz="650" dirty="0">
                <a:solidFill>
                  <a:srgbClr val="1E2A38"/>
                </a:solidFill>
                <a:latin typeface="Source Han Sans SC" pitchFamily="34" charset="0"/>
                <a:ea typeface="Source Han Sans SC" pitchFamily="34" charset="-122"/>
                <a:cs typeface="Source Han Sans SC" pitchFamily="34" charset="-120"/>
              </a:rPr>
              <a:t>中国睡眠研究会：《2025中国青少年睡眠健康调查报告》（N=13,489），2025年3月</a:t>
            </a:r>
            <a:endParaRPr lang="en-US" sz="650" dirty="0"/>
          </a:p>
        </p:txBody>
      </p:sp>
      <p:sp>
        <p:nvSpPr>
          <p:cNvPr id="11" name="Text 9"/>
          <p:cNvSpPr/>
          <p:nvPr/>
        </p:nvSpPr>
        <p:spPr>
          <a:xfrm>
            <a:off x="594360" y="2231136"/>
            <a:ext cx="411480" cy="329184"/>
          </a:xfrm>
          <a:prstGeom prst="rect">
            <a:avLst/>
          </a:prstGeom>
          <a:noFill/>
          <a:ln/>
        </p:spPr>
        <p:txBody>
          <a:bodyPr wrap="square" rtlCol="0" anchor="ctr"/>
          <a:lstStyle/>
          <a:p>
            <a:pPr indent="0" marL="0">
              <a:buNone/>
            </a:pPr>
            <a:r>
              <a:rPr lang="en-US" sz="650" b="1" dirty="0">
                <a:solidFill>
                  <a:srgbClr val="3A6EA5"/>
                </a:solidFill>
                <a:latin typeface="Source Han Sans SC" pitchFamily="34" charset="0"/>
                <a:ea typeface="Source Han Sans SC" pitchFamily="34" charset="-122"/>
                <a:cs typeface="Source Han Sans SC" pitchFamily="34" charset="-120"/>
              </a:rPr>
              <a:t>[4]</a:t>
            </a:r>
            <a:endParaRPr lang="en-US" sz="650" dirty="0"/>
          </a:p>
        </p:txBody>
      </p:sp>
      <p:sp>
        <p:nvSpPr>
          <p:cNvPr id="12" name="Text 10"/>
          <p:cNvSpPr/>
          <p:nvPr/>
        </p:nvSpPr>
        <p:spPr>
          <a:xfrm>
            <a:off x="1005840" y="2231136"/>
            <a:ext cx="5120640" cy="329184"/>
          </a:xfrm>
          <a:prstGeom prst="rect">
            <a:avLst/>
          </a:prstGeom>
          <a:noFill/>
          <a:ln/>
        </p:spPr>
        <p:txBody>
          <a:bodyPr wrap="square" rtlCol="0" anchor="ctr"/>
          <a:lstStyle/>
          <a:p>
            <a:pPr indent="0" marL="0">
              <a:lnSpc>
                <a:spcPts val="900"/>
              </a:lnSpc>
              <a:buNone/>
            </a:pPr>
            <a:r>
              <a:rPr lang="en-US" sz="650" dirty="0">
                <a:solidFill>
                  <a:srgbClr val="1E2A38"/>
                </a:solidFill>
                <a:latin typeface="Source Han Sans SC" pitchFamily="34" charset="0"/>
                <a:ea typeface="Source Han Sans SC" pitchFamily="34" charset="-122"/>
                <a:cs typeface="Source Han Sans SC" pitchFamily="34" charset="-120"/>
              </a:rPr>
              <a:t>WHO. Adolescent Mental Health: A Global Status Report. Geneva: WHO, 2024.</a:t>
            </a:r>
            <a:endParaRPr lang="en-US" sz="650" dirty="0"/>
          </a:p>
        </p:txBody>
      </p:sp>
      <p:sp>
        <p:nvSpPr>
          <p:cNvPr id="13" name="Text 11"/>
          <p:cNvSpPr/>
          <p:nvPr/>
        </p:nvSpPr>
        <p:spPr>
          <a:xfrm>
            <a:off x="594360" y="2624328"/>
            <a:ext cx="411480" cy="329184"/>
          </a:xfrm>
          <a:prstGeom prst="rect">
            <a:avLst/>
          </a:prstGeom>
          <a:noFill/>
          <a:ln/>
        </p:spPr>
        <p:txBody>
          <a:bodyPr wrap="square" rtlCol="0" anchor="ctr"/>
          <a:lstStyle/>
          <a:p>
            <a:pPr indent="0" marL="0">
              <a:buNone/>
            </a:pPr>
            <a:r>
              <a:rPr lang="en-US" sz="650" b="1" dirty="0">
                <a:solidFill>
                  <a:srgbClr val="3A6EA5"/>
                </a:solidFill>
                <a:latin typeface="Source Han Sans SC" pitchFamily="34" charset="0"/>
                <a:ea typeface="Source Han Sans SC" pitchFamily="34" charset="-122"/>
                <a:cs typeface="Source Han Sans SC" pitchFamily="34" charset="-120"/>
              </a:rPr>
              <a:t>[5]</a:t>
            </a:r>
            <a:endParaRPr lang="en-US" sz="650" dirty="0"/>
          </a:p>
        </p:txBody>
      </p:sp>
      <p:sp>
        <p:nvSpPr>
          <p:cNvPr id="14" name="Text 12"/>
          <p:cNvSpPr/>
          <p:nvPr/>
        </p:nvSpPr>
        <p:spPr>
          <a:xfrm>
            <a:off x="1005840" y="2624328"/>
            <a:ext cx="5120640" cy="329184"/>
          </a:xfrm>
          <a:prstGeom prst="rect">
            <a:avLst/>
          </a:prstGeom>
          <a:noFill/>
          <a:ln/>
        </p:spPr>
        <p:txBody>
          <a:bodyPr wrap="square" rtlCol="0" anchor="ctr"/>
          <a:lstStyle/>
          <a:p>
            <a:pPr indent="0" marL="0">
              <a:lnSpc>
                <a:spcPts val="900"/>
              </a:lnSpc>
              <a:buNone/>
            </a:pPr>
            <a:r>
              <a:rPr lang="en-US" sz="650" dirty="0">
                <a:solidFill>
                  <a:srgbClr val="1E2A38"/>
                </a:solidFill>
                <a:latin typeface="Source Han Sans SC" pitchFamily="34" charset="0"/>
                <a:ea typeface="Source Han Sans SC" pitchFamily="34" charset="-122"/>
                <a:cs typeface="Source Han Sans SC" pitchFamily="34" charset="-120"/>
              </a:rPr>
              <a:t>教育部：《教育强国建设规划纲要（2024-2035）》，2025年1月</a:t>
            </a:r>
            <a:endParaRPr lang="en-US" sz="650" dirty="0"/>
          </a:p>
        </p:txBody>
      </p:sp>
      <p:sp>
        <p:nvSpPr>
          <p:cNvPr id="15" name="Text 13"/>
          <p:cNvSpPr/>
          <p:nvPr/>
        </p:nvSpPr>
        <p:spPr>
          <a:xfrm>
            <a:off x="594360" y="3017520"/>
            <a:ext cx="411480" cy="329184"/>
          </a:xfrm>
          <a:prstGeom prst="rect">
            <a:avLst/>
          </a:prstGeom>
          <a:noFill/>
          <a:ln/>
        </p:spPr>
        <p:txBody>
          <a:bodyPr wrap="square" rtlCol="0" anchor="ctr"/>
          <a:lstStyle/>
          <a:p>
            <a:pPr indent="0" marL="0">
              <a:buNone/>
            </a:pPr>
            <a:r>
              <a:rPr lang="en-US" sz="650" b="1" dirty="0">
                <a:solidFill>
                  <a:srgbClr val="3A6EA5"/>
                </a:solidFill>
                <a:latin typeface="Source Han Sans SC" pitchFamily="34" charset="0"/>
                <a:ea typeface="Source Han Sans SC" pitchFamily="34" charset="-122"/>
                <a:cs typeface="Source Han Sans SC" pitchFamily="34" charset="-120"/>
              </a:rPr>
              <a:t>[6]</a:t>
            </a:r>
            <a:endParaRPr lang="en-US" sz="650" dirty="0"/>
          </a:p>
        </p:txBody>
      </p:sp>
      <p:sp>
        <p:nvSpPr>
          <p:cNvPr id="16" name="Text 14"/>
          <p:cNvSpPr/>
          <p:nvPr/>
        </p:nvSpPr>
        <p:spPr>
          <a:xfrm>
            <a:off x="1005840" y="3017520"/>
            <a:ext cx="5120640" cy="329184"/>
          </a:xfrm>
          <a:prstGeom prst="rect">
            <a:avLst/>
          </a:prstGeom>
          <a:noFill/>
          <a:ln/>
        </p:spPr>
        <p:txBody>
          <a:bodyPr wrap="square" rtlCol="0" anchor="ctr"/>
          <a:lstStyle/>
          <a:p>
            <a:pPr indent="0" marL="0">
              <a:lnSpc>
                <a:spcPts val="900"/>
              </a:lnSpc>
              <a:buNone/>
            </a:pPr>
            <a:r>
              <a:rPr lang="en-US" sz="650" dirty="0">
                <a:solidFill>
                  <a:srgbClr val="1E2A38"/>
                </a:solidFill>
                <a:latin typeface="Source Han Sans SC" pitchFamily="34" charset="0"/>
                <a:ea typeface="Source Han Sans SC" pitchFamily="34" charset="-122"/>
                <a:cs typeface="Source Han Sans SC" pitchFamily="34" charset="-120"/>
              </a:rPr>
              <a:t>OECD. PISA 2022 Results: Student Well-being. Paris: OECD Publishing, 2023.</a:t>
            </a:r>
            <a:endParaRPr lang="en-US" sz="650" dirty="0"/>
          </a:p>
        </p:txBody>
      </p:sp>
      <p:sp>
        <p:nvSpPr>
          <p:cNvPr id="17" name="Text 15"/>
          <p:cNvSpPr/>
          <p:nvPr/>
        </p:nvSpPr>
        <p:spPr>
          <a:xfrm>
            <a:off x="594360" y="3410712"/>
            <a:ext cx="411480" cy="329184"/>
          </a:xfrm>
          <a:prstGeom prst="rect">
            <a:avLst/>
          </a:prstGeom>
          <a:noFill/>
          <a:ln/>
        </p:spPr>
        <p:txBody>
          <a:bodyPr wrap="square" rtlCol="0" anchor="ctr"/>
          <a:lstStyle/>
          <a:p>
            <a:pPr indent="0" marL="0">
              <a:buNone/>
            </a:pPr>
            <a:r>
              <a:rPr lang="en-US" sz="650" b="1" dirty="0">
                <a:solidFill>
                  <a:srgbClr val="3A6EA5"/>
                </a:solidFill>
                <a:latin typeface="Source Han Sans SC" pitchFamily="34" charset="0"/>
                <a:ea typeface="Source Han Sans SC" pitchFamily="34" charset="-122"/>
                <a:cs typeface="Source Han Sans SC" pitchFamily="34" charset="-120"/>
              </a:rPr>
              <a:t>[7]</a:t>
            </a:r>
            <a:endParaRPr lang="en-US" sz="650" dirty="0"/>
          </a:p>
        </p:txBody>
      </p:sp>
      <p:sp>
        <p:nvSpPr>
          <p:cNvPr id="18" name="Text 16"/>
          <p:cNvSpPr/>
          <p:nvPr/>
        </p:nvSpPr>
        <p:spPr>
          <a:xfrm>
            <a:off x="1005840" y="3410712"/>
            <a:ext cx="5120640" cy="329184"/>
          </a:xfrm>
          <a:prstGeom prst="rect">
            <a:avLst/>
          </a:prstGeom>
          <a:noFill/>
          <a:ln/>
        </p:spPr>
        <p:txBody>
          <a:bodyPr wrap="square" rtlCol="0" anchor="ctr"/>
          <a:lstStyle/>
          <a:p>
            <a:pPr indent="0" marL="0">
              <a:lnSpc>
                <a:spcPts val="900"/>
              </a:lnSpc>
              <a:buNone/>
            </a:pPr>
            <a:r>
              <a:rPr lang="en-US" sz="650" dirty="0">
                <a:solidFill>
                  <a:srgbClr val="1E2A38"/>
                </a:solidFill>
                <a:latin typeface="Source Han Sans SC" pitchFamily="34" charset="0"/>
                <a:ea typeface="Source Han Sans SC" pitchFamily="34" charset="-122"/>
                <a:cs typeface="Source Han Sans SC" pitchFamily="34" charset="-120"/>
              </a:rPr>
              <a:t>中华医学会精神医学分会：《2024中国青少年焦虑障碍流行病学调查》（N=12,843），2024</a:t>
            </a:r>
            <a:endParaRPr lang="en-US" sz="650" dirty="0"/>
          </a:p>
        </p:txBody>
      </p:sp>
      <p:sp>
        <p:nvSpPr>
          <p:cNvPr id="19" name="Text 17"/>
          <p:cNvSpPr/>
          <p:nvPr/>
        </p:nvSpPr>
        <p:spPr>
          <a:xfrm>
            <a:off x="6126480" y="1051560"/>
            <a:ext cx="411480" cy="329184"/>
          </a:xfrm>
          <a:prstGeom prst="rect">
            <a:avLst/>
          </a:prstGeom>
          <a:noFill/>
          <a:ln/>
        </p:spPr>
        <p:txBody>
          <a:bodyPr wrap="square" rtlCol="0" anchor="ctr"/>
          <a:lstStyle/>
          <a:p>
            <a:pPr indent="0" marL="0">
              <a:buNone/>
            </a:pPr>
            <a:r>
              <a:rPr lang="en-US" sz="650" b="1" dirty="0">
                <a:solidFill>
                  <a:srgbClr val="3A6EA5"/>
                </a:solidFill>
                <a:latin typeface="Source Han Sans SC" pitchFamily="34" charset="0"/>
                <a:ea typeface="Source Han Sans SC" pitchFamily="34" charset="-122"/>
                <a:cs typeface="Source Han Sans SC" pitchFamily="34" charset="-120"/>
              </a:rPr>
              <a:t>[8]</a:t>
            </a:r>
            <a:endParaRPr lang="en-US" sz="650" dirty="0"/>
          </a:p>
        </p:txBody>
      </p:sp>
      <p:sp>
        <p:nvSpPr>
          <p:cNvPr id="20" name="Text 18"/>
          <p:cNvSpPr/>
          <p:nvPr/>
        </p:nvSpPr>
        <p:spPr>
          <a:xfrm>
            <a:off x="6537960" y="1051560"/>
            <a:ext cx="5120640" cy="329184"/>
          </a:xfrm>
          <a:prstGeom prst="rect">
            <a:avLst/>
          </a:prstGeom>
          <a:noFill/>
          <a:ln/>
        </p:spPr>
        <p:txBody>
          <a:bodyPr wrap="square" rtlCol="0" anchor="ctr"/>
          <a:lstStyle/>
          <a:p>
            <a:pPr indent="0" marL="0">
              <a:lnSpc>
                <a:spcPts val="900"/>
              </a:lnSpc>
              <a:buNone/>
            </a:pPr>
            <a:r>
              <a:rPr lang="en-US" sz="650" dirty="0">
                <a:solidFill>
                  <a:srgbClr val="1E2A38"/>
                </a:solidFill>
                <a:latin typeface="Source Han Sans SC" pitchFamily="34" charset="0"/>
                <a:ea typeface="Source Han Sans SC" pitchFamily="34" charset="-122"/>
                <a:cs typeface="Source Han Sans SC" pitchFamily="34" charset="-120"/>
              </a:rPr>
              <a:t>中国青年报社、中青校媒：《2024全国青少年心理健康认知调查》</a:t>
            </a:r>
            <a:endParaRPr lang="en-US" sz="650" dirty="0"/>
          </a:p>
        </p:txBody>
      </p:sp>
      <p:sp>
        <p:nvSpPr>
          <p:cNvPr id="21" name="Text 19"/>
          <p:cNvSpPr/>
          <p:nvPr/>
        </p:nvSpPr>
        <p:spPr>
          <a:xfrm>
            <a:off x="6126480" y="1444752"/>
            <a:ext cx="411480" cy="329184"/>
          </a:xfrm>
          <a:prstGeom prst="rect">
            <a:avLst/>
          </a:prstGeom>
          <a:noFill/>
          <a:ln/>
        </p:spPr>
        <p:txBody>
          <a:bodyPr wrap="square" rtlCol="0" anchor="ctr"/>
          <a:lstStyle/>
          <a:p>
            <a:pPr indent="0" marL="0">
              <a:buNone/>
            </a:pPr>
            <a:r>
              <a:rPr lang="en-US" sz="650" b="1" dirty="0">
                <a:solidFill>
                  <a:srgbClr val="3A6EA5"/>
                </a:solidFill>
                <a:latin typeface="Source Han Sans SC" pitchFamily="34" charset="0"/>
                <a:ea typeface="Source Han Sans SC" pitchFamily="34" charset="-122"/>
                <a:cs typeface="Source Han Sans SC" pitchFamily="34" charset="-120"/>
              </a:rPr>
              <a:t>[9]</a:t>
            </a:r>
            <a:endParaRPr lang="en-US" sz="650" dirty="0"/>
          </a:p>
        </p:txBody>
      </p:sp>
      <p:sp>
        <p:nvSpPr>
          <p:cNvPr id="22" name="Text 20"/>
          <p:cNvSpPr/>
          <p:nvPr/>
        </p:nvSpPr>
        <p:spPr>
          <a:xfrm>
            <a:off x="6537960" y="1444752"/>
            <a:ext cx="5120640" cy="329184"/>
          </a:xfrm>
          <a:prstGeom prst="rect">
            <a:avLst/>
          </a:prstGeom>
          <a:noFill/>
          <a:ln/>
        </p:spPr>
        <p:txBody>
          <a:bodyPr wrap="square" rtlCol="0" anchor="ctr"/>
          <a:lstStyle/>
          <a:p>
            <a:pPr indent="0" marL="0">
              <a:lnSpc>
                <a:spcPts val="900"/>
              </a:lnSpc>
              <a:buNone/>
            </a:pPr>
            <a:r>
              <a:rPr lang="en-US" sz="650" dirty="0">
                <a:solidFill>
                  <a:srgbClr val="1E2A38"/>
                </a:solidFill>
                <a:latin typeface="Source Han Sans SC" pitchFamily="34" charset="0"/>
                <a:ea typeface="Source Han Sans SC" pitchFamily="34" charset="-122"/>
                <a:cs typeface="Source Han Sans SC" pitchFamily="34" charset="-120"/>
              </a:rPr>
              <a:t>UNICEF. The State of the World's Children 2024: Adolescent Mental Health.</a:t>
            </a:r>
            <a:endParaRPr lang="en-US" sz="650" dirty="0"/>
          </a:p>
        </p:txBody>
      </p:sp>
      <p:sp>
        <p:nvSpPr>
          <p:cNvPr id="23" name="Text 21"/>
          <p:cNvSpPr/>
          <p:nvPr/>
        </p:nvSpPr>
        <p:spPr>
          <a:xfrm>
            <a:off x="6126480" y="1837944"/>
            <a:ext cx="411480" cy="329184"/>
          </a:xfrm>
          <a:prstGeom prst="rect">
            <a:avLst/>
          </a:prstGeom>
          <a:noFill/>
          <a:ln/>
        </p:spPr>
        <p:txBody>
          <a:bodyPr wrap="square" rtlCol="0" anchor="ctr"/>
          <a:lstStyle/>
          <a:p>
            <a:pPr indent="0" marL="0">
              <a:buNone/>
            </a:pPr>
            <a:r>
              <a:rPr lang="en-US" sz="650" b="1" dirty="0">
                <a:solidFill>
                  <a:srgbClr val="3A6EA5"/>
                </a:solidFill>
                <a:latin typeface="Source Han Sans SC" pitchFamily="34" charset="0"/>
                <a:ea typeface="Source Han Sans SC" pitchFamily="34" charset="-122"/>
                <a:cs typeface="Source Han Sans SC" pitchFamily="34" charset="-120"/>
              </a:rPr>
              <a:t>[10]</a:t>
            </a:r>
            <a:endParaRPr lang="en-US" sz="650" dirty="0"/>
          </a:p>
        </p:txBody>
      </p:sp>
      <p:sp>
        <p:nvSpPr>
          <p:cNvPr id="24" name="Text 22"/>
          <p:cNvSpPr/>
          <p:nvPr/>
        </p:nvSpPr>
        <p:spPr>
          <a:xfrm>
            <a:off x="6537960" y="1837944"/>
            <a:ext cx="5120640" cy="329184"/>
          </a:xfrm>
          <a:prstGeom prst="rect">
            <a:avLst/>
          </a:prstGeom>
          <a:noFill/>
          <a:ln/>
        </p:spPr>
        <p:txBody>
          <a:bodyPr wrap="square" rtlCol="0" anchor="ctr"/>
          <a:lstStyle/>
          <a:p>
            <a:pPr indent="0" marL="0">
              <a:lnSpc>
                <a:spcPts val="900"/>
              </a:lnSpc>
              <a:buNone/>
            </a:pPr>
            <a:r>
              <a:rPr lang="en-US" sz="650" dirty="0">
                <a:solidFill>
                  <a:srgbClr val="1E2A38"/>
                </a:solidFill>
                <a:latin typeface="Source Han Sans SC" pitchFamily="34" charset="0"/>
                <a:ea typeface="Source Han Sans SC" pitchFamily="34" charset="-122"/>
                <a:cs typeface="Source Han Sans SC" pitchFamily="34" charset="-120"/>
              </a:rPr>
              <a:t>2024、2026年全国两会青少年心理健康相关提案整理汇编</a:t>
            </a:r>
            <a:endParaRPr lang="en-US" sz="650" dirty="0"/>
          </a:p>
        </p:txBody>
      </p:sp>
      <p:sp>
        <p:nvSpPr>
          <p:cNvPr id="25" name="Text 23"/>
          <p:cNvSpPr/>
          <p:nvPr/>
        </p:nvSpPr>
        <p:spPr>
          <a:xfrm>
            <a:off x="6126480" y="2231136"/>
            <a:ext cx="411480" cy="329184"/>
          </a:xfrm>
          <a:prstGeom prst="rect">
            <a:avLst/>
          </a:prstGeom>
          <a:noFill/>
          <a:ln/>
        </p:spPr>
        <p:txBody>
          <a:bodyPr wrap="square" rtlCol="0" anchor="ctr"/>
          <a:lstStyle/>
          <a:p>
            <a:pPr indent="0" marL="0">
              <a:buNone/>
            </a:pPr>
            <a:r>
              <a:rPr lang="en-US" sz="650" b="1" dirty="0">
                <a:solidFill>
                  <a:srgbClr val="3A6EA5"/>
                </a:solidFill>
                <a:latin typeface="Source Han Sans SC" pitchFamily="34" charset="0"/>
                <a:ea typeface="Source Han Sans SC" pitchFamily="34" charset="-122"/>
                <a:cs typeface="Source Han Sans SC" pitchFamily="34" charset="-120"/>
              </a:rPr>
              <a:t>[11]</a:t>
            </a:r>
            <a:endParaRPr lang="en-US" sz="650" dirty="0"/>
          </a:p>
        </p:txBody>
      </p:sp>
      <p:sp>
        <p:nvSpPr>
          <p:cNvPr id="26" name="Text 24"/>
          <p:cNvSpPr/>
          <p:nvPr/>
        </p:nvSpPr>
        <p:spPr>
          <a:xfrm>
            <a:off x="6537960" y="2231136"/>
            <a:ext cx="5120640" cy="329184"/>
          </a:xfrm>
          <a:prstGeom prst="rect">
            <a:avLst/>
          </a:prstGeom>
          <a:noFill/>
          <a:ln/>
        </p:spPr>
        <p:txBody>
          <a:bodyPr wrap="square" rtlCol="0" anchor="ctr"/>
          <a:lstStyle/>
          <a:p>
            <a:pPr indent="0" marL="0">
              <a:lnSpc>
                <a:spcPts val="900"/>
              </a:lnSpc>
              <a:buNone/>
            </a:pPr>
            <a:r>
              <a:rPr lang="en-US" sz="650" dirty="0">
                <a:solidFill>
                  <a:srgbClr val="1E2A38"/>
                </a:solidFill>
                <a:latin typeface="Source Han Sans SC" pitchFamily="34" charset="0"/>
                <a:ea typeface="Source Han Sans SC" pitchFamily="34" charset="-122"/>
                <a:cs typeface="Source Han Sans SC" pitchFamily="34" charset="-120"/>
              </a:rPr>
              <a:t>教育部基础教育司：《中小学心理辅导室建设指南》</a:t>
            </a:r>
            <a:endParaRPr lang="en-US" sz="650" dirty="0"/>
          </a:p>
        </p:txBody>
      </p:sp>
      <p:sp>
        <p:nvSpPr>
          <p:cNvPr id="27" name="Text 25"/>
          <p:cNvSpPr/>
          <p:nvPr/>
        </p:nvSpPr>
        <p:spPr>
          <a:xfrm>
            <a:off x="6126480" y="2624328"/>
            <a:ext cx="411480" cy="329184"/>
          </a:xfrm>
          <a:prstGeom prst="rect">
            <a:avLst/>
          </a:prstGeom>
          <a:noFill/>
          <a:ln/>
        </p:spPr>
        <p:txBody>
          <a:bodyPr wrap="square" rtlCol="0" anchor="ctr"/>
          <a:lstStyle/>
          <a:p>
            <a:pPr indent="0" marL="0">
              <a:buNone/>
            </a:pPr>
            <a:r>
              <a:rPr lang="en-US" sz="650" b="1" dirty="0">
                <a:solidFill>
                  <a:srgbClr val="3A6EA5"/>
                </a:solidFill>
                <a:latin typeface="Source Han Sans SC" pitchFamily="34" charset="0"/>
                <a:ea typeface="Source Han Sans SC" pitchFamily="34" charset="-122"/>
                <a:cs typeface="Source Han Sans SC" pitchFamily="34" charset="-120"/>
              </a:rPr>
              <a:t>[12]</a:t>
            </a:r>
            <a:endParaRPr lang="en-US" sz="650" dirty="0"/>
          </a:p>
        </p:txBody>
      </p:sp>
      <p:sp>
        <p:nvSpPr>
          <p:cNvPr id="28" name="Text 26"/>
          <p:cNvSpPr/>
          <p:nvPr/>
        </p:nvSpPr>
        <p:spPr>
          <a:xfrm>
            <a:off x="6537960" y="2624328"/>
            <a:ext cx="5120640" cy="329184"/>
          </a:xfrm>
          <a:prstGeom prst="rect">
            <a:avLst/>
          </a:prstGeom>
          <a:noFill/>
          <a:ln/>
        </p:spPr>
        <p:txBody>
          <a:bodyPr wrap="square" rtlCol="0" anchor="ctr"/>
          <a:lstStyle/>
          <a:p>
            <a:pPr indent="0" marL="0">
              <a:lnSpc>
                <a:spcPts val="900"/>
              </a:lnSpc>
              <a:buNone/>
            </a:pPr>
            <a:r>
              <a:rPr lang="en-US" sz="650" dirty="0">
                <a:solidFill>
                  <a:srgbClr val="1E2A38"/>
                </a:solidFill>
                <a:latin typeface="Source Han Sans SC" pitchFamily="34" charset="0"/>
                <a:ea typeface="Source Han Sans SC" pitchFamily="34" charset="-122"/>
                <a:cs typeface="Source Han Sans SC" pitchFamily="34" charset="-120"/>
              </a:rPr>
              <a:t>日本文部科学省：儿童生徒心理健康相关基本方针（2023年版）</a:t>
            </a:r>
            <a:endParaRPr lang="en-US" sz="650" dirty="0"/>
          </a:p>
        </p:txBody>
      </p:sp>
      <p:sp>
        <p:nvSpPr>
          <p:cNvPr id="29" name="Text 27"/>
          <p:cNvSpPr/>
          <p:nvPr/>
        </p:nvSpPr>
        <p:spPr>
          <a:xfrm>
            <a:off x="6126480" y="3017520"/>
            <a:ext cx="411480" cy="329184"/>
          </a:xfrm>
          <a:prstGeom prst="rect">
            <a:avLst/>
          </a:prstGeom>
          <a:noFill/>
          <a:ln/>
        </p:spPr>
        <p:txBody>
          <a:bodyPr wrap="square" rtlCol="0" anchor="ctr"/>
          <a:lstStyle/>
          <a:p>
            <a:pPr indent="0" marL="0">
              <a:buNone/>
            </a:pPr>
            <a:r>
              <a:rPr lang="en-US" sz="650" b="1" dirty="0">
                <a:solidFill>
                  <a:srgbClr val="3A6EA5"/>
                </a:solidFill>
                <a:latin typeface="Source Han Sans SC" pitchFamily="34" charset="0"/>
                <a:ea typeface="Source Han Sans SC" pitchFamily="34" charset="-122"/>
                <a:cs typeface="Source Han Sans SC" pitchFamily="34" charset="-120"/>
              </a:rPr>
              <a:t>[13]</a:t>
            </a:r>
            <a:endParaRPr lang="en-US" sz="650" dirty="0"/>
          </a:p>
        </p:txBody>
      </p:sp>
      <p:sp>
        <p:nvSpPr>
          <p:cNvPr id="30" name="Text 28"/>
          <p:cNvSpPr/>
          <p:nvPr/>
        </p:nvSpPr>
        <p:spPr>
          <a:xfrm>
            <a:off x="6537960" y="3017520"/>
            <a:ext cx="5120640" cy="329184"/>
          </a:xfrm>
          <a:prstGeom prst="rect">
            <a:avLst/>
          </a:prstGeom>
          <a:noFill/>
          <a:ln/>
        </p:spPr>
        <p:txBody>
          <a:bodyPr wrap="square" rtlCol="0" anchor="ctr"/>
          <a:lstStyle/>
          <a:p>
            <a:pPr indent="0" marL="0">
              <a:lnSpc>
                <a:spcPts val="900"/>
              </a:lnSpc>
              <a:buNone/>
            </a:pPr>
            <a:r>
              <a:rPr lang="en-US" sz="650" dirty="0">
                <a:solidFill>
                  <a:srgbClr val="1E2A38"/>
                </a:solidFill>
                <a:latin typeface="Source Han Sans SC" pitchFamily="34" charset="0"/>
                <a:ea typeface="Source Han Sans SC" pitchFamily="34" charset="-122"/>
                <a:cs typeface="Source Han Sans SC" pitchFamily="34" charset="-120"/>
              </a:rPr>
              <a:t>哈尔滨市教育局：2025年哈尔滨市中小学生健康监测报告</a:t>
            </a:r>
            <a:endParaRPr lang="en-US" sz="650" dirty="0"/>
          </a:p>
        </p:txBody>
      </p:sp>
      <p:sp>
        <p:nvSpPr>
          <p:cNvPr id="31" name="Text 29"/>
          <p:cNvSpPr/>
          <p:nvPr/>
        </p:nvSpPr>
        <p:spPr>
          <a:xfrm>
            <a:off x="594360" y="5669280"/>
            <a:ext cx="11000232" cy="274320"/>
          </a:xfrm>
          <a:prstGeom prst="rect">
            <a:avLst/>
          </a:prstGeom>
          <a:noFill/>
          <a:ln/>
        </p:spPr>
        <p:txBody>
          <a:bodyPr wrap="square" rtlCol="0" anchor="ctr"/>
          <a:lstStyle/>
          <a:p>
            <a:pPr indent="0" marL="0">
              <a:buNone/>
            </a:pPr>
            <a:r>
              <a:rPr lang="en-US" sz="650" dirty="0">
                <a:solidFill>
                  <a:srgbClr val="B0B8C4"/>
                </a:solidFill>
                <a:latin typeface="Source Han Sans SC" pitchFamily="34" charset="0"/>
                <a:ea typeface="Source Han Sans SC" pitchFamily="34" charset="-122"/>
                <a:cs typeface="Source Han Sans SC" pitchFamily="34" charset="-120"/>
              </a:rPr>
              <a:t>注：本提案中标注本次调研的数据来源于心晴调研小组2026年3月实地调研（N=672）。详细引用信息备索。</a:t>
            </a:r>
            <a:endParaRPr lang="en-US" sz="650" dirty="0"/>
          </a:p>
        </p:txBody>
      </p:sp>
      <p:sp>
        <p:nvSpPr>
          <p:cNvPr id="32" name="Text 30"/>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21/23</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A38"/>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总结与展望</a:t>
            </a:r>
            <a:endParaRPr lang="en-US" sz="2400" dirty="0"/>
          </a:p>
        </p:txBody>
      </p:sp>
      <p:sp>
        <p:nvSpPr>
          <p:cNvPr id="4" name="Shape 2"/>
          <p:cNvSpPr/>
          <p:nvPr/>
        </p:nvSpPr>
        <p:spPr>
          <a:xfrm>
            <a:off x="-1828800" y="-1828800"/>
            <a:ext cx="4572000" cy="4572000"/>
          </a:xfrm>
          <a:prstGeom prst="ellipse">
            <a:avLst/>
          </a:prstGeom>
          <a:solidFill>
            <a:srgbClr val="3A6EA5">
              <a:alpha val="30000"/>
            </a:srgbClr>
          </a:solidFill>
          <a:ln/>
        </p:spPr>
      </p:sp>
      <p:sp>
        <p:nvSpPr>
          <p:cNvPr id="5" name="Shape 3"/>
          <p:cNvSpPr/>
          <p:nvPr/>
        </p:nvSpPr>
        <p:spPr>
          <a:xfrm>
            <a:off x="9144000" y="3657600"/>
            <a:ext cx="5486400" cy="5486400"/>
          </a:xfrm>
          <a:prstGeom prst="ellipse">
            <a:avLst/>
          </a:prstGeom>
          <a:solidFill>
            <a:srgbClr val="3A6EA5">
              <a:alpha val="20000"/>
            </a:srgbClr>
          </a:solidFill>
          <a:ln/>
        </p:spPr>
      </p:sp>
      <p:sp>
        <p:nvSpPr>
          <p:cNvPr id="6" name="Shape 4"/>
          <p:cNvSpPr/>
          <p:nvPr/>
        </p:nvSpPr>
        <p:spPr>
          <a:xfrm>
            <a:off x="4114800" y="640080"/>
            <a:ext cx="3657600" cy="27432"/>
          </a:xfrm>
          <a:prstGeom prst="rect">
            <a:avLst/>
          </a:prstGeom>
          <a:solidFill>
            <a:srgbClr val="D98E04"/>
          </a:solidFill>
          <a:ln/>
        </p:spPr>
      </p:sp>
      <p:sp>
        <p:nvSpPr>
          <p:cNvPr id="7" name="Text 5"/>
          <p:cNvSpPr/>
          <p:nvPr/>
        </p:nvSpPr>
        <p:spPr>
          <a:xfrm>
            <a:off x="594360" y="914400"/>
            <a:ext cx="11000232" cy="457200"/>
          </a:xfrm>
          <a:prstGeom prst="rect">
            <a:avLst/>
          </a:prstGeom>
          <a:noFill/>
          <a:ln/>
        </p:spPr>
        <p:txBody>
          <a:bodyPr wrap="square" rtlCol="0" anchor="ctr"/>
          <a:lstStyle/>
          <a:p>
            <a:pPr algn="ctr" indent="0" marL="0">
              <a:buNone/>
            </a:pPr>
            <a:r>
              <a:rPr lang="en-US" sz="2200" b="1" dirty="0">
                <a:solidFill>
                  <a:srgbClr val="FFFFFF"/>
                </a:solidFill>
                <a:latin typeface="Source Han Sans SC" pitchFamily="34" charset="0"/>
                <a:ea typeface="Source Han Sans SC" pitchFamily="34" charset="-122"/>
                <a:cs typeface="Source Han Sans SC" pitchFamily="34" charset="-120"/>
              </a:rPr>
              <a:t>总结与展望</a:t>
            </a:r>
            <a:endParaRPr lang="en-US" sz="2200" dirty="0"/>
          </a:p>
        </p:txBody>
      </p:sp>
      <p:sp>
        <p:nvSpPr>
          <p:cNvPr id="8" name="Text 6"/>
          <p:cNvSpPr/>
          <p:nvPr/>
        </p:nvSpPr>
        <p:spPr>
          <a:xfrm>
            <a:off x="914400" y="1554480"/>
            <a:ext cx="10360152" cy="320040"/>
          </a:xfrm>
          <a:prstGeom prst="rect">
            <a:avLst/>
          </a:prstGeom>
          <a:noFill/>
          <a:ln/>
        </p:spPr>
        <p:txBody>
          <a:bodyPr wrap="square" rtlCol="0" anchor="ctr"/>
          <a:lstStyle/>
          <a:p>
            <a:pPr algn="ctr" indent="0" marL="0">
              <a:lnSpc>
                <a:spcPts val="1400"/>
              </a:lnSpc>
              <a:buNone/>
            </a:pPr>
            <a:r>
              <a:rPr lang="en-US" sz="950" dirty="0">
                <a:solidFill>
                  <a:srgbClr val="FFFFFF"/>
                </a:solidFill>
                <a:latin typeface="Source Han Sans SC" pitchFamily="34" charset="0"/>
                <a:ea typeface="Source Han Sans SC" pitchFamily="34" charset="-122"/>
                <a:cs typeface="Source Han Sans SC" pitchFamily="34" charset="-120"/>
              </a:rPr>
              <a:t>本提案基于3所中学、672份有效问卷、38人次深度访谈的实地调研，</a:t>
            </a:r>
            <a:endParaRPr lang="en-US" sz="950" dirty="0"/>
          </a:p>
        </p:txBody>
      </p:sp>
      <p:sp>
        <p:nvSpPr>
          <p:cNvPr id="9" name="Text 7"/>
          <p:cNvSpPr/>
          <p:nvPr/>
        </p:nvSpPr>
        <p:spPr>
          <a:xfrm>
            <a:off x="914400" y="1901952"/>
            <a:ext cx="10360152" cy="320040"/>
          </a:xfrm>
          <a:prstGeom prst="rect">
            <a:avLst/>
          </a:prstGeom>
          <a:noFill/>
          <a:ln/>
        </p:spPr>
        <p:txBody>
          <a:bodyPr wrap="square" rtlCol="0" anchor="ctr"/>
          <a:lstStyle/>
          <a:p>
            <a:pPr algn="ctr" indent="0" marL="0">
              <a:lnSpc>
                <a:spcPts val="1400"/>
              </a:lnSpc>
              <a:buNone/>
            </a:pPr>
            <a:r>
              <a:rPr lang="en-US" sz="950" dirty="0">
                <a:solidFill>
                  <a:srgbClr val="FFFFFF"/>
                </a:solidFill>
                <a:latin typeface="Source Han Sans SC" pitchFamily="34" charset="0"/>
                <a:ea typeface="Source Han Sans SC" pitchFamily="34" charset="-122"/>
                <a:cs typeface="Source Han Sans SC" pitchFamily="34" charset="-120"/>
              </a:rPr>
              <a:t>结合国内外权威数据与政策分析，全面审视了当前高中生心理健康支持体系的现状。</a:t>
            </a:r>
            <a:endParaRPr lang="en-US" sz="950" dirty="0"/>
          </a:p>
        </p:txBody>
      </p:sp>
      <p:sp>
        <p:nvSpPr>
          <p:cNvPr id="10" name="Text 8"/>
          <p:cNvSpPr/>
          <p:nvPr/>
        </p:nvSpPr>
        <p:spPr>
          <a:xfrm>
            <a:off x="914400" y="2249424"/>
            <a:ext cx="10360152" cy="320040"/>
          </a:xfrm>
          <a:prstGeom prst="rect">
            <a:avLst/>
          </a:prstGeom>
          <a:noFill/>
          <a:ln/>
        </p:spPr>
        <p:txBody>
          <a:bodyPr wrap="square" rtlCol="0" anchor="ctr"/>
          <a:lstStyle/>
          <a:p>
            <a:pPr algn="ctr" indent="0" marL="0">
              <a:lnSpc>
                <a:spcPts val="1400"/>
              </a:lnSpc>
              <a:buNone/>
            </a:pPr>
            <a:endParaRPr lang="en-US" sz="400" dirty="0"/>
          </a:p>
        </p:txBody>
      </p:sp>
      <p:sp>
        <p:nvSpPr>
          <p:cNvPr id="11" name="Text 9"/>
          <p:cNvSpPr/>
          <p:nvPr/>
        </p:nvSpPr>
        <p:spPr>
          <a:xfrm>
            <a:off x="914400" y="2596896"/>
            <a:ext cx="10360152" cy="320040"/>
          </a:xfrm>
          <a:prstGeom prst="rect">
            <a:avLst/>
          </a:prstGeom>
          <a:noFill/>
          <a:ln/>
        </p:spPr>
        <p:txBody>
          <a:bodyPr wrap="square" rtlCol="0" anchor="ctr"/>
          <a:lstStyle/>
          <a:p>
            <a:pPr algn="ctr" indent="0" marL="0">
              <a:lnSpc>
                <a:spcPts val="1400"/>
              </a:lnSpc>
              <a:buNone/>
            </a:pPr>
            <a:r>
              <a:rPr lang="en-US" sz="950" dirty="0">
                <a:solidFill>
                  <a:srgbClr val="FFFFFF"/>
                </a:solidFill>
                <a:latin typeface="Source Han Sans SC" pitchFamily="34" charset="0"/>
                <a:ea typeface="Source Han Sans SC" pitchFamily="34" charset="-122"/>
                <a:cs typeface="Source Han Sans SC" pitchFamily="34" charset="-120"/>
              </a:rPr>
              <a:t>我们从资源配置、课程建设、协同网络、监督评估四个维度提出系统化建议，</a:t>
            </a:r>
            <a:endParaRPr lang="en-US" sz="950" dirty="0"/>
          </a:p>
        </p:txBody>
      </p:sp>
      <p:sp>
        <p:nvSpPr>
          <p:cNvPr id="12" name="Text 10"/>
          <p:cNvSpPr/>
          <p:nvPr/>
        </p:nvSpPr>
        <p:spPr>
          <a:xfrm>
            <a:off x="914400" y="2944368"/>
            <a:ext cx="10360152" cy="320040"/>
          </a:xfrm>
          <a:prstGeom prst="rect">
            <a:avLst/>
          </a:prstGeom>
          <a:noFill/>
          <a:ln/>
        </p:spPr>
        <p:txBody>
          <a:bodyPr wrap="square" rtlCol="0" anchor="ctr"/>
          <a:lstStyle/>
          <a:p>
            <a:pPr algn="ctr" indent="0" marL="0">
              <a:lnSpc>
                <a:spcPts val="1400"/>
              </a:lnSpc>
              <a:buNone/>
            </a:pPr>
            <a:r>
              <a:rPr lang="en-US" sz="950" dirty="0">
                <a:solidFill>
                  <a:srgbClr val="FFFFFF"/>
                </a:solidFill>
                <a:latin typeface="Source Han Sans SC" pitchFamily="34" charset="0"/>
                <a:ea typeface="Source Han Sans SC" pitchFamily="34" charset="-122"/>
                <a:cs typeface="Source Han Sans SC" pitchFamily="34" charset="-120"/>
              </a:rPr>
              <a:t>每项建议均明确了执行主体、时间周期和实施路径。</a:t>
            </a:r>
            <a:endParaRPr lang="en-US" sz="950" dirty="0"/>
          </a:p>
        </p:txBody>
      </p:sp>
      <p:sp>
        <p:nvSpPr>
          <p:cNvPr id="13" name="Text 11"/>
          <p:cNvSpPr/>
          <p:nvPr/>
        </p:nvSpPr>
        <p:spPr>
          <a:xfrm>
            <a:off x="914400" y="3291840"/>
            <a:ext cx="10360152" cy="320040"/>
          </a:xfrm>
          <a:prstGeom prst="rect">
            <a:avLst/>
          </a:prstGeom>
          <a:noFill/>
          <a:ln/>
        </p:spPr>
        <p:txBody>
          <a:bodyPr wrap="square" rtlCol="0" anchor="ctr"/>
          <a:lstStyle/>
          <a:p>
            <a:pPr algn="ctr" indent="0" marL="0">
              <a:lnSpc>
                <a:spcPts val="1400"/>
              </a:lnSpc>
              <a:buNone/>
            </a:pPr>
            <a:endParaRPr lang="en-US" sz="400" dirty="0"/>
          </a:p>
        </p:txBody>
      </p:sp>
      <p:sp>
        <p:nvSpPr>
          <p:cNvPr id="14" name="Text 12"/>
          <p:cNvSpPr/>
          <p:nvPr/>
        </p:nvSpPr>
        <p:spPr>
          <a:xfrm>
            <a:off x="914400" y="3639312"/>
            <a:ext cx="10360152" cy="320040"/>
          </a:xfrm>
          <a:prstGeom prst="rect">
            <a:avLst/>
          </a:prstGeom>
          <a:noFill/>
          <a:ln/>
        </p:spPr>
        <p:txBody>
          <a:bodyPr wrap="square" rtlCol="0" anchor="ctr"/>
          <a:lstStyle/>
          <a:p>
            <a:pPr algn="ctr" indent="0" marL="0">
              <a:lnSpc>
                <a:spcPts val="1400"/>
              </a:lnSpc>
              <a:buNone/>
            </a:pPr>
            <a:r>
              <a:rPr lang="en-US" sz="950" dirty="0">
                <a:solidFill>
                  <a:srgbClr val="FFFFFF"/>
                </a:solidFill>
                <a:latin typeface="Source Han Sans SC" pitchFamily="34" charset="0"/>
                <a:ea typeface="Source Han Sans SC" pitchFamily="34" charset="-122"/>
                <a:cs typeface="Source Han Sans SC" pitchFamily="34" charset="-120"/>
              </a:rPr>
              <a:t>青少年心理健康不仅是教育议题，更是关乎国家未来的发展议题。</a:t>
            </a:r>
            <a:endParaRPr lang="en-US" sz="950" dirty="0"/>
          </a:p>
        </p:txBody>
      </p:sp>
      <p:sp>
        <p:nvSpPr>
          <p:cNvPr id="15" name="Text 13"/>
          <p:cNvSpPr/>
          <p:nvPr/>
        </p:nvSpPr>
        <p:spPr>
          <a:xfrm>
            <a:off x="914400" y="3986784"/>
            <a:ext cx="10360152" cy="320040"/>
          </a:xfrm>
          <a:prstGeom prst="rect">
            <a:avLst/>
          </a:prstGeom>
          <a:noFill/>
          <a:ln/>
        </p:spPr>
        <p:txBody>
          <a:bodyPr wrap="square" rtlCol="0" anchor="ctr"/>
          <a:lstStyle/>
          <a:p>
            <a:pPr algn="ctr" indent="0" marL="0">
              <a:lnSpc>
                <a:spcPts val="1400"/>
              </a:lnSpc>
              <a:buNone/>
            </a:pPr>
            <a:r>
              <a:rPr lang="en-US" sz="950" dirty="0">
                <a:solidFill>
                  <a:srgbClr val="FFFFFF"/>
                </a:solidFill>
                <a:latin typeface="Source Han Sans SC" pitchFamily="34" charset="0"/>
                <a:ea typeface="Source Han Sans SC" pitchFamily="34" charset="-122"/>
                <a:cs typeface="Source Han Sans SC" pitchFamily="34" charset="-120"/>
              </a:rPr>
              <a:t>完善心理健康支持体系，需要制度设计、资源配置与文化建设的协同推进。</a:t>
            </a:r>
            <a:endParaRPr lang="en-US" sz="950" dirty="0"/>
          </a:p>
        </p:txBody>
      </p:sp>
      <p:sp>
        <p:nvSpPr>
          <p:cNvPr id="16" name="Text 14"/>
          <p:cNvSpPr/>
          <p:nvPr/>
        </p:nvSpPr>
        <p:spPr>
          <a:xfrm>
            <a:off x="914400" y="4334256"/>
            <a:ext cx="10360152" cy="320040"/>
          </a:xfrm>
          <a:prstGeom prst="rect">
            <a:avLst/>
          </a:prstGeom>
          <a:noFill/>
          <a:ln/>
        </p:spPr>
        <p:txBody>
          <a:bodyPr wrap="square" rtlCol="0" anchor="ctr"/>
          <a:lstStyle/>
          <a:p>
            <a:pPr algn="ctr" indent="0" marL="0">
              <a:lnSpc>
                <a:spcPts val="1400"/>
              </a:lnSpc>
              <a:buNone/>
            </a:pPr>
            <a:endParaRPr lang="en-US" sz="400" dirty="0"/>
          </a:p>
        </p:txBody>
      </p:sp>
      <p:sp>
        <p:nvSpPr>
          <p:cNvPr id="17" name="Text 15"/>
          <p:cNvSpPr/>
          <p:nvPr/>
        </p:nvSpPr>
        <p:spPr>
          <a:xfrm>
            <a:off x="914400" y="4681728"/>
            <a:ext cx="10360152" cy="320040"/>
          </a:xfrm>
          <a:prstGeom prst="rect">
            <a:avLst/>
          </a:prstGeom>
          <a:noFill/>
          <a:ln/>
        </p:spPr>
        <p:txBody>
          <a:bodyPr wrap="square" rtlCol="0" anchor="ctr"/>
          <a:lstStyle/>
          <a:p>
            <a:pPr algn="ctr" indent="0" marL="0">
              <a:lnSpc>
                <a:spcPts val="1400"/>
              </a:lnSpc>
              <a:buNone/>
            </a:pPr>
            <a:r>
              <a:rPr lang="en-US" sz="950" dirty="0">
                <a:solidFill>
                  <a:srgbClr val="FFFFFF"/>
                </a:solidFill>
                <a:latin typeface="Source Han Sans SC" pitchFamily="34" charset="0"/>
                <a:ea typeface="Source Han Sans SC" pitchFamily="34" charset="-122"/>
                <a:cs typeface="Source Han Sans SC" pitchFamily="34" charset="-120"/>
              </a:rPr>
              <a:t>作为新时代青年，我们以理性调研为基础，</a:t>
            </a:r>
            <a:endParaRPr lang="en-US" sz="950" dirty="0"/>
          </a:p>
        </p:txBody>
      </p:sp>
      <p:sp>
        <p:nvSpPr>
          <p:cNvPr id="18" name="Text 16"/>
          <p:cNvSpPr/>
          <p:nvPr/>
        </p:nvSpPr>
        <p:spPr>
          <a:xfrm>
            <a:off x="914400" y="5029200"/>
            <a:ext cx="10360152" cy="320040"/>
          </a:xfrm>
          <a:prstGeom prst="rect">
            <a:avLst/>
          </a:prstGeom>
          <a:noFill/>
          <a:ln/>
        </p:spPr>
        <p:txBody>
          <a:bodyPr wrap="square" rtlCol="0" anchor="ctr"/>
          <a:lstStyle/>
          <a:p>
            <a:pPr algn="ctr" indent="0" marL="0">
              <a:lnSpc>
                <a:spcPts val="1400"/>
              </a:lnSpc>
              <a:buNone/>
            </a:pPr>
            <a:r>
              <a:rPr lang="en-US" sz="950" dirty="0">
                <a:solidFill>
                  <a:srgbClr val="FFFFFF"/>
                </a:solidFill>
                <a:latin typeface="Source Han Sans SC" pitchFamily="34" charset="0"/>
                <a:ea typeface="Source Han Sans SC" pitchFamily="34" charset="-122"/>
                <a:cs typeface="Source Han Sans SC" pitchFamily="34" charset="-120"/>
              </a:rPr>
              <a:t>以建设性态度参与社会治理，为完善心理健康支持体系贡献青春力量。</a:t>
            </a:r>
            <a:endParaRPr lang="en-US" sz="950" dirty="0"/>
          </a:p>
        </p:txBody>
      </p:sp>
      <p:sp>
        <p:nvSpPr>
          <p:cNvPr id="19" name="Shape 17"/>
          <p:cNvSpPr/>
          <p:nvPr/>
        </p:nvSpPr>
        <p:spPr>
          <a:xfrm>
            <a:off x="3200400" y="5303520"/>
            <a:ext cx="5788152" cy="18288"/>
          </a:xfrm>
          <a:prstGeom prst="rect">
            <a:avLst/>
          </a:prstGeom>
          <a:solidFill>
            <a:srgbClr val="D98E04">
              <a:alpha val="60000"/>
            </a:srgbClr>
          </a:solidFill>
          <a:ln/>
        </p:spPr>
      </p:sp>
      <p:sp>
        <p:nvSpPr>
          <p:cNvPr id="20" name="Text 18"/>
          <p:cNvSpPr/>
          <p:nvPr/>
        </p:nvSpPr>
        <p:spPr>
          <a:xfrm>
            <a:off x="914400" y="5486400"/>
            <a:ext cx="10360152" cy="365760"/>
          </a:xfrm>
          <a:prstGeom prst="rect">
            <a:avLst/>
          </a:prstGeom>
          <a:noFill/>
          <a:ln/>
        </p:spPr>
        <p:txBody>
          <a:bodyPr wrap="square" rtlCol="0" anchor="ctr"/>
          <a:lstStyle/>
          <a:p>
            <a:pPr algn="ctr" indent="0" marL="0">
              <a:buNone/>
            </a:pPr>
            <a:r>
              <a:rPr lang="en-US" sz="1300" dirty="0">
                <a:solidFill>
                  <a:srgbClr val="D98E04"/>
                </a:solidFill>
                <a:latin typeface="Source Han Sans SC" pitchFamily="34" charset="0"/>
                <a:ea typeface="Source Han Sans SC" pitchFamily="34" charset="-122"/>
                <a:cs typeface="Source Han Sans SC" pitchFamily="34" charset="-120"/>
              </a:rPr>
              <a:t>“以调研为基，以数据为据，以制度为纲”</a:t>
            </a:r>
            <a:endParaRPr lang="en-US" sz="1300" dirty="0"/>
          </a:p>
        </p:txBody>
      </p:sp>
      <p:sp>
        <p:nvSpPr>
          <p:cNvPr id="21" name="Shape 19"/>
          <p:cNvSpPr/>
          <p:nvPr/>
        </p:nvSpPr>
        <p:spPr>
          <a:xfrm>
            <a:off x="0" y="6492240"/>
            <a:ext cx="12188952" cy="365760"/>
          </a:xfrm>
          <a:prstGeom prst="rect">
            <a:avLst/>
          </a:prstGeom>
          <a:solidFill>
            <a:srgbClr val="0D1B2A"/>
          </a:solidFill>
          <a:ln/>
        </p:spPr>
      </p:sp>
      <p:sp>
        <p:nvSpPr>
          <p:cNvPr id="22" name="Text 20"/>
          <p:cNvSpPr/>
          <p:nvPr/>
        </p:nvSpPr>
        <p:spPr>
          <a:xfrm>
            <a:off x="594360" y="6492240"/>
            <a:ext cx="11000232" cy="365760"/>
          </a:xfrm>
          <a:prstGeom prst="rect">
            <a:avLst/>
          </a:prstGeom>
          <a:noFill/>
          <a:ln/>
        </p:spPr>
        <p:txBody>
          <a:bodyPr wrap="square" rtlCol="0" anchor="ctr"/>
          <a:lstStyle/>
          <a:p>
            <a:pPr algn="r" indent="0" marL="0">
              <a:buNone/>
            </a:pPr>
            <a:r>
              <a:rPr lang="en-US" sz="750" dirty="0">
                <a:solidFill>
                  <a:srgbClr val="8899AA"/>
                </a:solidFill>
                <a:latin typeface="Source Han Sans SC" pitchFamily="34" charset="0"/>
                <a:ea typeface="Source Han Sans SC" pitchFamily="34" charset="-122"/>
                <a:cs typeface="Source Han Sans SC" pitchFamily="34" charset="-120"/>
              </a:rPr>
              <a:t>哈尔滨市第三中学模拟政协提案 · 22/23</a:t>
            </a:r>
            <a:endParaRPr lang="en-US" sz="750" dirty="0"/>
          </a:p>
        </p:txBody>
      </p:sp>
      <p:sp>
        <p:nvSpPr>
          <p:cNvPr id="24" name="Text 21"/>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22/23</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7432"/>
          </a:xfrm>
          <a:prstGeom prst="rect">
            <a:avLst/>
          </a:prstGeom>
          <a:solidFill>
            <a:srgbClr val="3A6EA5"/>
          </a:solidFill>
          <a:ln/>
        </p:spPr>
      </p:sp>
      <p:sp>
        <p:nvSpPr>
          <p:cNvPr id="3" name="Text 1"/>
          <p:cNvSpPr/>
          <p:nvPr/>
        </p:nvSpPr>
        <p:spPr>
          <a:xfrm>
            <a:off x="594360" y="182880"/>
            <a:ext cx="11000232" cy="502920"/>
          </a:xfrm>
          <a:prstGeom prst="rect">
            <a:avLst/>
          </a:prstGeom>
          <a:noFill/>
          <a:ln/>
        </p:spPr>
        <p:txBody>
          <a:bodyPr wrap="square" rtlCol="0" anchor="ctr"/>
          <a:lstStyle/>
          <a:p>
            <a:pPr indent="0" marL="0">
              <a:buNone/>
            </a:pPr>
            <a:r>
              <a:rPr lang="en-US" sz="2400" b="1" dirty="0">
                <a:solidFill>
                  <a:srgbClr val="1E2A38"/>
                </a:solidFill>
                <a:latin typeface="Source Han Sans SC" pitchFamily="34" charset="0"/>
                <a:ea typeface="Source Han Sans SC" pitchFamily="34" charset="-122"/>
                <a:cs typeface="Source Han Sans SC" pitchFamily="34" charset="-120"/>
              </a:rPr>
              <a:t>致谢</a:t>
            </a:r>
            <a:endParaRPr lang="en-US" sz="2400" dirty="0"/>
          </a:p>
        </p:txBody>
      </p:sp>
      <p:sp>
        <p:nvSpPr>
          <p:cNvPr id="4" name="Shape 2"/>
          <p:cNvSpPr/>
          <p:nvPr/>
        </p:nvSpPr>
        <p:spPr>
          <a:xfrm>
            <a:off x="0" y="0"/>
            <a:ext cx="12188952" cy="3200400"/>
          </a:xfrm>
          <a:prstGeom prst="rect">
            <a:avLst/>
          </a:prstGeom>
          <a:solidFill>
            <a:srgbClr val="1E2A38"/>
          </a:solidFill>
          <a:ln/>
        </p:spPr>
      </p:sp>
      <p:sp>
        <p:nvSpPr>
          <p:cNvPr id="5" name="Shape 3"/>
          <p:cNvSpPr/>
          <p:nvPr/>
        </p:nvSpPr>
        <p:spPr>
          <a:xfrm>
            <a:off x="9144000" y="-914400"/>
            <a:ext cx="3657600" cy="3657600"/>
          </a:xfrm>
          <a:prstGeom prst="ellipse">
            <a:avLst/>
          </a:prstGeom>
          <a:solidFill>
            <a:srgbClr val="3A6EA5">
              <a:alpha val="40000"/>
            </a:srgbClr>
          </a:solidFill>
          <a:ln/>
        </p:spPr>
      </p:sp>
      <p:sp>
        <p:nvSpPr>
          <p:cNvPr id="6" name="Shape 4"/>
          <p:cNvSpPr/>
          <p:nvPr/>
        </p:nvSpPr>
        <p:spPr>
          <a:xfrm>
            <a:off x="-914400" y="1828800"/>
            <a:ext cx="2743200" cy="2743200"/>
          </a:xfrm>
          <a:prstGeom prst="ellipse">
            <a:avLst/>
          </a:prstGeom>
          <a:solidFill>
            <a:srgbClr val="3A6EA5">
              <a:alpha val="30000"/>
            </a:srgbClr>
          </a:solidFill>
          <a:ln/>
        </p:spPr>
      </p:sp>
      <p:sp>
        <p:nvSpPr>
          <p:cNvPr id="7" name="Shape 5"/>
          <p:cNvSpPr/>
          <p:nvPr/>
        </p:nvSpPr>
        <p:spPr>
          <a:xfrm>
            <a:off x="4114800" y="731520"/>
            <a:ext cx="3657600" cy="27432"/>
          </a:xfrm>
          <a:prstGeom prst="rect">
            <a:avLst/>
          </a:prstGeom>
          <a:solidFill>
            <a:srgbClr val="D98E04"/>
          </a:solidFill>
          <a:ln/>
        </p:spPr>
      </p:sp>
      <p:sp>
        <p:nvSpPr>
          <p:cNvPr id="8" name="Text 6"/>
          <p:cNvSpPr/>
          <p:nvPr/>
        </p:nvSpPr>
        <p:spPr>
          <a:xfrm>
            <a:off x="594360" y="1005840"/>
            <a:ext cx="11000232" cy="594360"/>
          </a:xfrm>
          <a:prstGeom prst="rect">
            <a:avLst/>
          </a:prstGeom>
          <a:noFill/>
          <a:ln/>
        </p:spPr>
        <p:txBody>
          <a:bodyPr wrap="square" rtlCol="0" anchor="ctr"/>
          <a:lstStyle/>
          <a:p>
            <a:pPr algn="ctr" indent="0" marL="0">
              <a:buNone/>
            </a:pPr>
            <a:r>
              <a:rPr lang="en-US" sz="2800" b="1" dirty="0">
                <a:solidFill>
                  <a:srgbClr val="FFFFFF"/>
                </a:solidFill>
                <a:latin typeface="Source Han Sans SC" pitchFamily="34" charset="0"/>
                <a:ea typeface="Source Han Sans SC" pitchFamily="34" charset="-122"/>
                <a:cs typeface="Source Han Sans SC" pitchFamily="34" charset="-120"/>
              </a:rPr>
              <a:t>感谢各位评委老师聆听</a:t>
            </a:r>
            <a:endParaRPr lang="en-US" sz="2800" dirty="0"/>
          </a:p>
        </p:txBody>
      </p:sp>
      <p:sp>
        <p:nvSpPr>
          <p:cNvPr id="9" name="Text 7"/>
          <p:cNvSpPr/>
          <p:nvPr/>
        </p:nvSpPr>
        <p:spPr>
          <a:xfrm>
            <a:off x="594360" y="1691640"/>
            <a:ext cx="11000232" cy="274320"/>
          </a:xfrm>
          <a:prstGeom prst="rect">
            <a:avLst/>
          </a:prstGeom>
          <a:noFill/>
          <a:ln/>
        </p:spPr>
        <p:txBody>
          <a:bodyPr wrap="square" rtlCol="0" anchor="ctr"/>
          <a:lstStyle/>
          <a:p>
            <a:pPr algn="ctr" indent="0" marL="0">
              <a:buNone/>
            </a:pPr>
            <a:r>
              <a:rPr lang="en-US" sz="1200" dirty="0">
                <a:solidFill>
                  <a:srgbClr val="8899AA"/>
                </a:solidFill>
                <a:latin typeface="Source Han Sans SC" pitchFamily="34" charset="0"/>
                <a:ea typeface="Source Han Sans SC" pitchFamily="34" charset="-122"/>
                <a:cs typeface="Source Han Sans SC" pitchFamily="34" charset="-120"/>
              </a:rPr>
              <a:t>Thank you for your attention</a:t>
            </a:r>
            <a:endParaRPr lang="en-US" sz="1200" dirty="0"/>
          </a:p>
        </p:txBody>
      </p:sp>
      <p:sp>
        <p:nvSpPr>
          <p:cNvPr id="10" name="Text 8"/>
          <p:cNvSpPr/>
          <p:nvPr/>
        </p:nvSpPr>
        <p:spPr>
          <a:xfrm>
            <a:off x="594360" y="3657600"/>
            <a:ext cx="11000232" cy="320040"/>
          </a:xfrm>
          <a:prstGeom prst="rect">
            <a:avLst/>
          </a:prstGeom>
          <a:noFill/>
          <a:ln/>
        </p:spPr>
        <p:txBody>
          <a:bodyPr wrap="square" rtlCol="0" anchor="ctr"/>
          <a:lstStyle/>
          <a:p>
            <a:pPr algn="ctr" indent="0" marL="0">
              <a:buNone/>
            </a:pPr>
            <a:r>
              <a:rPr lang="en-US" sz="1200" dirty="0">
                <a:solidFill>
                  <a:srgbClr val="1E2A38"/>
                </a:solidFill>
                <a:latin typeface="Source Han Sans SC" pitchFamily="34" charset="0"/>
                <a:ea typeface="Source Han Sans SC" pitchFamily="34" charset="-122"/>
                <a:cs typeface="Source Han Sans SC" pitchFamily="34" charset="-120"/>
              </a:rPr>
              <a:t>心晴调研小组 · 哈尔滨市第三中学</a:t>
            </a:r>
            <a:endParaRPr lang="en-US" sz="1200" dirty="0"/>
          </a:p>
        </p:txBody>
      </p:sp>
      <p:sp>
        <p:nvSpPr>
          <p:cNvPr id="11" name="Text 9"/>
          <p:cNvSpPr/>
          <p:nvPr/>
        </p:nvSpPr>
        <p:spPr>
          <a:xfrm>
            <a:off x="594360" y="4069080"/>
            <a:ext cx="11000232" cy="274320"/>
          </a:xfrm>
          <a:prstGeom prst="rect">
            <a:avLst/>
          </a:prstGeom>
          <a:noFill/>
          <a:ln/>
        </p:spPr>
        <p:txBody>
          <a:bodyPr wrap="square" rtlCol="0" anchor="ctr"/>
          <a:lstStyle/>
          <a:p>
            <a:pPr algn="ctr" indent="0" marL="0">
              <a:buNone/>
            </a:pPr>
            <a:r>
              <a:rPr lang="en-US" sz="1000" dirty="0">
                <a:solidFill>
                  <a:srgbClr val="8899AA"/>
                </a:solidFill>
                <a:latin typeface="Source Han Sans SC" pitchFamily="34" charset="0"/>
                <a:ea typeface="Source Han Sans SC" pitchFamily="34" charset="-122"/>
                <a:cs typeface="Source Han Sans SC" pitchFamily="34" charset="-120"/>
              </a:rPr>
              <a:t>2026年5月</a:t>
            </a:r>
            <a:endParaRPr lang="en-US" sz="1000" dirty="0"/>
          </a:p>
        </p:txBody>
      </p:sp>
      <p:sp>
        <p:nvSpPr>
          <p:cNvPr id="12" name="Text 10"/>
          <p:cNvSpPr/>
          <p:nvPr/>
        </p:nvSpPr>
        <p:spPr>
          <a:xfrm>
            <a:off x="594360" y="4434840"/>
            <a:ext cx="11000232" cy="228600"/>
          </a:xfrm>
          <a:prstGeom prst="rect">
            <a:avLst/>
          </a:prstGeom>
          <a:noFill/>
          <a:ln/>
        </p:spPr>
        <p:txBody>
          <a:bodyPr wrap="square" rtlCol="0" anchor="ctr"/>
          <a:lstStyle/>
          <a:p>
            <a:pPr algn="ctr" indent="0" marL="0">
              <a:buNone/>
            </a:pPr>
            <a:r>
              <a:rPr lang="en-US" sz="800" dirty="0">
                <a:solidFill>
                  <a:srgbClr val="B0B8C4"/>
                </a:solidFill>
                <a:latin typeface="Source Han Sans SC" pitchFamily="34" charset="0"/>
                <a:ea typeface="Source Han Sans SC" pitchFamily="34" charset="-122"/>
                <a:cs typeface="Source Han Sans SC" pitchFamily="34" charset="-120"/>
              </a:rPr>
              <a:t>如需进一步了解调研详情或索要完整数据，请联系本小组。</a:t>
            </a:r>
            <a:endParaRPr lang="en-US" sz="800" dirty="0"/>
          </a:p>
        </p:txBody>
      </p:sp>
      <p:sp>
        <p:nvSpPr>
          <p:cNvPr id="13" name="Shape 11"/>
          <p:cNvSpPr/>
          <p:nvPr/>
        </p:nvSpPr>
        <p:spPr>
          <a:xfrm>
            <a:off x="0" y="6492240"/>
            <a:ext cx="12188952" cy="365760"/>
          </a:xfrm>
          <a:prstGeom prst="rect">
            <a:avLst/>
          </a:prstGeom>
          <a:solidFill>
            <a:srgbClr val="1E2A38"/>
          </a:solidFill>
          <a:ln/>
        </p:spPr>
      </p:sp>
      <p:sp>
        <p:nvSpPr>
          <p:cNvPr id="14" name="Text 12"/>
          <p:cNvSpPr/>
          <p:nvPr/>
        </p:nvSpPr>
        <p:spPr>
          <a:xfrm>
            <a:off x="594360" y="6492240"/>
            <a:ext cx="11000232" cy="365760"/>
          </a:xfrm>
          <a:prstGeom prst="rect">
            <a:avLst/>
          </a:prstGeom>
          <a:noFill/>
          <a:ln/>
        </p:spPr>
        <p:txBody>
          <a:bodyPr wrap="square" rtlCol="0" anchor="ctr"/>
          <a:lstStyle/>
          <a:p>
            <a:pPr algn="r" indent="0" marL="0">
              <a:buNone/>
            </a:pPr>
            <a:r>
              <a:rPr lang="en-US" sz="750" dirty="0">
                <a:solidFill>
                  <a:srgbClr val="8899AA"/>
                </a:solidFill>
                <a:latin typeface="Source Han Sans SC" pitchFamily="34" charset="0"/>
                <a:ea typeface="Source Han Sans SC" pitchFamily="34" charset="-122"/>
                <a:cs typeface="Source Han Sans SC" pitchFamily="34" charset="-120"/>
              </a:rPr>
              <a:t>哈尔滨市第三中学模拟政协提案 · 23/23</a:t>
            </a:r>
            <a:endParaRPr lang="en-US" sz="750" dirty="0"/>
          </a:p>
        </p:txBody>
      </p:sp>
      <p:sp>
        <p:nvSpPr>
          <p:cNvPr id="16" name="Text 13"/>
          <p:cNvSpPr/>
          <p:nvPr/>
        </p:nvSpPr>
        <p:spPr>
          <a:xfrm>
            <a:off x="594360" y="6446520"/>
            <a:ext cx="11000232" cy="274320"/>
          </a:xfrm>
          <a:prstGeom prst="rect">
            <a:avLst/>
          </a:prstGeom>
          <a:noFill/>
          <a:ln/>
        </p:spPr>
        <p:txBody>
          <a:bodyPr wrap="square" rtlCol="0" anchor="ctr"/>
          <a:lstStyle/>
          <a:p>
            <a:pPr algn="r" indent="0" marL="0">
              <a:buNone/>
            </a:pPr>
            <a:r>
              <a:rPr lang="en-US" sz="750" dirty="0">
                <a:solidFill>
                  <a:srgbClr val="B0B8C4"/>
                </a:solidFill>
                <a:latin typeface="Source Han Sans SC" pitchFamily="34" charset="0"/>
                <a:ea typeface="Source Han Sans SC" pitchFamily="34" charset="-122"/>
                <a:cs typeface="Source Han Sans SC" pitchFamily="34" charset="-120"/>
              </a:rPr>
              <a:t>哈尔滨市第三中学模拟政协提案 · 23/23</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2026-05-12T16:11:41Z</dcterms:created>
  <dcterms:modified xsi:type="dcterms:W3CDTF">2026-05-12T16:11:41Z</dcterms:modified>
</cp:coreProperties>
</file>